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11093347" r:id="rId2"/>
    <p:sldId id="11093089" r:id="rId3"/>
    <p:sldId id="11093618" r:id="rId4"/>
    <p:sldId id="11093619" r:id="rId5"/>
    <p:sldId id="11093620" r:id="rId6"/>
    <p:sldId id="11093621" r:id="rId7"/>
    <p:sldId id="11093622" r:id="rId8"/>
    <p:sldId id="11093623" r:id="rId9"/>
    <p:sldId id="11093624" r:id="rId10"/>
    <p:sldId id="11093625" r:id="rId11"/>
    <p:sldId id="11093626" r:id="rId12"/>
    <p:sldId id="11093627" r:id="rId13"/>
    <p:sldId id="11093628" r:id="rId14"/>
    <p:sldId id="11093629" r:id="rId15"/>
    <p:sldId id="11093630" r:id="rId16"/>
    <p:sldId id="11093631" r:id="rId17"/>
    <p:sldId id="11093632" r:id="rId18"/>
    <p:sldId id="11093633" r:id="rId19"/>
    <p:sldId id="11093634" r:id="rId20"/>
    <p:sldId id="11093635" r:id="rId21"/>
    <p:sldId id="11093636" r:id="rId22"/>
    <p:sldId id="11093637" r:id="rId23"/>
    <p:sldId id="11093661" r:id="rId24"/>
    <p:sldId id="11093662" r:id="rId25"/>
    <p:sldId id="11093663" r:id="rId26"/>
    <p:sldId id="11093664" r:id="rId27"/>
    <p:sldId id="11093665" r:id="rId28"/>
    <p:sldId id="11093666" r:id="rId29"/>
    <p:sldId id="11093667" r:id="rId30"/>
    <p:sldId id="11093668" r:id="rId31"/>
    <p:sldId id="11093669" r:id="rId32"/>
    <p:sldId id="11093670" r:id="rId33"/>
    <p:sldId id="11093671" r:id="rId34"/>
    <p:sldId id="11093672" r:id="rId35"/>
    <p:sldId id="11093673" r:id="rId36"/>
    <p:sldId id="11093674" r:id="rId37"/>
    <p:sldId id="11093675" r:id="rId38"/>
    <p:sldId id="11093676" r:id="rId39"/>
    <p:sldId id="11093677" r:id="rId40"/>
    <p:sldId id="11093678" r:id="rId41"/>
    <p:sldId id="11093679" r:id="rId42"/>
    <p:sldId id="11093680" r:id="rId43"/>
    <p:sldId id="11093681" r:id="rId44"/>
    <p:sldId id="11093682" r:id="rId45"/>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753">
          <p15:clr>
            <a:srgbClr val="A4A3A4"/>
          </p15:clr>
        </p15:guide>
        <p15:guide id="2" pos="221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慎独" initials="慎" lastIdx="1" clrIdx="0"/>
  <p:cmAuthor id="2" name="作者" initials="A" lastIdx="0" clrIdx="1"/>
  <p:cmAuthor id="3" name="hp"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84B70"/>
    <a:srgbClr val="003366"/>
    <a:srgbClr val="A2A19C"/>
    <a:srgbClr val="FFFFCC"/>
    <a:srgbClr val="836E03"/>
    <a:srgbClr val="E97C30"/>
    <a:srgbClr val="760000"/>
    <a:srgbClr val="C00000"/>
    <a:srgbClr val="0179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12" autoAdjust="0"/>
    <p:restoredTop sz="87515" autoAdjust="0"/>
  </p:normalViewPr>
  <p:slideViewPr>
    <p:cSldViewPr snapToGrid="0" showGuides="1">
      <p:cViewPr varScale="1">
        <p:scale>
          <a:sx n="61" d="100"/>
          <a:sy n="61" d="100"/>
        </p:scale>
        <p:origin x="88" y="124"/>
      </p:cViewPr>
      <p:guideLst>
        <p:guide orient="horz" pos="2065"/>
        <p:guide pos="3840"/>
      </p:guideLst>
    </p:cSldViewPr>
  </p:slideViewPr>
  <p:notesTextViewPr>
    <p:cViewPr>
      <p:scale>
        <a:sx n="1" d="1"/>
        <a:sy n="1" d="1"/>
      </p:scale>
      <p:origin x="0" y="0"/>
    </p:cViewPr>
  </p:notesTextViewPr>
  <p:sorterViewPr>
    <p:cViewPr>
      <p:scale>
        <a:sx n="114" d="100"/>
        <a:sy n="114" d="100"/>
      </p:scale>
      <p:origin x="0" y="0"/>
    </p:cViewPr>
  </p:sorterViewPr>
  <p:notesViewPr>
    <p:cSldViewPr snapToGrid="0">
      <p:cViewPr varScale="1">
        <p:scale>
          <a:sx n="53" d="100"/>
          <a:sy n="53" d="100"/>
        </p:scale>
        <p:origin x="2048" y="48"/>
      </p:cViewPr>
      <p:guideLst>
        <p:guide orient="horz" pos="2753"/>
        <p:guide pos="221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2FFFC3E-D677-4248-ADC5-1621DBA8DF02}" type="datetimeFigureOut">
              <a:rPr lang="zh-CN" altLang="en-US" smtClean="0"/>
              <a:t>2026/7/7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A88306-5F2B-4847-B4D8-E1BDDCDBE1D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804CC0-C4DF-4108-A612-38007B3A11FA}" type="datetimeFigureOut">
              <a:rPr lang="zh-CN" altLang="en-US" smtClean="0"/>
              <a:t>2026/7/7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187E0-9DC0-4761-8CE1-F6C7FE364E3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幻灯片图像占位符 1"/>
          <p:cNvSpPr>
            <a:spLocks noGrp="1" noRot="1" noChangeAspect="1"/>
          </p:cNvSpPr>
          <p:nvPr>
            <p:ph type="sldImg"/>
          </p:nvPr>
        </p:nvSpPr>
        <p:spPr/>
      </p:sp>
      <p:sp>
        <p:nvSpPr>
          <p:cNvPr id="1048589" name="备注占位符 2"/>
          <p:cNvSpPr>
            <a:spLocks noGrp="1"/>
          </p:cNvSpPr>
          <p:nvPr>
            <p:ph type="body" idx="1"/>
          </p:nvPr>
        </p:nvSpPr>
        <p:spPr/>
        <p:txBody>
          <a:bodyPr/>
          <a:lstStyle/>
          <a:p>
            <a:endParaRPr lang="zh-CN" altLang="en-US" dirty="0"/>
          </a:p>
        </p:txBody>
      </p:sp>
      <p:sp>
        <p:nvSpPr>
          <p:cNvPr id="1048590" name="页脚占位符 5"/>
          <p:cNvSpPr>
            <a:spLocks noGrp="1"/>
          </p:cNvSpPr>
          <p:nvPr>
            <p:ph type="ftr" sz="quarter" idx="4"/>
          </p:nvPr>
        </p:nvSpPr>
        <p:spPr/>
        <p:txBody>
          <a:bodyPr/>
          <a:lstStyle/>
          <a:p>
            <a:endParaRPr lang="zh-CN" altLang="en-US"/>
          </a:p>
        </p:txBody>
      </p:sp>
      <p:sp>
        <p:nvSpPr>
          <p:cNvPr id="1048591" name="日期占位符 3"/>
          <p:cNvSpPr>
            <a:spLocks noGrp="1"/>
          </p:cNvSpPr>
          <p:nvPr>
            <p:ph type="dt" idx="1"/>
          </p:nvPr>
        </p:nvSpPr>
        <p:spPr/>
        <p:txBody>
          <a:bodyPr/>
          <a:lstStyle/>
          <a:p>
            <a:fld id="{30C85084-376C-491E-849D-01A26ABF0C2A}" type="datetime1">
              <a:rPr lang="zh-CN" altLang="en-US" smtClean="0"/>
              <a:t>2026/7/7</a:t>
            </a:fld>
            <a:endParaRPr lang="zh-CN" altLang="en-US"/>
          </a:p>
        </p:txBody>
      </p:sp>
      <p:sp>
        <p:nvSpPr>
          <p:cNvPr id="1048592" name="灯片编号占位符 6"/>
          <p:cNvSpPr>
            <a:spLocks noGrp="1"/>
          </p:cNvSpPr>
          <p:nvPr>
            <p:ph type="sldNum" sz="quarter" idx="5"/>
          </p:nvPr>
        </p:nvSpPr>
        <p:spPr/>
        <p:txBody>
          <a:bodyPr/>
          <a:lstStyle/>
          <a:p>
            <a:fld id="{942558DE-1754-485B-AB72-88EC699311C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44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第一">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588500" y="210506"/>
            <a:ext cx="25013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 科学发展观</a:t>
            </a:r>
          </a:p>
        </p:txBody>
      </p:sp>
      <p:sp>
        <p:nvSpPr>
          <p:cNvPr id="17" name="文本框 16"/>
          <p:cNvSpPr txBox="1"/>
          <p:nvPr userDrawn="1"/>
        </p:nvSpPr>
        <p:spPr>
          <a:xfrm>
            <a:off x="45719" y="184281"/>
            <a:ext cx="7156536" cy="496570"/>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sym typeface="+mn-ea"/>
              </a:rPr>
              <a:t>一、科学发展观的科学内涵和主要内容是什么？</a:t>
            </a: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a:p>
            <a:pPr algn="just">
              <a:lnSpc>
                <a:spcPct val="120000"/>
              </a:lnSpc>
            </a:pPr>
            <a:endParaRPr lang="zh-CN" altLang="en-US" sz="1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944100" y="210506"/>
            <a:ext cx="21457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专题九科学发展观</a:t>
            </a: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第三">
    <p:bg>
      <p:bgPr>
        <a:solidFill>
          <a:srgbClr val="FCFDFA"/>
        </a:solidFill>
        <a:effectLst/>
      </p:bgPr>
    </p:bg>
    <p:spTree>
      <p:nvGrpSpPr>
        <p:cNvPr id="1" name=""/>
        <p:cNvGrpSpPr/>
        <p:nvPr/>
      </p:nvGrpSpPr>
      <p:grpSpPr>
        <a:xfrm>
          <a:off x="0" y="0"/>
          <a:ext cx="0" cy="0"/>
          <a:chOff x="0" y="0"/>
          <a:chExt cx="0" cy="0"/>
        </a:xfrm>
      </p:grpSpPr>
      <p:sp>
        <p:nvSpPr>
          <p:cNvPr id="11" name="矩形 10"/>
          <p:cNvSpPr/>
          <p:nvPr userDrawn="1"/>
        </p:nvSpPr>
        <p:spPr>
          <a:xfrm>
            <a:off x="9944100" y="210507"/>
            <a:ext cx="2145740" cy="260350"/>
          </a:xfrm>
          <a:prstGeom prst="rect">
            <a:avLst/>
          </a:prstGeom>
        </p:spPr>
        <p:txBody>
          <a:bodyPr wrap="square">
            <a:spAutoFit/>
          </a:bodyPr>
          <a:lstStyle/>
          <a:p>
            <a:pPr algn="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专题九</a:t>
            </a:r>
            <a:r>
              <a:rPr lang="en-US" altLang="zh-CN" sz="1100" spc="12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100" spc="120" dirty="0">
                <a:solidFill>
                  <a:schemeClr val="bg1">
                    <a:lumMod val="50000"/>
                  </a:schemeClr>
                </a:solidFill>
                <a:latin typeface="微软雅黑" panose="020B0503020204020204" pitchFamily="34" charset="-122"/>
                <a:ea typeface="微软雅黑" panose="020B0503020204020204" pitchFamily="34" charset="-122"/>
              </a:rPr>
              <a:t>科学发展观</a:t>
            </a:r>
          </a:p>
        </p:txBody>
      </p:sp>
      <p:sp>
        <p:nvSpPr>
          <p:cNvPr id="17" name="文本框 16"/>
          <p:cNvSpPr txBox="1"/>
          <p:nvPr userDrawn="1"/>
        </p:nvSpPr>
        <p:spPr>
          <a:xfrm>
            <a:off x="45719" y="184281"/>
            <a:ext cx="7156536" cy="294005"/>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rPr>
              <a:t>二、如何认识科学发展观的历史地位？</a:t>
            </a:r>
          </a:p>
        </p:txBody>
      </p:sp>
      <p:sp>
        <p:nvSpPr>
          <p:cNvPr id="18" name="文本框 17"/>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思维导图">
    <p:spTree>
      <p:nvGrpSpPr>
        <p:cNvPr id="1" name=""/>
        <p:cNvGrpSpPr/>
        <p:nvPr/>
      </p:nvGrpSpPr>
      <p:grpSpPr>
        <a:xfrm>
          <a:off x="0" y="0"/>
          <a:ext cx="0" cy="0"/>
          <a:chOff x="0" y="0"/>
          <a:chExt cx="0" cy="0"/>
        </a:xfrm>
      </p:grpSpPr>
      <p:grpSp>
        <p:nvGrpSpPr>
          <p:cNvPr id="6" name="组合 5"/>
          <p:cNvGrpSpPr/>
          <p:nvPr userDrawn="1"/>
        </p:nvGrpSpPr>
        <p:grpSpPr>
          <a:xfrm>
            <a:off x="0" y="0"/>
            <a:ext cx="12192000" cy="6858000"/>
            <a:chOff x="0" y="0"/>
            <a:chExt cx="12192000" cy="6858000"/>
          </a:xfrm>
        </p:grpSpPr>
        <p:sp>
          <p:nvSpPr>
            <p:cNvPr id="7" name="矩形 6"/>
            <p:cNvSpPr/>
            <p:nvPr/>
          </p:nvSpPr>
          <p:spPr>
            <a:xfrm>
              <a:off x="0" y="0"/>
              <a:ext cx="12192000" cy="6858000"/>
            </a:xfrm>
            <a:prstGeom prst="rect">
              <a:avLst/>
            </a:prstGeom>
            <a:gradFill>
              <a:gsLst>
                <a:gs pos="53000">
                  <a:srgbClr val="EFC879"/>
                </a:gs>
                <a:gs pos="100000">
                  <a:srgbClr val="AF1E22"/>
                </a:gs>
                <a:gs pos="0">
                  <a:srgbClr val="B0261F"/>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对角圆角 16"/>
            <p:cNvSpPr/>
            <p:nvPr/>
          </p:nvSpPr>
          <p:spPr>
            <a:xfrm>
              <a:off x="241300" y="203200"/>
              <a:ext cx="11725468" cy="6435807"/>
            </a:xfrm>
            <a:prstGeom prst="rect">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对角圆角 12"/>
            <p:cNvSpPr/>
            <p:nvPr/>
          </p:nvSpPr>
          <p:spPr>
            <a:xfrm>
              <a:off x="169841" y="131528"/>
              <a:ext cx="11857399" cy="6587927"/>
            </a:xfrm>
            <a:prstGeom prst="rect">
              <a:avLst/>
            </a:prstGeom>
            <a:noFill/>
            <a:ln w="19050">
              <a:solidFill>
                <a:srgbClr val="FFFDFA"/>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空白页">
    <p:bg>
      <p:bgPr>
        <a:solidFill>
          <a:srgbClr val="FCFDFA"/>
        </a:solidFill>
        <a:effectLst/>
      </p:bgPr>
    </p:bg>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一">
    <p:bg>
      <p:bgPr>
        <a:solidFill>
          <a:srgbClr val="FCFDFA"/>
        </a:solidFill>
        <a:effectLst/>
      </p:bgPr>
    </p:bg>
    <p:spTree>
      <p:nvGrpSpPr>
        <p:cNvPr id="1" name=""/>
        <p:cNvGrpSpPr/>
        <p:nvPr/>
      </p:nvGrpSpPr>
      <p:grpSpPr>
        <a:xfrm>
          <a:off x="0" y="0"/>
          <a:ext cx="0" cy="0"/>
          <a:chOff x="0" y="0"/>
          <a:chExt cx="0" cy="0"/>
        </a:xfrm>
      </p:grpSpPr>
      <p:sp>
        <p:nvSpPr>
          <p:cNvPr id="19" name="文本框 18"/>
          <p:cNvSpPr txBox="1"/>
          <p:nvPr userDrawn="1"/>
        </p:nvSpPr>
        <p:spPr>
          <a:xfrm>
            <a:off x="8382738" y="6440536"/>
            <a:ext cx="3743923"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毛泽东思想和中国特色社会主义理论体系概论</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矩形 21"/>
          <p:cNvSpPr/>
          <p:nvPr userDrawn="1"/>
        </p:nvSpPr>
        <p:spPr>
          <a:xfrm>
            <a:off x="0" y="184281"/>
            <a:ext cx="45719" cy="298672"/>
          </a:xfrm>
          <a:prstGeom prst="rect">
            <a:avLst/>
          </a:prstGeom>
          <a:solidFill>
            <a:srgbClr val="AF1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294967295"/>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灯片编号占位符 5"/>
          <p:cNvSpPr>
            <a:spLocks noGrp="1"/>
          </p:cNvSpPr>
          <p:nvPr>
            <p:ph type="sldNum" sz="quarter" idx="4"/>
          </p:nvPr>
        </p:nvSpPr>
        <p:spPr>
          <a:xfrm>
            <a:off x="0" y="6192686"/>
            <a:ext cx="1198515" cy="665314"/>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solidFill>
              <a:schemeClr val="bg1"/>
            </a:solidFill>
          </a:ln>
          <a:effectLst>
            <a:outerShdw blurRad="3937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lgn="ctr">
              <a:defRPr lang="zh-CN" altLang="en-US" sz="3600" smtClean="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fld id="{246D743F-E124-49AC-B663-2C5E0BD6559A}" type="slidenum">
              <a:rPr lang="en-US" altLang="zh-CN"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8"/>
          <p:cNvGrpSpPr/>
          <p:nvPr/>
        </p:nvGrpSpPr>
        <p:grpSpPr>
          <a:xfrm>
            <a:off x="-8793" y="-35954"/>
            <a:ext cx="12200793" cy="6893954"/>
            <a:chOff x="-8793" y="-35954"/>
            <a:chExt cx="12200793" cy="6893954"/>
          </a:xfrm>
        </p:grpSpPr>
        <p:grpSp>
          <p:nvGrpSpPr>
            <p:cNvPr id="29" name="组合 3"/>
            <p:cNvGrpSpPr/>
            <p:nvPr/>
          </p:nvGrpSpPr>
          <p:grpSpPr>
            <a:xfrm>
              <a:off x="-8793" y="0"/>
              <a:ext cx="12200793" cy="6858000"/>
              <a:chOff x="-1" y="-20360"/>
              <a:chExt cx="12200793" cy="6858000"/>
            </a:xfrm>
          </p:grpSpPr>
          <p:pic>
            <p:nvPicPr>
              <p:cNvPr id="2097152" name="图片 1"/>
              <p:cNvPicPr>
                <a:picLocks noChangeAspect="1"/>
              </p:cNvPicPr>
              <p:nvPr/>
            </p:nvPicPr>
            <p:blipFill rotWithShape="1">
              <a:blip r:embed="rId3" cstate="print"/>
              <a:srcRect t="56923" b="12081"/>
              <a:stretch>
                <a:fillRect/>
              </a:stretch>
            </p:blipFill>
            <p:spPr>
              <a:xfrm>
                <a:off x="8792" y="1836600"/>
                <a:ext cx="12191999" cy="5001040"/>
              </a:xfrm>
              <a:prstGeom prst="rect">
                <a:avLst/>
              </a:prstGeom>
            </p:spPr>
          </p:pic>
          <p:sp>
            <p:nvSpPr>
              <p:cNvPr id="1048578" name="矩形 2"/>
              <p:cNvSpPr/>
              <p:nvPr/>
            </p:nvSpPr>
            <p:spPr>
              <a:xfrm>
                <a:off x="-1" y="-20360"/>
                <a:ext cx="12200793" cy="5845774"/>
              </a:xfrm>
              <a:prstGeom prst="rect">
                <a:avLst/>
              </a:prstGeom>
              <a:gradFill>
                <a:gsLst>
                  <a:gs pos="0">
                    <a:srgbClr val="E9EDF0">
                      <a:alpha val="0"/>
                    </a:srgbClr>
                  </a:gs>
                  <a:gs pos="31000">
                    <a:srgbClr val="ECEFF2">
                      <a:alpha val="80000"/>
                    </a:srgbClr>
                  </a:gs>
                  <a:gs pos="52874">
                    <a:srgbClr val="EDF0F3"/>
                  </a:gs>
                  <a:gs pos="74400">
                    <a:srgbClr val="EEF0F3"/>
                  </a:gs>
                  <a:gs pos="100000">
                    <a:srgbClr val="F0F1F4"/>
                  </a:gs>
                </a:gsLst>
                <a:lin ang="16200000" scaled="1"/>
              </a:gradFill>
              <a:ln>
                <a:no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579" name="矩形 27"/>
            <p:cNvSpPr/>
            <p:nvPr/>
          </p:nvSpPr>
          <p:spPr>
            <a:xfrm rot="16200000">
              <a:off x="-2207007" y="2176147"/>
              <a:ext cx="6893954" cy="2469752"/>
            </a:xfrm>
            <a:prstGeom prst="rect">
              <a:avLst/>
            </a:prstGeom>
            <a:gradFill>
              <a:gsLst>
                <a:gs pos="0">
                  <a:srgbClr val="E9EDF0">
                    <a:alpha val="0"/>
                  </a:srgbClr>
                </a:gs>
                <a:gs pos="100000">
                  <a:srgbClr val="F0F1F4"/>
                </a:gs>
              </a:gsLst>
              <a:lin ang="16200000" scaled="1"/>
            </a:gradFill>
            <a:ln>
              <a:noFill/>
            </a:ln>
            <a:effectLst>
              <a:outerShdw blurRad="381000" dist="635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8" name="直接连接符 4"/>
          <p:cNvCxnSpPr/>
          <p:nvPr/>
        </p:nvCxnSpPr>
        <p:spPr>
          <a:xfrm>
            <a:off x="2474843" y="541585"/>
            <a:ext cx="9723762" cy="0"/>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grpSp>
        <p:nvGrpSpPr>
          <p:cNvPr id="30" name="组合 30"/>
          <p:cNvGrpSpPr/>
          <p:nvPr/>
        </p:nvGrpSpPr>
        <p:grpSpPr>
          <a:xfrm>
            <a:off x="2843658" y="3535331"/>
            <a:ext cx="6434813" cy="534035"/>
            <a:chOff x="2843658" y="3535331"/>
            <a:chExt cx="6434813" cy="534035"/>
          </a:xfrm>
        </p:grpSpPr>
        <p:sp>
          <p:nvSpPr>
            <p:cNvPr id="1048580" name="文本框 5"/>
            <p:cNvSpPr txBox="1"/>
            <p:nvPr/>
          </p:nvSpPr>
          <p:spPr>
            <a:xfrm>
              <a:off x="5234543" y="3535331"/>
              <a:ext cx="1653043" cy="534035"/>
            </a:xfrm>
            <a:prstGeom prst="rect">
              <a:avLst/>
            </a:prstGeom>
            <a:noFill/>
          </p:spPr>
          <p:txBody>
            <a:bodyPr wrap="square" rtlCol="0">
              <a:spAutoFit/>
            </a:bodyPr>
            <a:lstStyle/>
            <a:p>
              <a:pPr marL="0" lvl="1" algn="ctr">
                <a:lnSpc>
                  <a:spcPct val="120000"/>
                </a:lnSpc>
              </a:pPr>
              <a:r>
                <a:rPr lang="zh-CN" altLang="en-US" sz="2400" b="1" spc="300" dirty="0">
                  <a:solidFill>
                    <a:schemeClr val="tx1">
                      <a:lumMod val="50000"/>
                      <a:lumOff val="50000"/>
                    </a:schemeClr>
                  </a:solidFill>
                  <a:latin typeface="华文中宋" panose="02010600040101010101" pitchFamily="2" charset="-122"/>
                  <a:ea typeface="华文中宋" panose="02010600040101010101" pitchFamily="2" charset="-122"/>
                </a:rPr>
                <a:t>期末试题</a:t>
              </a:r>
            </a:p>
          </p:txBody>
        </p:sp>
        <p:grpSp>
          <p:nvGrpSpPr>
            <p:cNvPr id="31" name="组合 6"/>
            <p:cNvGrpSpPr/>
            <p:nvPr/>
          </p:nvGrpSpPr>
          <p:grpSpPr>
            <a:xfrm>
              <a:off x="2843658" y="3802350"/>
              <a:ext cx="6434813" cy="33020"/>
              <a:chOff x="2843658" y="3448459"/>
              <a:chExt cx="6434813" cy="33020"/>
            </a:xfrm>
          </p:grpSpPr>
          <p:cxnSp>
            <p:nvCxnSpPr>
              <p:cNvPr id="3145729" name="直接连接符 7"/>
              <p:cNvCxnSpPr/>
              <p:nvPr/>
            </p:nvCxnSpPr>
            <p:spPr>
              <a:xfrm>
                <a:off x="6803356" y="3481479"/>
                <a:ext cx="2475115" cy="0"/>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cxnSp>
            <p:nvCxnSpPr>
              <p:cNvPr id="3145730" name="直接连接符 8"/>
              <p:cNvCxnSpPr>
                <a:endCxn id="1048580" idx="1"/>
              </p:cNvCxnSpPr>
              <p:nvPr/>
            </p:nvCxnSpPr>
            <p:spPr>
              <a:xfrm>
                <a:off x="2843658" y="3448459"/>
                <a:ext cx="2390885" cy="1"/>
              </a:xfrm>
              <a:prstGeom prst="line">
                <a:avLst/>
              </a:prstGeom>
              <a:ln>
                <a:solidFill>
                  <a:srgbClr val="AF1E22"/>
                </a:solidFill>
              </a:ln>
            </p:spPr>
            <p:style>
              <a:lnRef idx="1">
                <a:schemeClr val="accent4"/>
              </a:lnRef>
              <a:fillRef idx="0">
                <a:schemeClr val="accent4"/>
              </a:fillRef>
              <a:effectRef idx="0">
                <a:schemeClr val="accent4"/>
              </a:effectRef>
              <a:fontRef idx="minor">
                <a:schemeClr val="tx1"/>
              </a:fontRef>
            </p:style>
          </p:cxnSp>
        </p:grpSp>
      </p:grpSp>
      <p:grpSp>
        <p:nvGrpSpPr>
          <p:cNvPr id="33" name="组合 35"/>
          <p:cNvGrpSpPr/>
          <p:nvPr/>
        </p:nvGrpSpPr>
        <p:grpSpPr>
          <a:xfrm>
            <a:off x="2707914" y="1902656"/>
            <a:ext cx="6776170" cy="1507079"/>
            <a:chOff x="2707914" y="1969331"/>
            <a:chExt cx="6776170" cy="1507079"/>
          </a:xfrm>
        </p:grpSpPr>
        <p:grpSp>
          <p:nvGrpSpPr>
            <p:cNvPr id="34" name="组合 36"/>
            <p:cNvGrpSpPr/>
            <p:nvPr/>
          </p:nvGrpSpPr>
          <p:grpSpPr>
            <a:xfrm>
              <a:off x="2707914" y="1969331"/>
              <a:ext cx="6776170" cy="1507079"/>
              <a:chOff x="2707914" y="1969331"/>
              <a:chExt cx="6776170" cy="1507079"/>
            </a:xfrm>
          </p:grpSpPr>
          <p:sp>
            <p:nvSpPr>
              <p:cNvPr id="1048582" name="文本框 39"/>
              <p:cNvSpPr txBox="1"/>
              <p:nvPr/>
            </p:nvSpPr>
            <p:spPr>
              <a:xfrm>
                <a:off x="3262396" y="1969331"/>
                <a:ext cx="6221688" cy="1507079"/>
              </a:xfrm>
              <a:prstGeom prst="rect">
                <a:avLst/>
              </a:prstGeom>
              <a:noFill/>
            </p:spPr>
            <p:txBody>
              <a:bodyPr wrap="square" rtlCol="0">
                <a:spAutoFit/>
              </a:bodyPr>
              <a:lstStyle/>
              <a:p>
                <a:pPr marL="0" lvl="1">
                  <a:lnSpc>
                    <a:spcPct val="120000"/>
                  </a:lnSpc>
                </a:pPr>
                <a:r>
                  <a:rPr lang="zh-CN" altLang="en-US" sz="4000" b="1" spc="300" dirty="0">
                    <a:solidFill>
                      <a:srgbClr val="AF1E22"/>
                    </a:solidFill>
                    <a:latin typeface="微软雅黑" panose="020B0503020204020204" pitchFamily="34" charset="-122"/>
                    <a:ea typeface="微软雅黑" panose="020B0503020204020204" pitchFamily="34" charset="-122"/>
                  </a:rPr>
                  <a:t>毛泽东思想和中国特色</a:t>
                </a:r>
              </a:p>
              <a:p>
                <a:pPr>
                  <a:lnSpc>
                    <a:spcPct val="120000"/>
                  </a:lnSpc>
                </a:pPr>
                <a:r>
                  <a:rPr lang="zh-CN" altLang="en-US" sz="4000" b="1" spc="300" dirty="0">
                    <a:solidFill>
                      <a:srgbClr val="AF1E22"/>
                    </a:solidFill>
                    <a:latin typeface="微软雅黑" panose="020B0503020204020204" pitchFamily="34" charset="-122"/>
                    <a:ea typeface="微软雅黑" panose="020B0503020204020204" pitchFamily="34" charset="-122"/>
                  </a:rPr>
                  <a:t>社会主义理论体系概论</a:t>
                </a:r>
              </a:p>
            </p:txBody>
          </p:sp>
          <p:sp>
            <p:nvSpPr>
              <p:cNvPr id="1048583" name="半闭框 40"/>
              <p:cNvSpPr/>
              <p:nvPr/>
            </p:nvSpPr>
            <p:spPr>
              <a:xfrm>
                <a:off x="2707914" y="2014829"/>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sp>
            <p:nvSpPr>
              <p:cNvPr id="1048584" name="半闭框 41"/>
              <p:cNvSpPr/>
              <p:nvPr/>
            </p:nvSpPr>
            <p:spPr>
              <a:xfrm>
                <a:off x="2992092" y="2014829"/>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grpSp>
        <p:sp>
          <p:nvSpPr>
            <p:cNvPr id="1048585" name="半闭框 37"/>
            <p:cNvSpPr/>
            <p:nvPr/>
          </p:nvSpPr>
          <p:spPr>
            <a:xfrm rot="10800000">
              <a:off x="9242333" y="3250890"/>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sp>
          <p:nvSpPr>
            <p:cNvPr id="1048586" name="半闭框 38"/>
            <p:cNvSpPr/>
            <p:nvPr/>
          </p:nvSpPr>
          <p:spPr>
            <a:xfrm rot="10800000">
              <a:off x="8958155" y="3250890"/>
              <a:ext cx="241751" cy="219590"/>
            </a:xfrm>
            <a:prstGeom prst="halfFrame">
              <a:avLst/>
            </a:prstGeom>
            <a:solidFill>
              <a:srgbClr val="AF1E2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ffectLst>
                  <a:outerShdw blurRad="38100" dist="38100" dir="2700000" algn="tl">
                    <a:srgbClr val="000000">
                      <a:alpha val="43137"/>
                    </a:srgbClr>
                  </a:outerShdw>
                </a:effectLst>
              </a:endParaRPr>
            </a:p>
          </p:txBody>
        </p:sp>
      </p:grpSp>
      <p:pic>
        <p:nvPicPr>
          <p:cNvPr id="2097155" name="图片 58"/>
          <p:cNvPicPr>
            <a:picLocks noChangeAspect="1"/>
          </p:cNvPicPr>
          <p:nvPr/>
        </p:nvPicPr>
        <p:blipFill>
          <a:blip r:embed="rId4" cstate="print"/>
          <a:stretch>
            <a:fillRect/>
          </a:stretch>
        </p:blipFill>
        <p:spPr>
          <a:xfrm>
            <a:off x="-57753" y="-35954"/>
            <a:ext cx="3097036" cy="2749534"/>
          </a:xfrm>
          <a:prstGeom prst="rect">
            <a:avLst/>
          </a:prstGeom>
        </p:spPr>
      </p:pic>
      <p:sp>
        <p:nvSpPr>
          <p:cNvPr id="22" name="矩形 21"/>
          <p:cNvSpPr/>
          <p:nvPr/>
        </p:nvSpPr>
        <p:spPr>
          <a:xfrm>
            <a:off x="0" y="6569710"/>
            <a:ext cx="12192000" cy="288290"/>
          </a:xfrm>
          <a:prstGeom prst="rect">
            <a:avLst/>
          </a:prstGeom>
          <a:solidFill>
            <a:schemeClr val="bg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900" dirty="0">
              <a:solidFill>
                <a:srgbClr val="FFFDFD"/>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20738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毛泽东最早提出“使马克思主义在中国具体化”科学命题的会议是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遵义会议</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瓦窑堡会议</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中共六届六中全会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中共六届七中全会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中国共产党明确把毛泽东思想作为党的指导思想写进党章的会议是</a:t>
            </a:r>
            <a:r>
              <a:rPr lang="" altLang="en-US"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中共五大</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中共七大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中共八大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3</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1945</a:t>
            </a:r>
            <a:r>
              <a:rPr lang="zh-CN" altLang="en-US" sz="2400" b="1" dirty="0">
                <a:solidFill>
                  <a:srgbClr val="181E33"/>
                </a:solidFill>
                <a:latin typeface="黑体" panose="02010609060101010101" charset="-122"/>
                <a:ea typeface="黑体" panose="02010609060101010101" charset="-122"/>
                <a:cs typeface="黑体" panose="02010609060101010101" charset="-122"/>
              </a:rPr>
              <a:t>，刘少奇代表党中央做了《关于修改党章的报告》，指出毛泽东思想是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马克思主义中国化</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中国化的马克思主义</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马克思主义时代化</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时代化的马克思主义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7465" y="899795"/>
            <a:ext cx="9577705" cy="47999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4</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2022</a:t>
            </a:r>
            <a:r>
              <a:rPr lang="zh-CN" altLang="en-US" sz="2400" b="1" dirty="0">
                <a:solidFill>
                  <a:srgbClr val="181E33"/>
                </a:solidFill>
                <a:latin typeface="黑体" panose="02010609060101010101" charset="-122"/>
                <a:ea typeface="黑体" panose="02010609060101010101" charset="-122"/>
                <a:cs typeface="黑体" panose="02010609060101010101" charset="-122"/>
              </a:rPr>
              <a:t>年，党的二十大明确把</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 altLang="en-US"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zh-CN" altLang="en-US" sz="2400" b="1" dirty="0">
                <a:solidFill>
                  <a:srgbClr val="181E33"/>
                </a:solidFill>
                <a:latin typeface="黑体" panose="02010609060101010101" charset="-122"/>
                <a:ea typeface="黑体" panose="02010609060101010101" charset="-122"/>
                <a:cs typeface="黑体" panose="02010609060101010101" charset="-122"/>
              </a:rPr>
              <a:t>作为当代中国共产党人的庄严历史责任，并提出继续推进马克思主义中国化时代化的新要求。</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立党为公，执政为民</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全心全意为人民服务</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不断谱写马克思主义中国化时代化新篇章</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不断开辟马克思主义中国化时代化新境界</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5</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、党的六届七中全会通过的《</a:t>
            </a:r>
            <a:r>
              <a:rPr lang="" altLang="en-US"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 altLang="en-US"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zh-CN" altLang="en-US" sz="2400" b="1" dirty="0">
                <a:solidFill>
                  <a:srgbClr val="181E33"/>
                </a:solidFill>
                <a:latin typeface="黑体" panose="02010609060101010101" charset="-122"/>
                <a:ea typeface="黑体" panose="02010609060101010101" charset="-122"/>
                <a:cs typeface="黑体" panose="02010609060101010101" charset="-122"/>
              </a:rPr>
              <a:t>》，充分肯定了确立毛泽东在全党领导地位的重大意义。</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关于若干历史问题的决议</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关于党的若干历史问题的决议</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关于党的问题的历史决议</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关于党的历史问题的若干决议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6</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、毛泽东思想的精髓是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实事求是</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解放思想</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与时俱进</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求真务实</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7</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、毛泽东最早在哪部著作中阐释了</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独立自主思想</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《星星之火，可以燎原》</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《反对本本主义》</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《中国社会各阶级的分析》</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《论联合政府》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8</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、毛泽东最早在哪部著作中提出了</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新民主主义的革命</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的科学概念？</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&lt;</a:t>
            </a:r>
            <a:r>
              <a:rPr lang="zh-CN" altLang="en-US" sz="2400" b="1" dirty="0">
                <a:solidFill>
                  <a:srgbClr val="181E33"/>
                </a:solidFill>
                <a:latin typeface="黑体" panose="02010609060101010101" charset="-122"/>
                <a:ea typeface="黑体" panose="02010609060101010101" charset="-122"/>
                <a:cs typeface="黑体" panose="02010609060101010101" charset="-122"/>
              </a:rPr>
              <a:t>共产党人</a:t>
            </a:r>
            <a:r>
              <a:rPr lang="en-US" altLang="zh-CN" sz="2400" b="1" dirty="0">
                <a:solidFill>
                  <a:srgbClr val="181E33"/>
                </a:solidFill>
                <a:latin typeface="黑体" panose="02010609060101010101" charset="-122"/>
                <a:ea typeface="黑体" panose="02010609060101010101" charset="-122"/>
                <a:cs typeface="黑体" panose="02010609060101010101" charset="-122"/>
              </a:rPr>
              <a:t>&gt;</a:t>
            </a:r>
            <a:r>
              <a:rPr lang="zh-CN" altLang="en-US" sz="2400" b="1" dirty="0">
                <a:solidFill>
                  <a:srgbClr val="181E33"/>
                </a:solidFill>
                <a:latin typeface="黑体" panose="02010609060101010101" charset="-122"/>
                <a:ea typeface="黑体" panose="02010609060101010101" charset="-122"/>
                <a:cs typeface="黑体" panose="02010609060101010101" charset="-122"/>
              </a:rPr>
              <a:t>发刊词》</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《中国革命和中国共产党》</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《在晋绥干部会议上的讲话》</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9</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、中国革命的中心问题是：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无产阶级的领导权问题</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农民问题</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土地问题</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经济问题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10</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、中国革命的主力军是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工人</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农民</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学生</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商人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11</a:t>
            </a:r>
            <a:r>
              <a:rPr lang="zh-CN" altLang="en-US" sz="2400" b="1" dirty="0">
                <a:solidFill>
                  <a:srgbClr val="181E33"/>
                </a:solidFill>
                <a:latin typeface="黑体" panose="02010609060101010101" charset="-122"/>
                <a:ea typeface="黑体" panose="02010609060101010101" charset="-122"/>
                <a:cs typeface="黑体" panose="02010609060101010101" charset="-122"/>
              </a:rPr>
              <a:t>、无产阶级的可靠同盟者是：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农民阶级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城市小资产阶级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民族资产阶级</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半无产阶级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12</a:t>
            </a:r>
            <a:r>
              <a:rPr lang="zh-CN" altLang="en-US" sz="2400" b="1" dirty="0">
                <a:solidFill>
                  <a:srgbClr val="181E33"/>
                </a:solidFill>
                <a:latin typeface="黑体" panose="02010609060101010101" charset="-122"/>
                <a:ea typeface="黑体" panose="02010609060101010101" charset="-122"/>
                <a:cs typeface="黑体" panose="02010609060101010101" charset="-122"/>
              </a:rPr>
              <a:t>、区别于新旧民主主义革命的根本标志是</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革命的领导权问题</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主义和信仰问题</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道路和前途问题</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革命的理论与实践问题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13</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、毛泽东最早在哪部著作中提出并阐述了新民主主义的基本纲领？</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《新民主主义论》</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《论联合政府》</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《中国革命和中国共产党》</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《实践论》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14</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、新民主主义文化的本质特征是：</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 </a:t>
            </a:r>
            <a:r>
              <a:rPr lang="zh-CN" altLang="en-US" sz="2400" b="1" dirty="0">
                <a:solidFill>
                  <a:srgbClr val="FF0000"/>
                </a:solidFill>
                <a:latin typeface="黑体" panose="02010609060101010101" charset="-122"/>
                <a:ea typeface="黑体" panose="02010609060101010101" charset="-122"/>
                <a:cs typeface="黑体" panose="02010609060101010101" charset="-122"/>
              </a:rPr>
              <a:t>民族的</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 </a:t>
            </a:r>
            <a:r>
              <a:rPr lang="zh-CN" altLang="en-US" sz="2400" b="1" dirty="0">
                <a:solidFill>
                  <a:srgbClr val="181E33"/>
                </a:solidFill>
                <a:latin typeface="黑体" panose="02010609060101010101" charset="-122"/>
                <a:ea typeface="黑体" panose="02010609060101010101" charset="-122"/>
                <a:cs typeface="黑体" panose="02010609060101010101" charset="-122"/>
              </a:rPr>
              <a:t>科学的</a:t>
            </a:r>
            <a:r>
              <a:rPr lang="en-US" altLang="zh-CN" sz="2400" b="1" dirty="0">
                <a:solidFill>
                  <a:srgbClr val="181E33"/>
                </a:solidFill>
                <a:latin typeface="黑体" panose="02010609060101010101" charset="-122"/>
                <a:ea typeface="黑体" panose="02010609060101010101" charset="-122"/>
                <a:cs typeface="黑体" panose="02010609060101010101" charset="-122"/>
              </a:rPr>
              <a:t> C. </a:t>
            </a:r>
            <a:r>
              <a:rPr lang="zh-CN" altLang="en-US" sz="2400" b="1" dirty="0">
                <a:solidFill>
                  <a:srgbClr val="181E33"/>
                </a:solidFill>
                <a:latin typeface="黑体" panose="02010609060101010101" charset="-122"/>
                <a:ea typeface="黑体" panose="02010609060101010101" charset="-122"/>
                <a:cs typeface="黑体" panose="02010609060101010101" charset="-122"/>
              </a:rPr>
              <a:t>大众的</a:t>
            </a:r>
            <a:r>
              <a:rPr lang="en-US" altLang="zh-CN" sz="2400" b="1" dirty="0">
                <a:solidFill>
                  <a:srgbClr val="181E33"/>
                </a:solidFill>
                <a:latin typeface="黑体" panose="02010609060101010101" charset="-122"/>
                <a:ea typeface="黑体" panose="02010609060101010101" charset="-122"/>
                <a:cs typeface="黑体" panose="02010609060101010101" charset="-122"/>
              </a:rPr>
              <a:t> D. </a:t>
            </a:r>
            <a:r>
              <a:rPr lang="zh-CN" altLang="en-US" sz="2400" b="1" dirty="0">
                <a:solidFill>
                  <a:srgbClr val="181E33"/>
                </a:solidFill>
                <a:latin typeface="黑体" panose="02010609060101010101" charset="-122"/>
                <a:ea typeface="黑体" panose="02010609060101010101" charset="-122"/>
                <a:cs typeface="黑体" panose="02010609060101010101" charset="-122"/>
              </a:rPr>
              <a:t>社会主义的</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16465" cy="2960426"/>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15</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、毛泽东在哪次会议上第一次明确提出新民主主义革命道路，即经过长期武装斗争，先占乡村，后取城市，最后夺取全国胜利的革命道路。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中共五大</a:t>
            </a:r>
            <a:r>
              <a:rPr lang="en-US" altLang="zh-CN" sz="2400" b="1" dirty="0">
                <a:solidFill>
                  <a:srgbClr val="181E33"/>
                </a:solidFill>
                <a:latin typeface="黑体" panose="02010609060101010101" charset="-122"/>
                <a:ea typeface="黑体" panose="02010609060101010101" charset="-122"/>
                <a:cs typeface="黑体" panose="02010609060101010101" charset="-122"/>
              </a:rPr>
              <a:t> B. </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中共六大</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中共六届六中全会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中共六届七中全会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468503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16</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、毛泽东最早在哪部著作中，总结了中国革命两次胜利两次失败的经验教训，揭示了中国革命发展的基本规律，提出了战胜敌人的</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三大法宝</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a:t>
            </a:r>
            <a:r>
              <a:rPr lang="en-US" altLang="zh-CN" sz="2400" b="1" dirty="0">
                <a:solidFill>
                  <a:srgbClr val="FF0000"/>
                </a:solidFill>
                <a:latin typeface="黑体" panose="02010609060101010101" charset="-122"/>
                <a:ea typeface="黑体" panose="02010609060101010101" charset="-122"/>
                <a:cs typeface="黑体" panose="02010609060101010101" charset="-122"/>
              </a:rPr>
              <a:t>&lt;</a:t>
            </a:r>
            <a:r>
              <a:rPr lang="zh-CN" altLang="en-US" sz="2400" b="1" dirty="0">
                <a:solidFill>
                  <a:srgbClr val="FF0000"/>
                </a:solidFill>
                <a:latin typeface="黑体" panose="02010609060101010101" charset="-122"/>
                <a:ea typeface="黑体" panose="02010609060101010101" charset="-122"/>
                <a:cs typeface="黑体" panose="02010609060101010101" charset="-122"/>
              </a:rPr>
              <a:t>共产党人</a:t>
            </a:r>
            <a:r>
              <a:rPr lang="en-US" altLang="zh-CN" sz="2400" b="1" dirty="0">
                <a:solidFill>
                  <a:srgbClr val="FF0000"/>
                </a:solidFill>
                <a:latin typeface="黑体" panose="02010609060101010101" charset="-122"/>
                <a:ea typeface="黑体" panose="02010609060101010101" charset="-122"/>
                <a:cs typeface="黑体" panose="02010609060101010101" charset="-122"/>
              </a:rPr>
              <a:t>&gt;</a:t>
            </a:r>
            <a:r>
              <a:rPr lang="zh-CN" altLang="en-US" sz="2400" b="1" dirty="0">
                <a:solidFill>
                  <a:srgbClr val="FF0000"/>
                </a:solidFill>
                <a:latin typeface="黑体" panose="02010609060101010101" charset="-122"/>
                <a:ea typeface="黑体" panose="02010609060101010101" charset="-122"/>
                <a:cs typeface="黑体" panose="02010609060101010101" charset="-122"/>
              </a:rPr>
              <a:t>发刊词》</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《中国革命和中国共产党》</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《新民主主义论》</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《论联合政府》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577705"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17</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、毛泽东在哪篇著作中对新民主主义革命的基本经验做了集中概括？</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《论人民民主专政》</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《中国革命和中国共产党》</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《新民主主义论》</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《论联合政府》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09040" y="1225550"/>
            <a:ext cx="10359390" cy="222176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18</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、新民主主义社会的性质是：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资本主义社会</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社会主义社会</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过渡性社会</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社会主义初级阶段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075842"/>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19</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、毛泽东的哪篇著作标志着党探索中国社会主义建设道路的良好开端？</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《论人民民主专政》</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《论十大关系》</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《关于正确处理人民内部矛盾的问题》</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党的八大政治报告</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4589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一、单项选择题</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20</a:t>
            </a:r>
            <a:r>
              <a:rPr lang="zh-CN" altLang="en-US" sz="2400" b="1" dirty="0">
                <a:solidFill>
                  <a:srgbClr val="181E33"/>
                </a:solidFill>
                <a:latin typeface="黑体" panose="02010609060101010101" charset="-122"/>
                <a:ea typeface="黑体" panose="02010609060101010101" charset="-122"/>
                <a:cs typeface="黑体" panose="02010609060101010101" charset="-122"/>
              </a:rPr>
              <a:t>、针对解决政治思想领域中人民内部矛盾，毛泽东提出的具体方针和原则是：</a:t>
            </a:r>
          </a:p>
          <a:p>
            <a:pPr marL="0" indent="0" algn="l" defTabSz="266700">
              <a:lnSpc>
                <a:spcPct val="20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团结</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批评</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团结</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百花齐放，百家争鸣</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p>
          <a:p>
            <a:pPr marL="0" indent="0" algn="l" defTabSz="266700">
              <a:lnSpc>
                <a:spcPct val="20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长期共存，互相监督</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适当安排，统筹兼顾</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20738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、毛泽东在以下哪些著作中提出并深入阐述农村包围城市、武装夺取政权的思想，标志着毛泽东思想的初步形成？</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《中国的红色政权为什么能够存在？》</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《井冈山的斗争》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《星星之火，可以燎原》</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《反对本本主义》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510032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3</a:t>
            </a:r>
            <a:r>
              <a:rPr lang="zh-CN" altLang="en-US" sz="2400" b="1" dirty="0">
                <a:solidFill>
                  <a:srgbClr val="181E33"/>
                </a:solidFill>
                <a:latin typeface="黑体" panose="02010609060101010101" charset="-122"/>
                <a:ea typeface="黑体" panose="02010609060101010101" charset="-122"/>
                <a:cs typeface="黑体" panose="02010609060101010101" charset="-122"/>
              </a:rPr>
              <a:t>、在党的历史上，遵义会议是一次具有伟大转折意义的重要会议。以下表述正确的是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事实上确立了毛泽东同志在党中央和红军的领导地位</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开始确立以毛泽东同志为主要代表的马克思主义正确路线在党中央领导地位</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开始形成以毛泽东同志为核心的党的第一代中央领导集体</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开启了党独立自主解决中国革命实际问题的新阶段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4</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、中国共产党在中国革命中战胜敌人的三大法宝是：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统一战线</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实事求是</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武装斗争</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党的建设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5</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、毛泽东指出，中国共产党区别于其他任何政党的显著标志是：</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181E33"/>
                </a:solidFill>
                <a:latin typeface="黑体" panose="02010609060101010101" charset="-122"/>
                <a:ea typeface="黑体" panose="02010609060101010101" charset="-122"/>
                <a:cs typeface="黑体" panose="02010609060101010101" charset="-122"/>
              </a:rPr>
              <a:t>艰苦朴素与勤政为民的作风</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理论和实践相结合的作风</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密切联系群众的作风</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批评与自我批评的作风</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6</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、毛泽东思想活的灵魂是：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实事求是</a:t>
            </a:r>
            <a:r>
              <a:rPr lang="en-US" altLang="zh-CN" sz="2400" b="1" dirty="0">
                <a:solidFill>
                  <a:srgbClr val="181E33"/>
                </a:solidFill>
                <a:latin typeface="黑体" panose="02010609060101010101" charset="-122"/>
                <a:ea typeface="黑体" panose="02010609060101010101" charset="-122"/>
                <a:cs typeface="黑体" panose="02010609060101010101" charset="-122"/>
              </a:rPr>
              <a:t>   B.</a:t>
            </a:r>
            <a:r>
              <a:rPr lang="zh-CN" altLang="en-US" sz="2400" b="1" dirty="0">
                <a:solidFill>
                  <a:srgbClr val="181E33"/>
                </a:solidFill>
                <a:latin typeface="黑体" panose="02010609060101010101" charset="-122"/>
                <a:ea typeface="黑体" panose="02010609060101010101" charset="-122"/>
                <a:cs typeface="黑体" panose="02010609060101010101" charset="-122"/>
              </a:rPr>
              <a:t>统一战线</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群众路线</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独立自主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7</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、新民主主义主义革命的动力，包括哪些阶级？</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无产阶级</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农民阶级</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城市小资产阶级</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民族资产阶级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8</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、新民主主义革命之所以</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新</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，是因为</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新的时代</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新的领导力量</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新的指导思想</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新的革命前途</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9</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、新民主主义的经济纲领的内容，包括以下哪些？</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保护民族工商业</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没收封建地主阶级的土地归农民所有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没收官僚资产阶级的垄断资本归新民主主义国家所有</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建立各革命阶级联合专政的新民主主义共和国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10</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、新民主主义文化具有科学性，主要体现在（</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r>
              <a:rPr lang="zh-CN" altLang="en-US" sz="2400" b="1" dirty="0">
                <a:solidFill>
                  <a:srgbClr val="181E33"/>
                </a:solidFill>
                <a:latin typeface="黑体" panose="02010609060101010101" charset="-122"/>
                <a:ea typeface="黑体" panose="02010609060101010101" charset="-122"/>
                <a:cs typeface="黑体" panose="02010609060101010101" charset="-122"/>
              </a:rPr>
              <a:t>）。</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 </a:t>
            </a:r>
            <a:r>
              <a:rPr lang="zh-CN" altLang="en-US" sz="2400" b="1" dirty="0">
                <a:solidFill>
                  <a:srgbClr val="FF0000"/>
                </a:solidFill>
                <a:latin typeface="黑体" panose="02010609060101010101" charset="-122"/>
                <a:ea typeface="黑体" panose="02010609060101010101" charset="-122"/>
                <a:cs typeface="黑体" panose="02010609060101010101" charset="-122"/>
              </a:rPr>
              <a:t>反对封建思想和迷信思想，主张实事求是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 </a:t>
            </a:r>
            <a:r>
              <a:rPr lang="zh-CN" altLang="en-US" sz="2400" b="1" dirty="0">
                <a:solidFill>
                  <a:srgbClr val="FF0000"/>
                </a:solidFill>
                <a:latin typeface="黑体" panose="02010609060101010101" charset="-122"/>
                <a:ea typeface="黑体" panose="02010609060101010101" charset="-122"/>
                <a:cs typeface="黑体" panose="02010609060101010101" charset="-122"/>
              </a:rPr>
              <a:t>倡导科学精神，发展自然科学和人文社会科学</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 </a:t>
            </a:r>
            <a:r>
              <a:rPr lang="zh-CN" altLang="en-US" sz="2400" b="1" dirty="0">
                <a:solidFill>
                  <a:srgbClr val="FF0000"/>
                </a:solidFill>
                <a:latin typeface="黑体" panose="02010609060101010101" charset="-122"/>
                <a:ea typeface="黑体" panose="02010609060101010101" charset="-122"/>
                <a:cs typeface="黑体" panose="02010609060101010101" charset="-122"/>
              </a:rPr>
              <a:t>强调用科学的思想和方法认识世界和改造世界</a:t>
            </a:r>
            <a:r>
              <a:rPr lang="en-US" altLang="zh-CN" sz="2400" b="1" dirty="0">
                <a:solidFill>
                  <a:srgbClr val="181E33"/>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 </a:t>
            </a:r>
            <a:r>
              <a:rPr lang="zh-CN" altLang="en-US" sz="2400" b="1" dirty="0">
                <a:solidFill>
                  <a:srgbClr val="181E33"/>
                </a:solidFill>
                <a:latin typeface="黑体" panose="02010609060101010101" charset="-122"/>
                <a:ea typeface="黑体" panose="02010609060101010101" charset="-122"/>
                <a:cs typeface="黑体" panose="02010609060101010101" charset="-122"/>
              </a:rPr>
              <a:t>主张中华民族的尊严和独立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4546600"/>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11</a:t>
            </a:r>
            <a:r>
              <a:rPr lang="zh-CN" altLang="en-US" sz="2400" b="1" dirty="0">
                <a:solidFill>
                  <a:srgbClr val="181E33"/>
                </a:solidFill>
                <a:latin typeface="黑体" panose="02010609060101010101" charset="-122"/>
                <a:ea typeface="黑体" panose="02010609060101010101" charset="-122"/>
                <a:cs typeface="黑体" panose="02010609060101010101" charset="-122"/>
              </a:rPr>
              <a:t>、毛泽东在哪些著作中提出了</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工农武装割据</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思想，初步形成了农村包围城市的革命道路理论？</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《中国的红色政权为什么能够存在？》</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《井冈山的斗争》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《星星之火，可以燎原》</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《湖南农民运动考察报告》</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20738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12</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、中国革命必须走农村包围城市、武装夺取政权的道路是由以下哪些方面决定的？</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中国的时代特点</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中国具体的国情</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党的正确主张</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群众的大力支持</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1006602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13</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、中国革命之所以能走农村包围城市、武装夺取政权的道路，其原因是：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中国经济文化落后且发展极端不平衡</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革命的群众基础好</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革命形势继续向前发展</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党的领导有力量及其政策的正确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53809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14</a:t>
            </a:r>
            <a:r>
              <a:rPr lang="zh-CN" altLang="en-US" sz="2400" b="1" dirty="0">
                <a:solidFill>
                  <a:srgbClr val="181E33"/>
                </a:solidFill>
                <a:latin typeface="黑体" panose="02010609060101010101" charset="-122"/>
                <a:ea typeface="黑体" panose="02010609060101010101" charset="-122"/>
                <a:cs typeface="黑体" panose="02010609060101010101" charset="-122"/>
              </a:rPr>
              <a:t>、中国革命走农村包围城市、武装夺取政权的道路，根本在于处理好以下哪些方面的关系？</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土地革命</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武装斗争</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农村革命根据地建设</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党的领导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15</a:t>
            </a:r>
            <a:r>
              <a:rPr lang="zh-CN" altLang="en-US" sz="2400" b="1" dirty="0">
                <a:solidFill>
                  <a:srgbClr val="181E33"/>
                </a:solidFill>
                <a:latin typeface="黑体" panose="02010609060101010101" charset="-122"/>
                <a:ea typeface="黑体" panose="02010609060101010101" charset="-122"/>
                <a:cs typeface="黑体" panose="02010609060101010101" charset="-122"/>
              </a:rPr>
              <a:t>、党在中国革命中战胜敌人的三个主要法宝是：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统一战线</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武装斗争</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党的建设</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土地革命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16</a:t>
            </a:r>
            <a:r>
              <a:rPr lang="zh-CN" altLang="en-US" sz="2400" b="1" dirty="0">
                <a:solidFill>
                  <a:srgbClr val="181E33"/>
                </a:solidFill>
                <a:latin typeface="黑体" panose="02010609060101010101" charset="-122"/>
                <a:ea typeface="黑体" panose="02010609060101010101" charset="-122"/>
                <a:cs typeface="黑体" panose="02010609060101010101" charset="-122"/>
              </a:rPr>
              <a:t>、党建立、巩固和发展统一战线的实践经验有：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建立巩固的工农联盟</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正确对待资产阶级</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采取区别对待的方针</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坚持独立自主的原则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17</a:t>
            </a:r>
            <a:r>
              <a:rPr lang="zh-CN" altLang="en-US" sz="2400" b="1" dirty="0">
                <a:solidFill>
                  <a:srgbClr val="181E33"/>
                </a:solidFill>
                <a:latin typeface="黑体" panose="02010609060101010101" charset="-122"/>
                <a:ea typeface="黑体" panose="02010609060101010101" charset="-122"/>
                <a:cs typeface="黑体" panose="02010609060101010101" charset="-122"/>
              </a:rPr>
              <a:t>、党在新民主主义革命时期开展武装斗争的革命经验有：</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坚持党对军队的绝对领导</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建设全心全意为人民服务的人民军队</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开展革命的政治工作</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坚持正确的战略战术原则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18</a:t>
            </a:r>
            <a:r>
              <a:rPr lang="zh-CN" altLang="en-US" sz="2400" b="1" dirty="0">
                <a:solidFill>
                  <a:srgbClr val="181E33"/>
                </a:solidFill>
                <a:latin typeface="黑体" panose="02010609060101010101" charset="-122"/>
                <a:ea typeface="黑体" panose="02010609060101010101" charset="-122"/>
                <a:cs typeface="黑体" panose="02010609060101010101" charset="-122"/>
              </a:rPr>
              <a:t>、党在新民主主义革命时期加强自身建设的重要举措有：</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加强党的思想建设</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加强党的组织建设</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重视党的作风建设</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联系党的政治路线加强自身建设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19.</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新民主主义革命理论具有怎样的理论意义？</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揭示了近代中国革命发展的客观规律</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回答了中国革命向何处去的问题</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丰富了马克思主义的理论宝库</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开辟了马克思主义中国化时代化的发展道路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20.</a:t>
            </a:r>
            <a:r>
              <a:rPr lang="zh-CN" altLang="en-US" sz="2400" b="1" dirty="0">
                <a:solidFill>
                  <a:srgbClr val="181E33"/>
                </a:solidFill>
                <a:latin typeface="黑体" panose="02010609060101010101" charset="-122"/>
                <a:ea typeface="黑体" panose="02010609060101010101" charset="-122"/>
                <a:cs typeface="黑体" panose="02010609060101010101" charset="-122"/>
              </a:rPr>
              <a:t>新民主主义社会时期，民族资产阶级具有两面性的表现：</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剥削工人</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接受改造</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  C.</a:t>
            </a:r>
            <a:r>
              <a:rPr lang="zh-CN" altLang="en-US" sz="2400" b="1" dirty="0">
                <a:solidFill>
                  <a:srgbClr val="181E33"/>
                </a:solidFill>
                <a:latin typeface="黑体" panose="02010609060101010101" charset="-122"/>
                <a:ea typeface="黑体" panose="02010609060101010101" charset="-122"/>
                <a:cs typeface="黑体" panose="02010609060101010101" charset="-122"/>
              </a:rPr>
              <a:t>妥协退让</a:t>
            </a:r>
            <a:r>
              <a:rPr lang="en-US" altLang="zh-CN" sz="2400" b="1" dirty="0">
                <a:solidFill>
                  <a:srgbClr val="181E33"/>
                </a:solidFill>
                <a:latin typeface="黑体" panose="02010609060101010101" charset="-122"/>
                <a:ea typeface="黑体" panose="02010609060101010101" charset="-122"/>
                <a:cs typeface="黑体" panose="02010609060101010101" charset="-122"/>
              </a:rPr>
              <a:t>  D.</a:t>
            </a:r>
            <a:r>
              <a:rPr lang="zh-CN" altLang="en-US" sz="2400" b="1" dirty="0">
                <a:solidFill>
                  <a:srgbClr val="181E33"/>
                </a:solidFill>
                <a:latin typeface="黑体" panose="02010609060101010101" charset="-122"/>
                <a:ea typeface="黑体" panose="02010609060101010101" charset="-122"/>
                <a:cs typeface="黑体" panose="02010609060101010101" charset="-122"/>
              </a:rPr>
              <a:t>拥护革命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22</a:t>
            </a:r>
            <a:r>
              <a:rPr lang="zh-CN" altLang="en-US" sz="2400" b="1" dirty="0">
                <a:solidFill>
                  <a:srgbClr val="181E33"/>
                </a:solidFill>
                <a:latin typeface="黑体" panose="02010609060101010101" charset="-122"/>
                <a:ea typeface="黑体" panose="02010609060101010101" charset="-122"/>
                <a:cs typeface="黑体" panose="02010609060101010101" charset="-122"/>
              </a:rPr>
              <a:t>、党在过渡时期对资本主义工商业采取赎买政策，所谓赎买是指</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A</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国家有偿地将私营企业改变为国有企业</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B.</a:t>
            </a:r>
            <a:r>
              <a:rPr lang="zh-CN" altLang="en-US" sz="2400" b="1" dirty="0">
                <a:solidFill>
                  <a:srgbClr val="181E33"/>
                </a:solidFill>
                <a:latin typeface="黑体" panose="02010609060101010101" charset="-122"/>
                <a:ea typeface="黑体" panose="02010609060101010101" charset="-122"/>
                <a:cs typeface="黑体" panose="02010609060101010101" charset="-122"/>
              </a:rPr>
              <a:t>国家给资本家支付一笔巨额补偿金</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C</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资本家在一定年限内从企业经营所得中获取一部分利润</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D.</a:t>
            </a:r>
            <a:r>
              <a:rPr lang="zh-CN" altLang="en-US" sz="2400" b="1" dirty="0">
                <a:solidFill>
                  <a:srgbClr val="FF0000"/>
                </a:solidFill>
                <a:latin typeface="黑体" panose="02010609060101010101" charset="-122"/>
                <a:ea typeface="黑体" panose="02010609060101010101" charset="-122"/>
                <a:cs typeface="黑体" panose="02010609060101010101" charset="-122"/>
              </a:rPr>
              <a:t>将资本主义私有制改变为社会主义公有制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1898597"/>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23</a:t>
            </a:r>
            <a:r>
              <a:rPr lang="zh-CN" altLang="en-US" sz="2400" b="1" dirty="0">
                <a:solidFill>
                  <a:srgbClr val="181E33"/>
                </a:solidFill>
                <a:latin typeface="黑体" panose="02010609060101010101" charset="-122"/>
                <a:ea typeface="黑体" panose="02010609060101010101" charset="-122"/>
                <a:cs typeface="黑体" panose="02010609060101010101" charset="-122"/>
              </a:rPr>
              <a:t>、对资本主义工商业社会主义改造时采用</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四马分肥</a:t>
            </a:r>
            <a:r>
              <a:rPr lang="en-US" altLang="zh-CN" sz="2400" b="1" dirty="0">
                <a:solidFill>
                  <a:srgbClr val="181E33"/>
                </a:solidFill>
                <a:latin typeface="黑体" panose="02010609060101010101" charset="-122"/>
                <a:ea typeface="黑体" panose="02010609060101010101" charset="-122"/>
                <a:cs typeface="黑体" panose="02010609060101010101" charset="-122"/>
              </a:rPr>
              <a:t>”</a:t>
            </a:r>
            <a:r>
              <a:rPr lang="zh-CN" altLang="en-US" sz="2400" b="1" dirty="0">
                <a:solidFill>
                  <a:srgbClr val="181E33"/>
                </a:solidFill>
                <a:latin typeface="黑体" panose="02010609060101010101" charset="-122"/>
                <a:ea typeface="黑体" panose="02010609060101010101" charset="-122"/>
                <a:cs typeface="黑体" panose="02010609060101010101" charset="-122"/>
              </a:rPr>
              <a:t>，其内涵是</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国家所得税</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企业公积金</a:t>
            </a:r>
            <a:r>
              <a:rPr lang="en-US" altLang="zh-CN" sz="2400" b="1" dirty="0">
                <a:solidFill>
                  <a:srgbClr val="FF0000"/>
                </a:solidFill>
                <a:latin typeface="黑体" panose="02010609060101010101" charset="-122"/>
                <a:ea typeface="黑体" panose="02010609060101010101" charset="-122"/>
                <a:cs typeface="黑体" panose="02010609060101010101" charset="-122"/>
              </a:rPr>
              <a:t> C.</a:t>
            </a:r>
            <a:r>
              <a:rPr lang="zh-CN" altLang="en-US" sz="2400" b="1" dirty="0">
                <a:solidFill>
                  <a:srgbClr val="FF0000"/>
                </a:solidFill>
                <a:latin typeface="黑体" panose="02010609060101010101" charset="-122"/>
                <a:ea typeface="黑体" panose="02010609060101010101" charset="-122"/>
                <a:cs typeface="黑体" panose="02010609060101010101" charset="-122"/>
              </a:rPr>
              <a:t>工人福利费</a:t>
            </a:r>
            <a:r>
              <a:rPr lang="en-US" altLang="zh-CN" sz="2400" b="1" dirty="0">
                <a:solidFill>
                  <a:srgbClr val="FF0000"/>
                </a:solidFill>
                <a:latin typeface="黑体" panose="02010609060101010101" charset="-122"/>
                <a:ea typeface="黑体" panose="02010609060101010101" charset="-122"/>
                <a:cs typeface="黑体" panose="02010609060101010101" charset="-122"/>
              </a:rPr>
              <a:t>  D.</a:t>
            </a:r>
            <a:r>
              <a:rPr lang="zh-CN" altLang="en-US" sz="2400" b="1" dirty="0">
                <a:solidFill>
                  <a:srgbClr val="FF0000"/>
                </a:solidFill>
                <a:latin typeface="黑体" panose="02010609060101010101" charset="-122"/>
                <a:ea typeface="黑体" panose="02010609060101010101" charset="-122"/>
                <a:cs typeface="黑体" panose="02010609060101010101" charset="-122"/>
              </a:rPr>
              <a:t>资方红利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265366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24.</a:t>
            </a:r>
            <a:r>
              <a:rPr lang="zh-CN" altLang="en-US" sz="2400" b="1" dirty="0">
                <a:solidFill>
                  <a:srgbClr val="181E33"/>
                </a:solidFill>
                <a:latin typeface="黑体" panose="02010609060101010101" charset="-122"/>
                <a:ea typeface="黑体" panose="02010609060101010101" charset="-122"/>
                <a:cs typeface="黑体" panose="02010609060101010101" charset="-122"/>
              </a:rPr>
              <a:t>在进行社会主义改造的过程中，中国共产党积累了哪些丰富经验？</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一化三改</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r>
              <a:rPr lang="zh-CN" altLang="en-US" sz="2400" b="1" dirty="0">
                <a:solidFill>
                  <a:srgbClr val="FF0000"/>
                </a:solidFill>
                <a:latin typeface="黑体" panose="02010609060101010101" charset="-122"/>
                <a:ea typeface="黑体" panose="02010609060101010101" charset="-122"/>
                <a:cs typeface="黑体" panose="02010609060101010101" charset="-122"/>
              </a:rPr>
              <a:t>同时并举</a:t>
            </a:r>
            <a:r>
              <a:rPr lang="en-US" altLang="zh-CN" sz="2400" b="1" dirty="0">
                <a:solidFill>
                  <a:srgbClr val="FF0000"/>
                </a:solidFill>
                <a:latin typeface="黑体" panose="02010609060101010101" charset="-122"/>
                <a:ea typeface="黑体" panose="02010609060101010101" charset="-122"/>
                <a:cs typeface="黑体" panose="02010609060101010101" charset="-122"/>
              </a:rPr>
              <a:t>    B.</a:t>
            </a:r>
            <a:r>
              <a:rPr lang="zh-CN" altLang="en-US" sz="2400" b="1" dirty="0">
                <a:solidFill>
                  <a:srgbClr val="FF0000"/>
                </a:solidFill>
                <a:latin typeface="黑体" panose="02010609060101010101" charset="-122"/>
                <a:ea typeface="黑体" panose="02010609060101010101" charset="-122"/>
                <a:cs typeface="黑体" panose="02010609060101010101" charset="-122"/>
              </a:rPr>
              <a:t>积极引导、稳步过渡</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用和平的方法进行改造</a:t>
            </a:r>
            <a:r>
              <a:rPr lang="en-US" altLang="zh-CN" sz="2400" b="1" dirty="0">
                <a:solidFill>
                  <a:srgbClr val="FF0000"/>
                </a:solidFill>
                <a:latin typeface="黑体" panose="02010609060101010101" charset="-122"/>
                <a:ea typeface="黑体" panose="02010609060101010101" charset="-122"/>
                <a:cs typeface="黑体" panose="02010609060101010101" charset="-122"/>
              </a:rPr>
              <a:t>    </a:t>
            </a: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多快好省建设社会主义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59230" y="1225550"/>
            <a:ext cx="9870440" cy="3992245"/>
          </a:xfrm>
          <a:prstGeom prst="rect">
            <a:avLst/>
          </a:prstGeom>
        </p:spPr>
        <p:txBody>
          <a:bodyPr wrap="square">
            <a:spAutoFit/>
          </a:bodyPr>
          <a:lstStyle/>
          <a:p>
            <a:pPr marL="0" indent="0" algn="l" defTabSz="266700">
              <a:lnSpc>
                <a:spcPct val="150000"/>
              </a:lnSpc>
              <a:spcBef>
                <a:spcPct val="0"/>
              </a:spcBef>
              <a:spcAft>
                <a:spcPts val="900"/>
              </a:spcAft>
            </a:pPr>
            <a:r>
              <a:rPr lang="zh-CN" altLang="en-US" sz="2400" b="1" dirty="0">
                <a:solidFill>
                  <a:srgbClr val="181E33"/>
                </a:solidFill>
                <a:latin typeface="黑体" panose="02010609060101010101" charset="-122"/>
                <a:ea typeface="黑体" panose="02010609060101010101" charset="-122"/>
                <a:cs typeface="黑体" panose="02010609060101010101" charset="-122"/>
              </a:rPr>
              <a:t>二、多项选择题</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25.</a:t>
            </a:r>
            <a:r>
              <a:rPr lang="zh-CN" altLang="en-US" sz="2400" b="1" dirty="0">
                <a:solidFill>
                  <a:srgbClr val="181E33"/>
                </a:solidFill>
                <a:latin typeface="黑体" panose="02010609060101010101" charset="-122"/>
                <a:ea typeface="黑体" panose="02010609060101010101" charset="-122"/>
                <a:cs typeface="黑体" panose="02010609060101010101" charset="-122"/>
              </a:rPr>
              <a:t>建国初期走工业化道路，实现从农业国向工业国转变就必须</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A.</a:t>
            </a:r>
            <a:r>
              <a:rPr lang="zh-CN" altLang="en-US" sz="2400" b="1" dirty="0">
                <a:solidFill>
                  <a:srgbClr val="FF0000"/>
                </a:solidFill>
                <a:latin typeface="黑体" panose="02010609060101010101" charset="-122"/>
                <a:ea typeface="黑体" panose="02010609060101010101" charset="-122"/>
                <a:cs typeface="黑体" panose="02010609060101010101" charset="-122"/>
              </a:rPr>
              <a:t>采取正确的经济建设方针</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B.</a:t>
            </a:r>
            <a:r>
              <a:rPr lang="zh-CN" altLang="en-US" sz="2400" b="1" dirty="0">
                <a:solidFill>
                  <a:srgbClr val="FF0000"/>
                </a:solidFill>
                <a:latin typeface="黑体" panose="02010609060101010101" charset="-122"/>
                <a:ea typeface="黑体" panose="02010609060101010101" charset="-122"/>
                <a:cs typeface="黑体" panose="02010609060101010101" charset="-122"/>
              </a:rPr>
              <a:t>调整和完善所有制结构</a:t>
            </a:r>
          </a:p>
          <a:p>
            <a:pPr marL="0" indent="0" algn="l" defTabSz="266700">
              <a:lnSpc>
                <a:spcPct val="150000"/>
              </a:lnSpc>
              <a:spcBef>
                <a:spcPct val="0"/>
              </a:spcBef>
              <a:spcAft>
                <a:spcPts val="900"/>
              </a:spcAft>
            </a:pPr>
            <a:r>
              <a:rPr lang="en-US" altLang="zh-CN" sz="2400" b="1" dirty="0">
                <a:solidFill>
                  <a:srgbClr val="FF0000"/>
                </a:solidFill>
                <a:latin typeface="黑体" panose="02010609060101010101" charset="-122"/>
                <a:ea typeface="黑体" panose="02010609060101010101" charset="-122"/>
                <a:cs typeface="黑体" panose="02010609060101010101" charset="-122"/>
              </a:rPr>
              <a:t>C.</a:t>
            </a:r>
            <a:r>
              <a:rPr lang="zh-CN" altLang="en-US" sz="2400" b="1" dirty="0">
                <a:solidFill>
                  <a:srgbClr val="FF0000"/>
                </a:solidFill>
                <a:latin typeface="黑体" panose="02010609060101010101" charset="-122"/>
                <a:ea typeface="黑体" panose="02010609060101010101" charset="-122"/>
                <a:cs typeface="黑体" panose="02010609060101010101" charset="-122"/>
              </a:rPr>
              <a:t>探索适合我国情况的经济体制和运行机制</a:t>
            </a:r>
          </a:p>
          <a:p>
            <a:pPr marL="0" indent="0" algn="l" defTabSz="266700">
              <a:lnSpc>
                <a:spcPct val="150000"/>
              </a:lnSpc>
              <a:spcBef>
                <a:spcPct val="0"/>
              </a:spcBef>
              <a:spcAft>
                <a:spcPts val="900"/>
              </a:spcAft>
            </a:pPr>
            <a:r>
              <a:rPr lang="en-US" altLang="zh-CN" sz="2400" b="1" dirty="0">
                <a:solidFill>
                  <a:srgbClr val="181E33"/>
                </a:solidFill>
                <a:latin typeface="黑体" panose="02010609060101010101" charset="-122"/>
                <a:ea typeface="黑体" panose="02010609060101010101" charset="-122"/>
                <a:cs typeface="黑体" panose="02010609060101010101" charset="-122"/>
              </a:rPr>
              <a:t>D.</a:t>
            </a:r>
            <a:r>
              <a:rPr lang="zh-CN" altLang="en-US" sz="2400" b="1" dirty="0">
                <a:solidFill>
                  <a:srgbClr val="181E33"/>
                </a:solidFill>
                <a:latin typeface="黑体" panose="02010609060101010101" charset="-122"/>
                <a:ea typeface="黑体" panose="02010609060101010101" charset="-122"/>
                <a:cs typeface="黑体" panose="02010609060101010101" charset="-122"/>
              </a:rPr>
              <a:t>忽视对农业和轻工业的建设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18a92a6-e8ca-4fcf-aa90-d55c3872ab3f"/>
  <p:tag name="COMMONDATA" val="eyJoZGlkIjoiZGVmNTRkY2FiZTJlMzBjNDdiNTdlY2FkMDllMmQ4Zj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chemeClr val="bg1"/>
            </a:gs>
            <a:gs pos="0">
              <a:schemeClr val="bg1">
                <a:alpha val="68000"/>
              </a:schemeClr>
            </a:gs>
            <a:gs pos="44000">
              <a:schemeClr val="bg1">
                <a:alpha val="59000"/>
              </a:schemeClr>
            </a:gs>
          </a:gsLst>
          <a:lin ang="0" scaled="1"/>
          <a:tileRect/>
        </a:gradFill>
        <a:ln>
          <a:noFill/>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1961</Words>
  <Application>Microsoft Office PowerPoint</Application>
  <PresentationFormat>宽屏</PresentationFormat>
  <Paragraphs>223</Paragraphs>
  <Slides>44</Slides>
  <Notes>44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44</vt:i4>
      </vt:variant>
    </vt:vector>
  </HeadingPairs>
  <TitlesOfParts>
    <vt:vector size="51" baseType="lpstr">
      <vt:lpstr>等线</vt:lpstr>
      <vt:lpstr>黑体</vt:lpstr>
      <vt:lpstr>华文中宋</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SZH</cp:lastModifiedBy>
  <cp:revision>23</cp:revision>
  <dcterms:created xsi:type="dcterms:W3CDTF">2022-06-02T04:34:00Z</dcterms:created>
  <dcterms:modified xsi:type="dcterms:W3CDTF">2026-07-07T04:42:31Z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B94CE579270542E7B721C8F1C22F53F0</vt:lpwstr>
  </property>
  <property fmtid="{D5CDD505-2E9C-101B-9397-08002B2CF9AE}" pid="3" name="KSOProductBuildVer">
    <vt:lpwstr>2052-12.1.0.21541</vt:lpwstr>
  </property>
  <property fmtid="{D5CDD505-2E9C-101B-9397-08002B2CF9AE}" pid="4" name="MSIP_Label_defa4170-0d19-0005-0004-bc88714345d2_Enabled">
    <vt:lpwstr>true</vt:lpwstr>
  </property>
  <property fmtid="{D5CDD505-2E9C-101B-9397-08002B2CF9AE}" pid="5" name="MSIP_Label_defa4170-0d19-0005-0004-bc88714345d2_SetDate">
    <vt:lpwstr>2026-07-07T04:42:29Z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bfb1d8fb-4685-458f-a7bd-dab3783a40a9</vt:lpwstr>
  </property>
  <property fmtid="{D5CDD505-2E9C-101B-9397-08002B2CF9AE}" pid="9" name="MSIP_Label_defa4170-0d19-0005-0004-bc88714345d2_ActionId">
    <vt:lpwstr>29b63dcf-7d09-4463-afe1-04f1e06c4aeb</vt:lpwstr>
  </property>
  <property fmtid="{D5CDD505-2E9C-101B-9397-08002B2CF9AE}" pid="10" name="MSIP_Label_defa4170-0d19-0005-0004-bc88714345d2_ContentBits">
    <vt:lpwstr>0</vt:lpwstr>
  </property>
  <property fmtid="{D5CDD505-2E9C-101B-9397-08002B2CF9AE}" pid="11" name="MSIP_Label_defa4170-0d19-0005-0004-bc88714345d2_Tag">
    <vt:lpwstr>10, 3, 0, 1</vt:lpwstr>
  </property>
</Properties>
</file>