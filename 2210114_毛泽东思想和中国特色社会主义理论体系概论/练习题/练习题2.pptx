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handoutMasterIdLst>
    <p:handoutMasterId r:id="rId34"/>
  </p:handoutMasterIdLst>
  <p:sldIdLst>
    <p:sldId id="11093347" r:id="rId2"/>
    <p:sldId id="11093089" r:id="rId3"/>
    <p:sldId id="11093618" r:id="rId4"/>
    <p:sldId id="11093619" r:id="rId5"/>
    <p:sldId id="11093620" r:id="rId6"/>
    <p:sldId id="11093621" r:id="rId7"/>
    <p:sldId id="11093622" r:id="rId8"/>
    <p:sldId id="11093623" r:id="rId9"/>
    <p:sldId id="11093624" r:id="rId10"/>
    <p:sldId id="11093625" r:id="rId11"/>
    <p:sldId id="11093626" r:id="rId12"/>
    <p:sldId id="11093627" r:id="rId13"/>
    <p:sldId id="11093628" r:id="rId14"/>
    <p:sldId id="11093629" r:id="rId15"/>
    <p:sldId id="11093630" r:id="rId16"/>
    <p:sldId id="11093631" r:id="rId17"/>
    <p:sldId id="11093632" r:id="rId18"/>
    <p:sldId id="11093633" r:id="rId19"/>
    <p:sldId id="11093634" r:id="rId20"/>
    <p:sldId id="11093635" r:id="rId21"/>
    <p:sldId id="11093636" r:id="rId22"/>
    <p:sldId id="11093637" r:id="rId23"/>
    <p:sldId id="11093661" r:id="rId24"/>
    <p:sldId id="11093662" r:id="rId25"/>
    <p:sldId id="11093663" r:id="rId26"/>
    <p:sldId id="11093664" r:id="rId27"/>
    <p:sldId id="11093683" r:id="rId28"/>
    <p:sldId id="11093665" r:id="rId29"/>
    <p:sldId id="11093666" r:id="rId30"/>
    <p:sldId id="11093667" r:id="rId31"/>
    <p:sldId id="11093668" r:id="rId32"/>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9"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705">
          <p15:clr>
            <a:srgbClr val="A4A3A4"/>
          </p15:clr>
        </p15:guide>
        <p15:guide id="2" pos="221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慎独" initials="慎" lastIdx="1" clrIdx="0"/>
  <p:cmAuthor id="2" name="作者" initials="A" lastIdx="0" clrIdx="1"/>
  <p:cmAuthor id="3" name="hp" initials="h"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84B70"/>
    <a:srgbClr val="003366"/>
    <a:srgbClr val="A2A19C"/>
    <a:srgbClr val="FFFFCC"/>
    <a:srgbClr val="836E03"/>
    <a:srgbClr val="E97C30"/>
    <a:srgbClr val="760000"/>
    <a:srgbClr val="C00000"/>
    <a:srgbClr val="0179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912" autoAdjust="0"/>
    <p:restoredTop sz="87515" autoAdjust="0"/>
  </p:normalViewPr>
  <p:slideViewPr>
    <p:cSldViewPr snapToGrid="0" showGuides="1">
      <p:cViewPr varScale="1">
        <p:scale>
          <a:sx n="61" d="100"/>
          <a:sy n="61" d="100"/>
        </p:scale>
        <p:origin x="88" y="124"/>
      </p:cViewPr>
      <p:guideLst>
        <p:guide orient="horz" pos="2029"/>
        <p:guide pos="3840"/>
      </p:guideLst>
    </p:cSldViewPr>
  </p:slideViewPr>
  <p:notesTextViewPr>
    <p:cViewPr>
      <p:scale>
        <a:sx n="1" d="1"/>
        <a:sy n="1" d="1"/>
      </p:scale>
      <p:origin x="0" y="0"/>
    </p:cViewPr>
  </p:notesTextViewPr>
  <p:sorterViewPr>
    <p:cViewPr>
      <p:scale>
        <a:sx n="114" d="100"/>
        <a:sy n="114" d="100"/>
      </p:scale>
      <p:origin x="0" y="0"/>
    </p:cViewPr>
  </p:sorterViewPr>
  <p:notesViewPr>
    <p:cSldViewPr snapToGrid="0">
      <p:cViewPr varScale="1">
        <p:scale>
          <a:sx n="53" d="100"/>
          <a:sy n="53" d="100"/>
        </p:scale>
        <p:origin x="2048" y="48"/>
      </p:cViewPr>
      <p:guideLst>
        <p:guide orient="horz" pos="2705"/>
        <p:guide pos="221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2FFFC3E-D677-4248-ADC5-1621DBA8DF02}" type="datetimeFigureOut">
              <a:rPr lang="zh-CN" altLang="en-US" smtClean="0"/>
              <a:t>2026/7/7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DA88306-5F2B-4847-B4D8-E1BDDCDBE1DB}"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804CC0-C4DF-4108-A612-38007B3A11FA}" type="datetimeFigureOut">
              <a:rPr lang="zh-CN" altLang="en-US" smtClean="0"/>
              <a:t>2026/7/7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3187E0-9DC0-4761-8CE1-F6C7FE364E3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幻灯片图像占位符 1"/>
          <p:cNvSpPr>
            <a:spLocks noGrp="1" noRot="1" noChangeAspect="1"/>
          </p:cNvSpPr>
          <p:nvPr>
            <p:ph type="sldImg"/>
          </p:nvPr>
        </p:nvSpPr>
        <p:spPr/>
      </p:sp>
      <p:sp>
        <p:nvSpPr>
          <p:cNvPr id="1048589" name="备注占位符 2"/>
          <p:cNvSpPr>
            <a:spLocks noGrp="1"/>
          </p:cNvSpPr>
          <p:nvPr>
            <p:ph type="body" idx="1"/>
          </p:nvPr>
        </p:nvSpPr>
        <p:spPr/>
        <p:txBody>
          <a:bodyPr/>
          <a:lstStyle/>
          <a:p>
            <a:endParaRPr lang="zh-CN" altLang="en-US" dirty="0"/>
          </a:p>
        </p:txBody>
      </p:sp>
      <p:sp>
        <p:nvSpPr>
          <p:cNvPr id="1048590" name="页脚占位符 5"/>
          <p:cNvSpPr>
            <a:spLocks noGrp="1"/>
          </p:cNvSpPr>
          <p:nvPr>
            <p:ph type="ftr" sz="quarter" idx="4"/>
          </p:nvPr>
        </p:nvSpPr>
        <p:spPr/>
        <p:txBody>
          <a:bodyPr/>
          <a:lstStyle/>
          <a:p>
            <a:endParaRPr lang="zh-CN" altLang="en-US"/>
          </a:p>
        </p:txBody>
      </p:sp>
      <p:sp>
        <p:nvSpPr>
          <p:cNvPr id="1048591" name="日期占位符 3"/>
          <p:cNvSpPr>
            <a:spLocks noGrp="1"/>
          </p:cNvSpPr>
          <p:nvPr>
            <p:ph type="dt" idx="1"/>
          </p:nvPr>
        </p:nvSpPr>
        <p:spPr/>
        <p:txBody>
          <a:bodyPr/>
          <a:lstStyle/>
          <a:p>
            <a:fld id="{30C85084-376C-491E-849D-01A26ABF0C2A}" type="datetime1">
              <a:rPr lang="zh-CN" altLang="en-US" smtClean="0"/>
              <a:t>2026/7/7</a:t>
            </a:fld>
            <a:endParaRPr lang="zh-CN" altLang="en-US"/>
          </a:p>
        </p:txBody>
      </p:sp>
      <p:sp>
        <p:nvSpPr>
          <p:cNvPr id="1048592" name="灯片编号占位符 6"/>
          <p:cNvSpPr>
            <a:spLocks noGrp="1"/>
          </p:cNvSpPr>
          <p:nvPr>
            <p:ph type="sldNum" sz="quarter" idx="5"/>
          </p:nvPr>
        </p:nvSpPr>
        <p:spPr/>
        <p:txBody>
          <a:bodyPr/>
          <a:lstStyle/>
          <a:p>
            <a:fld id="{942558DE-1754-485B-AB72-88EC699311C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第一">
    <p:bg>
      <p:bgPr>
        <a:solidFill>
          <a:srgbClr val="FCFDFA"/>
        </a:solidFill>
        <a:effectLst/>
      </p:bgPr>
    </p:bg>
    <p:spTree>
      <p:nvGrpSpPr>
        <p:cNvPr id="1" name=""/>
        <p:cNvGrpSpPr/>
        <p:nvPr/>
      </p:nvGrpSpPr>
      <p:grpSpPr>
        <a:xfrm>
          <a:off x="0" y="0"/>
          <a:ext cx="0" cy="0"/>
          <a:chOff x="0" y="0"/>
          <a:chExt cx="0" cy="0"/>
        </a:xfrm>
      </p:grpSpPr>
      <p:sp>
        <p:nvSpPr>
          <p:cNvPr id="11" name="矩形 10"/>
          <p:cNvSpPr/>
          <p:nvPr userDrawn="1"/>
        </p:nvSpPr>
        <p:spPr>
          <a:xfrm>
            <a:off x="9588500" y="210506"/>
            <a:ext cx="2501340" cy="260350"/>
          </a:xfrm>
          <a:prstGeom prst="rect">
            <a:avLst/>
          </a:prstGeom>
        </p:spPr>
        <p:txBody>
          <a:bodyPr wrap="square">
            <a:spAutoFit/>
          </a:bodyPr>
          <a:lstStyle/>
          <a:p>
            <a:pPr algn="r"/>
            <a:r>
              <a:rPr lang="zh-CN" altLang="en-US" sz="1100" spc="120" dirty="0">
                <a:solidFill>
                  <a:schemeClr val="bg1">
                    <a:lumMod val="50000"/>
                  </a:schemeClr>
                </a:solidFill>
                <a:latin typeface="微软雅黑" panose="020B0503020204020204" pitchFamily="34" charset="-122"/>
                <a:ea typeface="微软雅黑" panose="020B0503020204020204" pitchFamily="34" charset="-122"/>
              </a:rPr>
              <a:t>专题九 科学发展观</a:t>
            </a:r>
          </a:p>
        </p:txBody>
      </p:sp>
      <p:sp>
        <p:nvSpPr>
          <p:cNvPr id="17" name="文本框 16"/>
          <p:cNvSpPr txBox="1"/>
          <p:nvPr userDrawn="1"/>
        </p:nvSpPr>
        <p:spPr>
          <a:xfrm>
            <a:off x="45719" y="184281"/>
            <a:ext cx="7156536" cy="496570"/>
          </a:xfrm>
          <a:prstGeom prst="rect">
            <a:avLst/>
          </a:prstGeom>
          <a:noFill/>
        </p:spPr>
        <p:txBody>
          <a:bodyPr wrap="square" rtlCol="0">
            <a:spAutoFit/>
          </a:bodyPr>
          <a:lstStyle/>
          <a:p>
            <a:pPr algn="just">
              <a:lnSpc>
                <a:spcPct val="120000"/>
              </a:lnSpc>
            </a:pPr>
            <a:r>
              <a:rPr lang="zh-CN" altLang="en-US" sz="1100" dirty="0">
                <a:solidFill>
                  <a:schemeClr val="bg1">
                    <a:lumMod val="50000"/>
                  </a:schemeClr>
                </a:solidFill>
                <a:latin typeface="微软雅黑" panose="020B0503020204020204" pitchFamily="34" charset="-122"/>
                <a:ea typeface="微软雅黑" panose="020B0503020204020204" pitchFamily="34" charset="-122"/>
                <a:sym typeface="+mn-ea"/>
              </a:rPr>
              <a:t>一、科学发展观的科学内涵和主要内容是什么？</a:t>
            </a: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a:p>
            <a:pPr algn="just">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8" name="文本框 17"/>
          <p:cNvSpPr txBox="1"/>
          <p:nvPr userDrawn="1"/>
        </p:nvSpPr>
        <p:spPr>
          <a:xfrm>
            <a:off x="8382738" y="6440536"/>
            <a:ext cx="3743923" cy="295978"/>
          </a:xfrm>
          <a:prstGeom prst="rect">
            <a:avLst/>
          </a:prstGeom>
          <a:noFill/>
        </p:spPr>
        <p:txBody>
          <a:bodyPr wrap="square" rtlCol="0">
            <a:spAutoFit/>
          </a:bodyPr>
          <a:lstStyle/>
          <a:p>
            <a:pPr algn="r">
              <a:lnSpc>
                <a:spcPct val="150000"/>
              </a:lnSpc>
            </a:pPr>
            <a:r>
              <a:rPr lang="zh-CN" altLang="en-US" sz="1000" b="1" spc="120" dirty="0">
                <a:solidFill>
                  <a:schemeClr val="bg1">
                    <a:lumMod val="50000"/>
                  </a:schemeClr>
                </a:solidFill>
                <a:latin typeface="微软雅黑" panose="020B0503020204020204" pitchFamily="34" charset="-122"/>
                <a:ea typeface="微软雅黑" panose="020B0503020204020204" pitchFamily="34" charset="-122"/>
              </a:rPr>
              <a:t>毛泽东思想和中国特色社会主义理论体系概论</a:t>
            </a:r>
            <a:endParaRPr lang="en-US" altLang="zh-CN" sz="1000" b="1" spc="12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矩形 18"/>
          <p:cNvSpPr/>
          <p:nvPr userDrawn="1"/>
        </p:nvSpPr>
        <p:spPr>
          <a:xfrm>
            <a:off x="0" y="184281"/>
            <a:ext cx="45719" cy="298672"/>
          </a:xfrm>
          <a:prstGeom prst="rect">
            <a:avLst/>
          </a:prstGeom>
          <a:solidFill>
            <a:srgbClr val="AF1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二">
    <p:bg>
      <p:bgPr>
        <a:solidFill>
          <a:srgbClr val="FCFDFA"/>
        </a:solidFill>
        <a:effectLst/>
      </p:bgPr>
    </p:bg>
    <p:spTree>
      <p:nvGrpSpPr>
        <p:cNvPr id="1" name=""/>
        <p:cNvGrpSpPr/>
        <p:nvPr/>
      </p:nvGrpSpPr>
      <p:grpSpPr>
        <a:xfrm>
          <a:off x="0" y="0"/>
          <a:ext cx="0" cy="0"/>
          <a:chOff x="0" y="0"/>
          <a:chExt cx="0" cy="0"/>
        </a:xfrm>
      </p:grpSpPr>
      <p:sp>
        <p:nvSpPr>
          <p:cNvPr id="11" name="矩形 10"/>
          <p:cNvSpPr/>
          <p:nvPr userDrawn="1"/>
        </p:nvSpPr>
        <p:spPr>
          <a:xfrm>
            <a:off x="9944100" y="210506"/>
            <a:ext cx="2145740" cy="260350"/>
          </a:xfrm>
          <a:prstGeom prst="rect">
            <a:avLst/>
          </a:prstGeom>
        </p:spPr>
        <p:txBody>
          <a:bodyPr wrap="square">
            <a:spAutoFit/>
          </a:bodyPr>
          <a:lstStyle/>
          <a:p>
            <a:pPr algn="r"/>
            <a:r>
              <a:rPr lang="zh-CN" altLang="en-US" sz="1100" spc="120" dirty="0">
                <a:solidFill>
                  <a:schemeClr val="bg1">
                    <a:lumMod val="50000"/>
                  </a:schemeClr>
                </a:solidFill>
                <a:latin typeface="微软雅黑" panose="020B0503020204020204" pitchFamily="34" charset="-122"/>
                <a:ea typeface="微软雅黑" panose="020B0503020204020204" pitchFamily="34" charset="-122"/>
              </a:rPr>
              <a:t>专题九科学发展观</a:t>
            </a:r>
          </a:p>
        </p:txBody>
      </p:sp>
      <p:sp>
        <p:nvSpPr>
          <p:cNvPr id="18" name="文本框 17"/>
          <p:cNvSpPr txBox="1"/>
          <p:nvPr userDrawn="1"/>
        </p:nvSpPr>
        <p:spPr>
          <a:xfrm>
            <a:off x="8382738" y="6440536"/>
            <a:ext cx="3743923" cy="295978"/>
          </a:xfrm>
          <a:prstGeom prst="rect">
            <a:avLst/>
          </a:prstGeom>
          <a:noFill/>
        </p:spPr>
        <p:txBody>
          <a:bodyPr wrap="square" rtlCol="0">
            <a:spAutoFit/>
          </a:bodyPr>
          <a:lstStyle/>
          <a:p>
            <a:pPr algn="r">
              <a:lnSpc>
                <a:spcPct val="150000"/>
              </a:lnSpc>
            </a:pPr>
            <a:r>
              <a:rPr lang="zh-CN" altLang="en-US" sz="1000" b="1" spc="120" dirty="0">
                <a:solidFill>
                  <a:schemeClr val="bg1">
                    <a:lumMod val="50000"/>
                  </a:schemeClr>
                </a:solidFill>
                <a:latin typeface="微软雅黑" panose="020B0503020204020204" pitchFamily="34" charset="-122"/>
                <a:ea typeface="微软雅黑" panose="020B0503020204020204" pitchFamily="34" charset="-122"/>
              </a:rPr>
              <a:t>毛泽东思想和中国特色社会主义理论体系概论</a:t>
            </a:r>
            <a:endParaRPr lang="en-US" altLang="zh-CN" sz="1000" b="1" spc="12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矩形 18"/>
          <p:cNvSpPr/>
          <p:nvPr userDrawn="1"/>
        </p:nvSpPr>
        <p:spPr>
          <a:xfrm>
            <a:off x="0" y="184281"/>
            <a:ext cx="45719" cy="298672"/>
          </a:xfrm>
          <a:prstGeom prst="rect">
            <a:avLst/>
          </a:prstGeom>
          <a:solidFill>
            <a:srgbClr val="AF1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第三">
    <p:bg>
      <p:bgPr>
        <a:solidFill>
          <a:srgbClr val="FCFDFA"/>
        </a:solidFill>
        <a:effectLst/>
      </p:bgPr>
    </p:bg>
    <p:spTree>
      <p:nvGrpSpPr>
        <p:cNvPr id="1" name=""/>
        <p:cNvGrpSpPr/>
        <p:nvPr/>
      </p:nvGrpSpPr>
      <p:grpSpPr>
        <a:xfrm>
          <a:off x="0" y="0"/>
          <a:ext cx="0" cy="0"/>
          <a:chOff x="0" y="0"/>
          <a:chExt cx="0" cy="0"/>
        </a:xfrm>
      </p:grpSpPr>
      <p:sp>
        <p:nvSpPr>
          <p:cNvPr id="11" name="矩形 10"/>
          <p:cNvSpPr/>
          <p:nvPr userDrawn="1"/>
        </p:nvSpPr>
        <p:spPr>
          <a:xfrm>
            <a:off x="9944100" y="210507"/>
            <a:ext cx="2145740" cy="260350"/>
          </a:xfrm>
          <a:prstGeom prst="rect">
            <a:avLst/>
          </a:prstGeom>
        </p:spPr>
        <p:txBody>
          <a:bodyPr wrap="square">
            <a:spAutoFit/>
          </a:bodyPr>
          <a:lstStyle/>
          <a:p>
            <a:pPr algn="r"/>
            <a:r>
              <a:rPr lang="zh-CN" altLang="en-US" sz="1100" spc="120" dirty="0">
                <a:solidFill>
                  <a:schemeClr val="bg1">
                    <a:lumMod val="50000"/>
                  </a:schemeClr>
                </a:solidFill>
                <a:latin typeface="微软雅黑" panose="020B0503020204020204" pitchFamily="34" charset="-122"/>
                <a:ea typeface="微软雅黑" panose="020B0503020204020204" pitchFamily="34" charset="-122"/>
              </a:rPr>
              <a:t>专题九</a:t>
            </a:r>
            <a:r>
              <a:rPr lang="en-US" altLang="zh-CN" sz="1100" spc="12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100" spc="120" dirty="0">
                <a:solidFill>
                  <a:schemeClr val="bg1">
                    <a:lumMod val="50000"/>
                  </a:schemeClr>
                </a:solidFill>
                <a:latin typeface="微软雅黑" panose="020B0503020204020204" pitchFamily="34" charset="-122"/>
                <a:ea typeface="微软雅黑" panose="020B0503020204020204" pitchFamily="34" charset="-122"/>
              </a:rPr>
              <a:t>科学发展观</a:t>
            </a:r>
          </a:p>
        </p:txBody>
      </p:sp>
      <p:sp>
        <p:nvSpPr>
          <p:cNvPr id="17" name="文本框 16"/>
          <p:cNvSpPr txBox="1"/>
          <p:nvPr userDrawn="1"/>
        </p:nvSpPr>
        <p:spPr>
          <a:xfrm>
            <a:off x="45719" y="184281"/>
            <a:ext cx="7156536" cy="294005"/>
          </a:xfrm>
          <a:prstGeom prst="rect">
            <a:avLst/>
          </a:prstGeom>
          <a:noFill/>
        </p:spPr>
        <p:txBody>
          <a:bodyPr wrap="square" rtlCol="0">
            <a:spAutoFit/>
          </a:bodyPr>
          <a:lstStyle/>
          <a:p>
            <a:pPr algn="just">
              <a:lnSpc>
                <a:spcPct val="120000"/>
              </a:lnSpc>
            </a:pPr>
            <a:r>
              <a:rPr lang="zh-CN" altLang="en-US" sz="1100" dirty="0">
                <a:solidFill>
                  <a:schemeClr val="bg1">
                    <a:lumMod val="50000"/>
                  </a:schemeClr>
                </a:solidFill>
                <a:latin typeface="微软雅黑" panose="020B0503020204020204" pitchFamily="34" charset="-122"/>
                <a:ea typeface="微软雅黑" panose="020B0503020204020204" pitchFamily="34" charset="-122"/>
              </a:rPr>
              <a:t>二、如何认识科学发展观的历史地位？</a:t>
            </a:r>
          </a:p>
        </p:txBody>
      </p:sp>
      <p:sp>
        <p:nvSpPr>
          <p:cNvPr id="18" name="文本框 17"/>
          <p:cNvSpPr txBox="1"/>
          <p:nvPr userDrawn="1"/>
        </p:nvSpPr>
        <p:spPr>
          <a:xfrm>
            <a:off x="8382738" y="6440536"/>
            <a:ext cx="3743923" cy="295978"/>
          </a:xfrm>
          <a:prstGeom prst="rect">
            <a:avLst/>
          </a:prstGeom>
          <a:noFill/>
        </p:spPr>
        <p:txBody>
          <a:bodyPr wrap="square" rtlCol="0">
            <a:spAutoFit/>
          </a:bodyPr>
          <a:lstStyle/>
          <a:p>
            <a:pPr algn="r">
              <a:lnSpc>
                <a:spcPct val="150000"/>
              </a:lnSpc>
            </a:pPr>
            <a:r>
              <a:rPr lang="zh-CN" altLang="en-US" sz="1000" b="1" spc="120" dirty="0">
                <a:solidFill>
                  <a:schemeClr val="bg1">
                    <a:lumMod val="50000"/>
                  </a:schemeClr>
                </a:solidFill>
                <a:latin typeface="微软雅黑" panose="020B0503020204020204" pitchFamily="34" charset="-122"/>
                <a:ea typeface="微软雅黑" panose="020B0503020204020204" pitchFamily="34" charset="-122"/>
              </a:rPr>
              <a:t>毛泽东思想和中国特色社会主义理论体系概论</a:t>
            </a:r>
            <a:endParaRPr lang="en-US" altLang="zh-CN" sz="1000" b="1" spc="12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矩形 18"/>
          <p:cNvSpPr/>
          <p:nvPr userDrawn="1"/>
        </p:nvSpPr>
        <p:spPr>
          <a:xfrm>
            <a:off x="0" y="184281"/>
            <a:ext cx="45719" cy="298672"/>
          </a:xfrm>
          <a:prstGeom prst="rect">
            <a:avLst/>
          </a:prstGeom>
          <a:solidFill>
            <a:srgbClr val="AF1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思维导图">
    <p:spTree>
      <p:nvGrpSpPr>
        <p:cNvPr id="1" name=""/>
        <p:cNvGrpSpPr/>
        <p:nvPr/>
      </p:nvGrpSpPr>
      <p:grpSpPr>
        <a:xfrm>
          <a:off x="0" y="0"/>
          <a:ext cx="0" cy="0"/>
          <a:chOff x="0" y="0"/>
          <a:chExt cx="0" cy="0"/>
        </a:xfrm>
      </p:grpSpPr>
      <p:grpSp>
        <p:nvGrpSpPr>
          <p:cNvPr id="6" name="组合 5"/>
          <p:cNvGrpSpPr/>
          <p:nvPr userDrawn="1"/>
        </p:nvGrpSpPr>
        <p:grpSpPr>
          <a:xfrm>
            <a:off x="0" y="0"/>
            <a:ext cx="12192000" cy="6858000"/>
            <a:chOff x="0" y="0"/>
            <a:chExt cx="12192000" cy="6858000"/>
          </a:xfrm>
        </p:grpSpPr>
        <p:sp>
          <p:nvSpPr>
            <p:cNvPr id="7" name="矩形 6"/>
            <p:cNvSpPr/>
            <p:nvPr/>
          </p:nvSpPr>
          <p:spPr>
            <a:xfrm>
              <a:off x="0" y="0"/>
              <a:ext cx="12192000" cy="6858000"/>
            </a:xfrm>
            <a:prstGeom prst="rect">
              <a:avLst/>
            </a:prstGeom>
            <a:gradFill>
              <a:gsLst>
                <a:gs pos="53000">
                  <a:srgbClr val="EFC879"/>
                </a:gs>
                <a:gs pos="100000">
                  <a:srgbClr val="AF1E22"/>
                </a:gs>
                <a:gs pos="0">
                  <a:srgbClr val="B0261F"/>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对角圆角 16"/>
            <p:cNvSpPr/>
            <p:nvPr/>
          </p:nvSpPr>
          <p:spPr>
            <a:xfrm>
              <a:off x="241300" y="203200"/>
              <a:ext cx="11725468" cy="6435807"/>
            </a:xfrm>
            <a:prstGeom prst="rect">
              <a:avLst/>
            </a:prstGeom>
            <a:solidFill>
              <a:schemeClr val="bg1"/>
            </a:solidFill>
            <a:ln>
              <a:noFill/>
            </a:ln>
            <a:effectLst>
              <a:outerShdw blurRad="508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对角圆角 12"/>
            <p:cNvSpPr/>
            <p:nvPr/>
          </p:nvSpPr>
          <p:spPr>
            <a:xfrm>
              <a:off x="169841" y="131528"/>
              <a:ext cx="11857399" cy="6587927"/>
            </a:xfrm>
            <a:prstGeom prst="rect">
              <a:avLst/>
            </a:prstGeom>
            <a:noFill/>
            <a:ln w="19050">
              <a:solidFill>
                <a:srgbClr val="FFFDFA"/>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空白页">
    <p:bg>
      <p:bgPr>
        <a:solidFill>
          <a:srgbClr val="FCFDFA"/>
        </a:solidFill>
        <a:effectLst/>
      </p:bgPr>
    </p:bg>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一">
    <p:bg>
      <p:bgPr>
        <a:solidFill>
          <a:srgbClr val="FCFDFA"/>
        </a:solidFill>
        <a:effectLst/>
      </p:bgPr>
    </p:bg>
    <p:spTree>
      <p:nvGrpSpPr>
        <p:cNvPr id="1" name=""/>
        <p:cNvGrpSpPr/>
        <p:nvPr/>
      </p:nvGrpSpPr>
      <p:grpSpPr>
        <a:xfrm>
          <a:off x="0" y="0"/>
          <a:ext cx="0" cy="0"/>
          <a:chOff x="0" y="0"/>
          <a:chExt cx="0" cy="0"/>
        </a:xfrm>
      </p:grpSpPr>
      <p:sp>
        <p:nvSpPr>
          <p:cNvPr id="19" name="文本框 18"/>
          <p:cNvSpPr txBox="1"/>
          <p:nvPr userDrawn="1"/>
        </p:nvSpPr>
        <p:spPr>
          <a:xfrm>
            <a:off x="8382738" y="6440536"/>
            <a:ext cx="3743923" cy="295978"/>
          </a:xfrm>
          <a:prstGeom prst="rect">
            <a:avLst/>
          </a:prstGeom>
          <a:noFill/>
        </p:spPr>
        <p:txBody>
          <a:bodyPr wrap="square" rtlCol="0">
            <a:spAutoFit/>
          </a:bodyPr>
          <a:lstStyle/>
          <a:p>
            <a:pPr algn="r">
              <a:lnSpc>
                <a:spcPct val="150000"/>
              </a:lnSpc>
            </a:pPr>
            <a:r>
              <a:rPr lang="zh-CN" altLang="en-US" sz="1000" b="1" spc="120" dirty="0">
                <a:solidFill>
                  <a:schemeClr val="bg1">
                    <a:lumMod val="50000"/>
                  </a:schemeClr>
                </a:solidFill>
                <a:latin typeface="微软雅黑" panose="020B0503020204020204" pitchFamily="34" charset="-122"/>
                <a:ea typeface="微软雅黑" panose="020B0503020204020204" pitchFamily="34" charset="-122"/>
              </a:rPr>
              <a:t>毛泽东思想和中国特色社会主义理论体系概论</a:t>
            </a:r>
            <a:endParaRPr lang="en-US" altLang="zh-CN" sz="1000" b="1" spc="12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矩形 21"/>
          <p:cNvSpPr/>
          <p:nvPr userDrawn="1"/>
        </p:nvSpPr>
        <p:spPr>
          <a:xfrm>
            <a:off x="0" y="184281"/>
            <a:ext cx="45719" cy="298672"/>
          </a:xfrm>
          <a:prstGeom prst="rect">
            <a:avLst/>
          </a:prstGeom>
          <a:solidFill>
            <a:srgbClr val="AF1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灯片编号占位符 5"/>
          <p:cNvSpPr>
            <a:spLocks noGrp="1"/>
          </p:cNvSpPr>
          <p:nvPr>
            <p:ph type="sldNum" sz="quarter" idx="4"/>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8"/>
          <p:cNvGrpSpPr/>
          <p:nvPr/>
        </p:nvGrpSpPr>
        <p:grpSpPr>
          <a:xfrm>
            <a:off x="-8793" y="-35954"/>
            <a:ext cx="12200793" cy="6893954"/>
            <a:chOff x="-8793" y="-35954"/>
            <a:chExt cx="12200793" cy="6893954"/>
          </a:xfrm>
        </p:grpSpPr>
        <p:grpSp>
          <p:nvGrpSpPr>
            <p:cNvPr id="29" name="组合 3"/>
            <p:cNvGrpSpPr/>
            <p:nvPr/>
          </p:nvGrpSpPr>
          <p:grpSpPr>
            <a:xfrm>
              <a:off x="-8793" y="0"/>
              <a:ext cx="12200793" cy="6858000"/>
              <a:chOff x="-1" y="-20360"/>
              <a:chExt cx="12200793" cy="6858000"/>
            </a:xfrm>
          </p:grpSpPr>
          <p:pic>
            <p:nvPicPr>
              <p:cNvPr id="2097152" name="图片 1"/>
              <p:cNvPicPr>
                <a:picLocks noChangeAspect="1"/>
              </p:cNvPicPr>
              <p:nvPr/>
            </p:nvPicPr>
            <p:blipFill rotWithShape="1">
              <a:blip r:embed="rId3" cstate="print"/>
              <a:srcRect t="56923" b="12081"/>
              <a:stretch>
                <a:fillRect/>
              </a:stretch>
            </p:blipFill>
            <p:spPr>
              <a:xfrm>
                <a:off x="8792" y="1836600"/>
                <a:ext cx="12191999" cy="5001040"/>
              </a:xfrm>
              <a:prstGeom prst="rect">
                <a:avLst/>
              </a:prstGeom>
            </p:spPr>
          </p:pic>
          <p:sp>
            <p:nvSpPr>
              <p:cNvPr id="1048578" name="矩形 2"/>
              <p:cNvSpPr/>
              <p:nvPr/>
            </p:nvSpPr>
            <p:spPr>
              <a:xfrm>
                <a:off x="-1" y="-20360"/>
                <a:ext cx="12200793" cy="5845774"/>
              </a:xfrm>
              <a:prstGeom prst="rect">
                <a:avLst/>
              </a:prstGeom>
              <a:gradFill>
                <a:gsLst>
                  <a:gs pos="0">
                    <a:srgbClr val="E9EDF0">
                      <a:alpha val="0"/>
                    </a:srgbClr>
                  </a:gs>
                  <a:gs pos="31000">
                    <a:srgbClr val="ECEFF2">
                      <a:alpha val="80000"/>
                    </a:srgbClr>
                  </a:gs>
                  <a:gs pos="52874">
                    <a:srgbClr val="EDF0F3"/>
                  </a:gs>
                  <a:gs pos="74400">
                    <a:srgbClr val="EEF0F3"/>
                  </a:gs>
                  <a:gs pos="100000">
                    <a:srgbClr val="F0F1F4"/>
                  </a:gs>
                </a:gsLst>
                <a:lin ang="16200000" scaled="1"/>
              </a:gradFill>
              <a:ln>
                <a:noFill/>
              </a:ln>
              <a:effectLst>
                <a:outerShdw blurRad="381000" dist="635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579" name="矩形 27"/>
            <p:cNvSpPr/>
            <p:nvPr/>
          </p:nvSpPr>
          <p:spPr>
            <a:xfrm rot="16200000">
              <a:off x="-2207007" y="2176147"/>
              <a:ext cx="6893954" cy="2469752"/>
            </a:xfrm>
            <a:prstGeom prst="rect">
              <a:avLst/>
            </a:prstGeom>
            <a:gradFill>
              <a:gsLst>
                <a:gs pos="0">
                  <a:srgbClr val="E9EDF0">
                    <a:alpha val="0"/>
                  </a:srgbClr>
                </a:gs>
                <a:gs pos="100000">
                  <a:srgbClr val="F0F1F4"/>
                </a:gs>
              </a:gsLst>
              <a:lin ang="16200000" scaled="1"/>
            </a:gradFill>
            <a:ln>
              <a:noFill/>
            </a:ln>
            <a:effectLst>
              <a:outerShdw blurRad="381000" dist="635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8" name="直接连接符 4"/>
          <p:cNvCxnSpPr/>
          <p:nvPr/>
        </p:nvCxnSpPr>
        <p:spPr>
          <a:xfrm>
            <a:off x="2474843" y="541585"/>
            <a:ext cx="9723762" cy="0"/>
          </a:xfrm>
          <a:prstGeom prst="line">
            <a:avLst/>
          </a:prstGeom>
          <a:ln>
            <a:solidFill>
              <a:srgbClr val="AF1E22"/>
            </a:solidFill>
          </a:ln>
        </p:spPr>
        <p:style>
          <a:lnRef idx="1">
            <a:schemeClr val="accent4"/>
          </a:lnRef>
          <a:fillRef idx="0">
            <a:schemeClr val="accent4"/>
          </a:fillRef>
          <a:effectRef idx="0">
            <a:schemeClr val="accent4"/>
          </a:effectRef>
          <a:fontRef idx="minor">
            <a:schemeClr val="tx1"/>
          </a:fontRef>
        </p:style>
      </p:cxnSp>
      <p:grpSp>
        <p:nvGrpSpPr>
          <p:cNvPr id="30" name="组合 30"/>
          <p:cNvGrpSpPr/>
          <p:nvPr/>
        </p:nvGrpSpPr>
        <p:grpSpPr>
          <a:xfrm>
            <a:off x="2843658" y="3535331"/>
            <a:ext cx="6434813" cy="534035"/>
            <a:chOff x="2843658" y="3535331"/>
            <a:chExt cx="6434813" cy="534035"/>
          </a:xfrm>
        </p:grpSpPr>
        <p:sp>
          <p:nvSpPr>
            <p:cNvPr id="1048580" name="文本框 5"/>
            <p:cNvSpPr txBox="1"/>
            <p:nvPr/>
          </p:nvSpPr>
          <p:spPr>
            <a:xfrm>
              <a:off x="5234543" y="3535331"/>
              <a:ext cx="1653043" cy="534035"/>
            </a:xfrm>
            <a:prstGeom prst="rect">
              <a:avLst/>
            </a:prstGeom>
            <a:noFill/>
          </p:spPr>
          <p:txBody>
            <a:bodyPr wrap="square" rtlCol="0">
              <a:spAutoFit/>
            </a:bodyPr>
            <a:lstStyle/>
            <a:p>
              <a:pPr marL="0" lvl="1" algn="ctr">
                <a:lnSpc>
                  <a:spcPct val="120000"/>
                </a:lnSpc>
              </a:pPr>
              <a:r>
                <a:rPr lang="zh-CN" altLang="en-US" sz="2400" b="1" spc="300" dirty="0">
                  <a:solidFill>
                    <a:schemeClr val="tx1">
                      <a:lumMod val="50000"/>
                      <a:lumOff val="50000"/>
                    </a:schemeClr>
                  </a:solidFill>
                  <a:latin typeface="华文中宋" panose="02010600040101010101" pitchFamily="2" charset="-122"/>
                  <a:ea typeface="华文中宋" panose="02010600040101010101" pitchFamily="2" charset="-122"/>
                </a:rPr>
                <a:t>期末试题</a:t>
              </a:r>
            </a:p>
          </p:txBody>
        </p:sp>
        <p:grpSp>
          <p:nvGrpSpPr>
            <p:cNvPr id="31" name="组合 6"/>
            <p:cNvGrpSpPr/>
            <p:nvPr/>
          </p:nvGrpSpPr>
          <p:grpSpPr>
            <a:xfrm>
              <a:off x="2843658" y="3802350"/>
              <a:ext cx="6434813" cy="33020"/>
              <a:chOff x="2843658" y="3448459"/>
              <a:chExt cx="6434813" cy="33020"/>
            </a:xfrm>
          </p:grpSpPr>
          <p:cxnSp>
            <p:nvCxnSpPr>
              <p:cNvPr id="3145729" name="直接连接符 7"/>
              <p:cNvCxnSpPr/>
              <p:nvPr/>
            </p:nvCxnSpPr>
            <p:spPr>
              <a:xfrm>
                <a:off x="6803356" y="3481479"/>
                <a:ext cx="2475115" cy="0"/>
              </a:xfrm>
              <a:prstGeom prst="line">
                <a:avLst/>
              </a:prstGeom>
              <a:ln>
                <a:solidFill>
                  <a:srgbClr val="AF1E22"/>
                </a:solidFill>
              </a:ln>
            </p:spPr>
            <p:style>
              <a:lnRef idx="1">
                <a:schemeClr val="accent4"/>
              </a:lnRef>
              <a:fillRef idx="0">
                <a:schemeClr val="accent4"/>
              </a:fillRef>
              <a:effectRef idx="0">
                <a:schemeClr val="accent4"/>
              </a:effectRef>
              <a:fontRef idx="minor">
                <a:schemeClr val="tx1"/>
              </a:fontRef>
            </p:style>
          </p:cxnSp>
          <p:cxnSp>
            <p:nvCxnSpPr>
              <p:cNvPr id="3145730" name="直接连接符 8"/>
              <p:cNvCxnSpPr>
                <a:endCxn id="1048580" idx="1"/>
              </p:cNvCxnSpPr>
              <p:nvPr/>
            </p:nvCxnSpPr>
            <p:spPr>
              <a:xfrm>
                <a:off x="2843658" y="3448459"/>
                <a:ext cx="2390885" cy="1"/>
              </a:xfrm>
              <a:prstGeom prst="line">
                <a:avLst/>
              </a:prstGeom>
              <a:ln>
                <a:solidFill>
                  <a:srgbClr val="AF1E22"/>
                </a:solidFill>
              </a:ln>
            </p:spPr>
            <p:style>
              <a:lnRef idx="1">
                <a:schemeClr val="accent4"/>
              </a:lnRef>
              <a:fillRef idx="0">
                <a:schemeClr val="accent4"/>
              </a:fillRef>
              <a:effectRef idx="0">
                <a:schemeClr val="accent4"/>
              </a:effectRef>
              <a:fontRef idx="minor">
                <a:schemeClr val="tx1"/>
              </a:fontRef>
            </p:style>
          </p:cxnSp>
        </p:grpSp>
      </p:grpSp>
      <p:grpSp>
        <p:nvGrpSpPr>
          <p:cNvPr id="33" name="组合 35"/>
          <p:cNvGrpSpPr/>
          <p:nvPr/>
        </p:nvGrpSpPr>
        <p:grpSpPr>
          <a:xfrm>
            <a:off x="2707914" y="1902656"/>
            <a:ext cx="6776170" cy="1507079"/>
            <a:chOff x="2707914" y="1969331"/>
            <a:chExt cx="6776170" cy="1507079"/>
          </a:xfrm>
        </p:grpSpPr>
        <p:grpSp>
          <p:nvGrpSpPr>
            <p:cNvPr id="34" name="组合 36"/>
            <p:cNvGrpSpPr/>
            <p:nvPr/>
          </p:nvGrpSpPr>
          <p:grpSpPr>
            <a:xfrm>
              <a:off x="2707914" y="1969331"/>
              <a:ext cx="6776170" cy="1507079"/>
              <a:chOff x="2707914" y="1969331"/>
              <a:chExt cx="6776170" cy="1507079"/>
            </a:xfrm>
          </p:grpSpPr>
          <p:sp>
            <p:nvSpPr>
              <p:cNvPr id="1048582" name="文本框 39"/>
              <p:cNvSpPr txBox="1"/>
              <p:nvPr/>
            </p:nvSpPr>
            <p:spPr>
              <a:xfrm>
                <a:off x="3262396" y="1969331"/>
                <a:ext cx="6221688" cy="1507079"/>
              </a:xfrm>
              <a:prstGeom prst="rect">
                <a:avLst/>
              </a:prstGeom>
              <a:noFill/>
            </p:spPr>
            <p:txBody>
              <a:bodyPr wrap="square" rtlCol="0">
                <a:spAutoFit/>
              </a:bodyPr>
              <a:lstStyle/>
              <a:p>
                <a:pPr marL="0" lvl="1">
                  <a:lnSpc>
                    <a:spcPct val="120000"/>
                  </a:lnSpc>
                </a:pPr>
                <a:r>
                  <a:rPr lang="zh-CN" altLang="en-US" sz="4000" b="1" spc="300" dirty="0">
                    <a:solidFill>
                      <a:srgbClr val="AF1E22"/>
                    </a:solidFill>
                    <a:latin typeface="微软雅黑" panose="020B0503020204020204" pitchFamily="34" charset="-122"/>
                    <a:ea typeface="微软雅黑" panose="020B0503020204020204" pitchFamily="34" charset="-122"/>
                  </a:rPr>
                  <a:t>毛泽东思想和中国特色</a:t>
                </a:r>
              </a:p>
              <a:p>
                <a:pPr>
                  <a:lnSpc>
                    <a:spcPct val="120000"/>
                  </a:lnSpc>
                </a:pPr>
                <a:r>
                  <a:rPr lang="zh-CN" altLang="en-US" sz="4000" b="1" spc="300" dirty="0">
                    <a:solidFill>
                      <a:srgbClr val="AF1E22"/>
                    </a:solidFill>
                    <a:latin typeface="微软雅黑" panose="020B0503020204020204" pitchFamily="34" charset="-122"/>
                    <a:ea typeface="微软雅黑" panose="020B0503020204020204" pitchFamily="34" charset="-122"/>
                  </a:rPr>
                  <a:t>社会主义理论体系概论</a:t>
                </a:r>
              </a:p>
            </p:txBody>
          </p:sp>
          <p:sp>
            <p:nvSpPr>
              <p:cNvPr id="1048583" name="半闭框 40"/>
              <p:cNvSpPr/>
              <p:nvPr/>
            </p:nvSpPr>
            <p:spPr>
              <a:xfrm>
                <a:off x="2707914" y="2014829"/>
                <a:ext cx="241751" cy="219590"/>
              </a:xfrm>
              <a:prstGeom prst="halfFram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ffectLst>
                    <a:outerShdw blurRad="38100" dist="38100" dir="2700000" algn="tl">
                      <a:srgbClr val="000000">
                        <a:alpha val="43137"/>
                      </a:srgbClr>
                    </a:outerShdw>
                  </a:effectLst>
                </a:endParaRPr>
              </a:p>
            </p:txBody>
          </p:sp>
          <p:sp>
            <p:nvSpPr>
              <p:cNvPr id="1048584" name="半闭框 41"/>
              <p:cNvSpPr/>
              <p:nvPr/>
            </p:nvSpPr>
            <p:spPr>
              <a:xfrm>
                <a:off x="2992092" y="2014829"/>
                <a:ext cx="241751" cy="219590"/>
              </a:xfrm>
              <a:prstGeom prst="halfFram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ffectLst>
                    <a:outerShdw blurRad="38100" dist="38100" dir="2700000" algn="tl">
                      <a:srgbClr val="000000">
                        <a:alpha val="43137"/>
                      </a:srgbClr>
                    </a:outerShdw>
                  </a:effectLst>
                </a:endParaRPr>
              </a:p>
            </p:txBody>
          </p:sp>
        </p:grpSp>
        <p:sp>
          <p:nvSpPr>
            <p:cNvPr id="1048585" name="半闭框 37"/>
            <p:cNvSpPr/>
            <p:nvPr/>
          </p:nvSpPr>
          <p:spPr>
            <a:xfrm rot="10800000">
              <a:off x="9242333" y="3250890"/>
              <a:ext cx="241751" cy="219590"/>
            </a:xfrm>
            <a:prstGeom prst="halfFram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ffectLst>
                  <a:outerShdw blurRad="38100" dist="38100" dir="2700000" algn="tl">
                    <a:srgbClr val="000000">
                      <a:alpha val="43137"/>
                    </a:srgbClr>
                  </a:outerShdw>
                </a:effectLst>
              </a:endParaRPr>
            </a:p>
          </p:txBody>
        </p:sp>
        <p:sp>
          <p:nvSpPr>
            <p:cNvPr id="1048586" name="半闭框 38"/>
            <p:cNvSpPr/>
            <p:nvPr/>
          </p:nvSpPr>
          <p:spPr>
            <a:xfrm rot="10800000">
              <a:off x="8958155" y="3250890"/>
              <a:ext cx="241751" cy="219590"/>
            </a:xfrm>
            <a:prstGeom prst="halfFram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ffectLst>
                  <a:outerShdw blurRad="38100" dist="38100" dir="2700000" algn="tl">
                    <a:srgbClr val="000000">
                      <a:alpha val="43137"/>
                    </a:srgbClr>
                  </a:outerShdw>
                </a:effectLst>
              </a:endParaRPr>
            </a:p>
          </p:txBody>
        </p:sp>
      </p:grpSp>
      <p:pic>
        <p:nvPicPr>
          <p:cNvPr id="2097155" name="图片 58"/>
          <p:cNvPicPr>
            <a:picLocks noChangeAspect="1"/>
          </p:cNvPicPr>
          <p:nvPr/>
        </p:nvPicPr>
        <p:blipFill>
          <a:blip r:embed="rId4" cstate="print"/>
          <a:stretch>
            <a:fillRect/>
          </a:stretch>
        </p:blipFill>
        <p:spPr>
          <a:xfrm>
            <a:off x="-57753" y="-35954"/>
            <a:ext cx="3097036" cy="2749534"/>
          </a:xfrm>
          <a:prstGeom prst="rect">
            <a:avLst/>
          </a:prstGeom>
        </p:spPr>
      </p:pic>
      <p:sp>
        <p:nvSpPr>
          <p:cNvPr id="22" name="矩形 21"/>
          <p:cNvSpPr/>
          <p:nvPr/>
        </p:nvSpPr>
        <p:spPr>
          <a:xfrm>
            <a:off x="0" y="6569710"/>
            <a:ext cx="12192000" cy="288290"/>
          </a:xfrm>
          <a:prstGeom prst="rect">
            <a:avLst/>
          </a:prstGeom>
          <a:solidFill>
            <a:schemeClr val="bg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900" dirty="0">
              <a:solidFill>
                <a:srgbClr val="FFFDFD"/>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94589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“中国特色社会主义”成为党的全部理论和实践创新的主题，是在哪次会议上被明确提出？</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中共十一届三中全会</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中共十二大</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000000"/>
                </a:solidFill>
                <a:latin typeface="黑体" panose="02010609060101010101" charset="-122"/>
                <a:ea typeface="黑体" panose="02010609060101010101" charset="-122"/>
                <a:cs typeface="黑体" panose="02010609060101010101" charset="-122"/>
              </a:rPr>
              <a:t>C.</a:t>
            </a:r>
            <a:r>
              <a:rPr lang="zh-CN" altLang="en-US" sz="2400" b="1" dirty="0">
                <a:solidFill>
                  <a:srgbClr val="000000"/>
                </a:solidFill>
                <a:latin typeface="黑体" panose="02010609060101010101" charset="-122"/>
                <a:ea typeface="黑体" panose="02010609060101010101" charset="-122"/>
                <a:cs typeface="黑体" panose="02010609060101010101" charset="-122"/>
              </a:rPr>
              <a:t>中共十三大</a:t>
            </a:r>
            <a:r>
              <a:rPr lang="en-US" altLang="zh-CN" sz="2400" b="1" dirty="0">
                <a:solidFill>
                  <a:srgbClr val="00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中共十四大</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94589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a:t>
            </a:r>
            <a:r>
              <a:rPr lang="zh-CN" sz="2400" b="1" dirty="0">
                <a:solidFill>
                  <a:srgbClr val="181E33"/>
                </a:solidFill>
                <a:latin typeface="黑体" panose="02010609060101010101" charset="-122"/>
                <a:ea typeface="黑体" panose="02010609060101010101" charset="-122"/>
                <a:cs typeface="黑体" panose="02010609060101010101" charset="-122"/>
              </a:rPr>
              <a:t>党的哪次会议首次提出社会主义经济是在公有制基础上的有计划的商品经济？</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中共十一届三中全会</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sym typeface="+mn-ea"/>
              </a:rPr>
              <a:t>中共十二届三中全会</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000000"/>
                </a:solidFill>
                <a:latin typeface="黑体" panose="02010609060101010101" charset="-122"/>
                <a:ea typeface="黑体" panose="02010609060101010101" charset="-122"/>
                <a:cs typeface="黑体" panose="02010609060101010101" charset="-122"/>
              </a:rPr>
              <a:t>C.</a:t>
            </a:r>
            <a:r>
              <a:rPr lang="zh-CN" altLang="en-US" sz="2400" b="1" dirty="0">
                <a:solidFill>
                  <a:srgbClr val="000000"/>
                </a:solidFill>
                <a:latin typeface="黑体" panose="02010609060101010101" charset="-122"/>
                <a:ea typeface="黑体" panose="02010609060101010101" charset="-122"/>
                <a:cs typeface="黑体" panose="02010609060101010101" charset="-122"/>
                <a:sym typeface="+mn-ea"/>
              </a:rPr>
              <a:t>中共十三届三中全会</a:t>
            </a:r>
            <a:r>
              <a:rPr lang="en-US" altLang="zh-CN" sz="2400" b="1" dirty="0">
                <a:solidFill>
                  <a:srgbClr val="00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sym typeface="+mn-ea"/>
              </a:rPr>
              <a:t>中共十四届三中全会</a:t>
            </a:r>
            <a:endParaRPr lang="zh-CN" altLang="en-US" sz="2400" b="1" dirty="0">
              <a:solidFill>
                <a:srgbClr val="181E33"/>
              </a:solidFill>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3</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zh-CN" sz="2400" b="1" dirty="0">
                <a:solidFill>
                  <a:srgbClr val="181E33"/>
                </a:solidFill>
                <a:latin typeface="黑体" panose="02010609060101010101" charset="-122"/>
                <a:ea typeface="黑体" panose="02010609060101010101" charset="-122"/>
                <a:cs typeface="黑体" panose="02010609060101010101" charset="-122"/>
              </a:rPr>
              <a:t>社会主义初级阶段理论第一次系统论述是在党的哪次会议？</a:t>
            </a:r>
            <a:endParaRPr lang="zh-CN" altLang="en-US" sz="2400" b="1" dirty="0">
              <a:solidFill>
                <a:srgbClr val="181E33"/>
              </a:solidFill>
              <a:latin typeface="黑体" panose="02010609060101010101" charset="-122"/>
              <a:ea typeface="黑体" panose="02010609060101010101" charset="-122"/>
              <a:cs typeface="黑体" panose="02010609060101010101" charset="-122"/>
            </a:endParaRP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中共十二大</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中共十三大</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中共十四大</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中共十五大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7465" y="899795"/>
            <a:ext cx="9577705" cy="394589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4</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zh-CN" sz="2400" b="1" dirty="0">
                <a:solidFill>
                  <a:srgbClr val="181E33"/>
                </a:solidFill>
                <a:latin typeface="黑体" panose="02010609060101010101" charset="-122"/>
                <a:ea typeface="黑体" panose="02010609060101010101" charset="-122"/>
                <a:cs typeface="黑体" panose="02010609060101010101" charset="-122"/>
              </a:rPr>
              <a:t>党的哪次会议第一次对中国特色社会主义理论进行系统概括，标志着邓小平理论轮廓的形成？</a:t>
            </a:r>
            <a:endParaRPr lang="zh-CN" altLang="en-US" sz="2400" b="1" dirty="0">
              <a:solidFill>
                <a:srgbClr val="181E33"/>
              </a:solidFill>
              <a:latin typeface="黑体" panose="02010609060101010101" charset="-122"/>
              <a:ea typeface="黑体" panose="02010609060101010101" charset="-122"/>
              <a:cs typeface="黑体" panose="02010609060101010101" charset="-122"/>
            </a:endParaRP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党的十二大</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党的十三大</a:t>
            </a:r>
          </a:p>
          <a:p>
            <a:pPr marL="0" indent="0" algn="l" defTabSz="266700">
              <a:lnSpc>
                <a:spcPct val="200000"/>
              </a:lnSpc>
              <a:spcBef>
                <a:spcPct val="0"/>
              </a:spcBef>
              <a:spcAft>
                <a:spcPts val="900"/>
              </a:spcAft>
            </a:pPr>
            <a:r>
              <a:rPr lang="en-US" altLang="zh-CN" sz="2400" b="1" dirty="0">
                <a:solidFill>
                  <a:srgbClr val="000000"/>
                </a:solidFill>
                <a:latin typeface="黑体" panose="02010609060101010101" charset="-122"/>
                <a:ea typeface="黑体" panose="02010609060101010101" charset="-122"/>
                <a:cs typeface="黑体" panose="02010609060101010101" charset="-122"/>
              </a:rPr>
              <a:t>C.</a:t>
            </a:r>
            <a:r>
              <a:rPr lang="zh-CN" altLang="en-US" sz="2400" b="1" dirty="0">
                <a:solidFill>
                  <a:srgbClr val="000000"/>
                </a:solidFill>
                <a:latin typeface="黑体" panose="02010609060101010101" charset="-122"/>
                <a:ea typeface="黑体" panose="02010609060101010101" charset="-122"/>
                <a:cs typeface="黑体" panose="02010609060101010101" charset="-122"/>
              </a:rPr>
              <a:t>党的十四大</a:t>
            </a:r>
            <a:r>
              <a:rPr lang="en-US" altLang="zh-CN" sz="2400" b="1" dirty="0">
                <a:solidFill>
                  <a:srgbClr val="00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党的十五大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2960426"/>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5</a:t>
            </a:r>
            <a:r>
              <a:rPr lang="zh-CN" altLang="en-US" sz="2400" b="1" dirty="0">
                <a:solidFill>
                  <a:srgbClr val="181E33"/>
                </a:solidFill>
                <a:latin typeface="黑体" panose="02010609060101010101" charset="-122"/>
                <a:ea typeface="黑体" panose="02010609060101010101" charset="-122"/>
                <a:cs typeface="黑体" panose="02010609060101010101" charset="-122"/>
              </a:rPr>
              <a:t>、邓小平理论在党的哪次会议上被正式提出，并写入党章成为党的指导思想？</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党的十二大</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党的十三大</a:t>
            </a:r>
            <a:r>
              <a:rPr lang="en-US" altLang="zh-CN" sz="2400" b="1" dirty="0">
                <a:solidFill>
                  <a:srgbClr val="181E33"/>
                </a:solidFill>
                <a:latin typeface="黑体" panose="02010609060101010101" charset="-122"/>
                <a:ea typeface="黑体" panose="02010609060101010101" charset="-122"/>
                <a:cs typeface="黑体" panose="02010609060101010101" charset="-122"/>
              </a:rPr>
              <a:t>   C.</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党的十四大</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D.</a:t>
            </a:r>
            <a:r>
              <a:rPr lang="zh-CN" altLang="en-US" sz="2400" b="1" dirty="0">
                <a:solidFill>
                  <a:srgbClr val="FF0000"/>
                </a:solidFill>
                <a:latin typeface="黑体" panose="02010609060101010101" charset="-122"/>
                <a:ea typeface="黑体" panose="02010609060101010101" charset="-122"/>
                <a:cs typeface="黑体" panose="02010609060101010101" charset="-122"/>
              </a:rPr>
              <a:t>党的十五大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94589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6</a:t>
            </a:r>
            <a:r>
              <a:rPr lang="zh-CN" altLang="en-US" sz="2400" b="1" dirty="0">
                <a:solidFill>
                  <a:srgbClr val="181E33"/>
                </a:solidFill>
                <a:latin typeface="黑体" panose="02010609060101010101" charset="-122"/>
                <a:ea typeface="黑体" panose="02010609060101010101" charset="-122"/>
                <a:cs typeface="黑体" panose="02010609060101010101" charset="-122"/>
              </a:rPr>
              <a:t>、江泽民在哪次会议上全面阐述了</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三个代表</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重要思想的科学内涵和基本内容？</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党的十四大</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庆祝中国共产党成立</a:t>
            </a:r>
            <a:r>
              <a:rPr lang="en-US" altLang="zh-CN" sz="2400" b="1" dirty="0">
                <a:solidFill>
                  <a:srgbClr val="181E33"/>
                </a:solidFill>
                <a:latin typeface="黑体" panose="02010609060101010101" charset="-122"/>
                <a:ea typeface="黑体" panose="02010609060101010101" charset="-122"/>
                <a:cs typeface="黑体" panose="02010609060101010101" charset="-122"/>
              </a:rPr>
              <a:t>70</a:t>
            </a:r>
            <a:r>
              <a:rPr lang="zh-CN" altLang="en-US" sz="2400" b="1" dirty="0">
                <a:solidFill>
                  <a:srgbClr val="181E33"/>
                </a:solidFill>
                <a:latin typeface="黑体" panose="02010609060101010101" charset="-122"/>
                <a:ea typeface="黑体" panose="02010609060101010101" charset="-122"/>
                <a:cs typeface="黑体" panose="02010609060101010101" charset="-122"/>
              </a:rPr>
              <a:t>周年大会</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党的十五大</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D.</a:t>
            </a:r>
            <a:r>
              <a:rPr lang="zh-CN" altLang="en-US" sz="2400" b="1" dirty="0">
                <a:solidFill>
                  <a:srgbClr val="FF0000"/>
                </a:solidFill>
                <a:latin typeface="黑体" panose="02010609060101010101" charset="-122"/>
                <a:ea typeface="黑体" panose="02010609060101010101" charset="-122"/>
                <a:cs typeface="黑体" panose="02010609060101010101" charset="-122"/>
              </a:rPr>
              <a:t>庆祝中国共产党成立</a:t>
            </a:r>
            <a:r>
              <a:rPr lang="en-US" altLang="zh-CN" sz="2400" b="1" dirty="0">
                <a:solidFill>
                  <a:srgbClr val="FF0000"/>
                </a:solidFill>
                <a:latin typeface="黑体" panose="02010609060101010101" charset="-122"/>
                <a:ea typeface="黑体" panose="02010609060101010101" charset="-122"/>
                <a:cs typeface="黑体" panose="02010609060101010101" charset="-122"/>
              </a:rPr>
              <a:t>80</a:t>
            </a:r>
            <a:r>
              <a:rPr lang="zh-CN" altLang="en-US" sz="2400" b="1" dirty="0">
                <a:solidFill>
                  <a:srgbClr val="FF0000"/>
                </a:solidFill>
                <a:latin typeface="黑体" panose="02010609060101010101" charset="-122"/>
                <a:ea typeface="黑体" panose="02010609060101010101" charset="-122"/>
                <a:cs typeface="黑体" panose="02010609060101010101" charset="-122"/>
              </a:rPr>
              <a:t>周年大会</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2960426"/>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7</a:t>
            </a:r>
            <a:r>
              <a:rPr lang="zh-CN" altLang="en-US" sz="2400" b="1" dirty="0">
                <a:solidFill>
                  <a:srgbClr val="181E33"/>
                </a:solidFill>
                <a:latin typeface="黑体" panose="02010609060101010101" charset="-122"/>
                <a:ea typeface="黑体" panose="02010609060101010101" charset="-122"/>
                <a:cs typeface="黑体" panose="02010609060101010101" charset="-122"/>
              </a:rPr>
              <a:t>、在党的哪次会议上，</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三个代表</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重要思想写入党章，成为党的指导思想？</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党的十四大</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党的十五大</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党的十六大</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党的十七大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8</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zh-CN" sz="2400" b="1" dirty="0">
                <a:solidFill>
                  <a:srgbClr val="181E33"/>
                </a:solidFill>
                <a:latin typeface="黑体" panose="02010609060101010101" charset="-122"/>
                <a:ea typeface="黑体" panose="02010609060101010101" charset="-122"/>
                <a:cs typeface="黑体" panose="02010609060101010101" charset="-122"/>
              </a:rPr>
              <a:t>科学发展观形成的重要标志是？</a:t>
            </a:r>
            <a:endParaRPr lang="zh-CN" altLang="en-US" sz="2400" b="1" dirty="0">
              <a:solidFill>
                <a:srgbClr val="181E33"/>
              </a:solidFill>
              <a:latin typeface="黑体" panose="02010609060101010101" charset="-122"/>
              <a:ea typeface="黑体" panose="02010609060101010101" charset="-122"/>
              <a:cs typeface="黑体" panose="02010609060101010101" charset="-122"/>
            </a:endParaRP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党的十六届三中全会</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抗击非典疫情表彰大会</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中央人口资源环境座谈会</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sym typeface="+mn-ea"/>
              </a:rPr>
              <a:t>党的十六届四中全会</a:t>
            </a:r>
            <a:r>
              <a:rPr lang="en-US" altLang="zh-CN" sz="2400" b="1" dirty="0">
                <a:solidFill>
                  <a:srgbClr val="181E33"/>
                </a:solidFill>
                <a:latin typeface="黑体" panose="02010609060101010101" charset="-122"/>
                <a:ea typeface="黑体" panose="02010609060101010101" charset="-122"/>
                <a:cs typeface="黑体" panose="02010609060101010101" charset="-122"/>
                <a:sym typeface="+mn-ea"/>
              </a:rPr>
              <a:t>  </a:t>
            </a:r>
            <a:endParaRPr lang="zh-CN" altLang="en-US" sz="2400" b="1" dirty="0">
              <a:solidFill>
                <a:srgbClr val="181E33"/>
              </a:solidFill>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92992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9</a:t>
            </a:r>
            <a:r>
              <a:rPr lang="zh-CN" altLang="en-US" sz="2400" b="1" dirty="0">
                <a:solidFill>
                  <a:srgbClr val="181E33"/>
                </a:solidFill>
                <a:latin typeface="黑体" panose="02010609060101010101" charset="-122"/>
                <a:ea typeface="黑体" panose="02010609060101010101" charset="-122"/>
                <a:cs typeface="黑体" panose="02010609060101010101" charset="-122"/>
              </a:rPr>
              <a:t>、科学发展观在党的哪次会议写入党章？</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党的十六大</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党的十六届三中全会</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党的十七大</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党的十七届四中全会</a:t>
            </a:r>
            <a:endParaRPr lang="en-US" altLang="zh-CN" sz="2400" b="1" dirty="0">
              <a:solidFill>
                <a:srgbClr val="181E33"/>
              </a:solidFill>
              <a:latin typeface="黑体" panose="02010609060101010101" charset="-122"/>
              <a:ea typeface="黑体" panose="02010609060101010101" charset="-122"/>
              <a:cs typeface="黑体" panose="02010609060101010101" charset="-122"/>
            </a:endParaRPr>
          </a:p>
          <a:p>
            <a:pPr marL="0" indent="0" algn="l" defTabSz="266700">
              <a:lnSpc>
                <a:spcPct val="20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十八大确立为指导思想</a:t>
            </a:r>
            <a:endParaRPr lang="en-US" altLang="zh-CN" sz="2400" b="1" dirty="0">
              <a:solidFill>
                <a:srgbClr val="181E33"/>
              </a:solidFill>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101725"/>
            <a:ext cx="9577705" cy="491553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10</a:t>
            </a:r>
            <a:r>
              <a:rPr lang="zh-CN" altLang="en-US" sz="2400" b="1" dirty="0">
                <a:solidFill>
                  <a:srgbClr val="181E33"/>
                </a:solidFill>
                <a:latin typeface="黑体" panose="02010609060101010101" charset="-122"/>
                <a:ea typeface="黑体" panose="02010609060101010101" charset="-122"/>
                <a:cs typeface="黑体" panose="02010609060101010101" charset="-122"/>
              </a:rPr>
              <a:t>、邓小平理论首要的基本的理论问题是：</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什么是社会主义，怎样建设社会主义？</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什么是共同富裕，怎样实现共同富裕？</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什么是市场经济，怎样发展市场经济？</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什么是改革开放，怎样推进改革开放？</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11</a:t>
            </a:r>
            <a:r>
              <a:rPr lang="zh-CN" altLang="en-US" sz="2400" b="1" dirty="0">
                <a:solidFill>
                  <a:srgbClr val="181E33"/>
                </a:solidFill>
                <a:latin typeface="黑体" panose="02010609060101010101" charset="-122"/>
                <a:ea typeface="黑体" panose="02010609060101010101" charset="-122"/>
                <a:cs typeface="黑体" panose="02010609060101010101" charset="-122"/>
              </a:rPr>
              <a:t>、邓小平理论中的哪个理论为建设中国特色社会主义提供了总依据？</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社会主义市场经济理论</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社会主义初级阶段理论</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改革开放理论</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党的建设理论</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12</a:t>
            </a:r>
            <a:r>
              <a:rPr lang="zh-CN" altLang="en-US" sz="2400" b="1" dirty="0">
                <a:solidFill>
                  <a:srgbClr val="181E33"/>
                </a:solidFill>
                <a:latin typeface="黑体" panose="02010609060101010101" charset="-122"/>
                <a:ea typeface="黑体" panose="02010609060101010101" charset="-122"/>
                <a:cs typeface="黑体" panose="02010609060101010101" charset="-122"/>
              </a:rPr>
              <a:t>、党在社会主义初级阶段实现奋斗目标的根本立足点是？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以经济建设为中心</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自力更生，艰苦奋斗</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坚持改革开放</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坚持四项基本原则</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2960426"/>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13</a:t>
            </a:r>
            <a:r>
              <a:rPr lang="zh-CN" altLang="en-US" sz="2400" b="1" dirty="0">
                <a:solidFill>
                  <a:srgbClr val="181E33"/>
                </a:solidFill>
                <a:latin typeface="黑体" panose="02010609060101010101" charset="-122"/>
                <a:ea typeface="黑体" panose="02010609060101010101" charset="-122"/>
                <a:cs typeface="黑体" panose="02010609060101010101" charset="-122"/>
              </a:rPr>
              <a:t>、邓小平提出的</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小康社会</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思想和</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三步走</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发展战略构想在党的哪次会议上确定下来？</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 </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党的十二大</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党的十三大</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党的十四大</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党的十五大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14</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zh-CN" sz="2400" b="1" dirty="0">
                <a:solidFill>
                  <a:srgbClr val="181E33"/>
                </a:solidFill>
                <a:latin typeface="黑体" panose="02010609060101010101" charset="-122"/>
                <a:ea typeface="黑体" panose="02010609060101010101" charset="-122"/>
                <a:cs typeface="黑体" panose="02010609060101010101" charset="-122"/>
              </a:rPr>
              <a:t>党的哪次会议把实行对外开放作为基本国策？</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 </a:t>
            </a:r>
            <a:r>
              <a:rPr lang="zh-CN" altLang="en-US" sz="2400" b="1" dirty="0">
                <a:solidFill>
                  <a:srgbClr val="181E33"/>
                </a:solidFill>
                <a:latin typeface="黑体" panose="02010609060101010101" charset="-122"/>
                <a:ea typeface="黑体" panose="02010609060101010101" charset="-122"/>
                <a:cs typeface="黑体" panose="02010609060101010101" charset="-122"/>
              </a:rPr>
              <a:t>十一届三中全会</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 </a:t>
            </a:r>
            <a:r>
              <a:rPr lang="zh-CN" altLang="en-US" sz="2400" b="1" dirty="0">
                <a:solidFill>
                  <a:srgbClr val="FF0000"/>
                </a:solidFill>
                <a:latin typeface="黑体" panose="02010609060101010101" charset="-122"/>
                <a:ea typeface="黑体" panose="02010609060101010101" charset="-122"/>
                <a:cs typeface="黑体" panose="02010609060101010101" charset="-122"/>
                <a:sym typeface="+mn-ea"/>
              </a:rPr>
              <a:t>十二届三中全会</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 </a:t>
            </a:r>
            <a:r>
              <a:rPr lang="zh-CN" altLang="en-US" sz="2400" b="1" dirty="0">
                <a:solidFill>
                  <a:srgbClr val="181E33"/>
                </a:solidFill>
                <a:latin typeface="黑体" panose="02010609060101010101" charset="-122"/>
                <a:ea typeface="黑体" panose="02010609060101010101" charset="-122"/>
                <a:cs typeface="黑体" panose="02010609060101010101" charset="-122"/>
                <a:sym typeface="+mn-ea"/>
              </a:rPr>
              <a:t>十三届三中全会</a:t>
            </a:r>
            <a:r>
              <a:rPr lang="en-US" altLang="zh-CN" sz="2400" b="1" dirty="0">
                <a:solidFill>
                  <a:srgbClr val="181E33"/>
                </a:solidFill>
                <a:latin typeface="黑体" panose="02010609060101010101" charset="-122"/>
                <a:ea typeface="黑体" panose="02010609060101010101" charset="-122"/>
                <a:cs typeface="黑体" panose="02010609060101010101" charset="-122"/>
              </a:rPr>
              <a:t>   D. </a:t>
            </a:r>
            <a:r>
              <a:rPr lang="zh-CN" altLang="en-US" sz="2400" b="1" dirty="0">
                <a:solidFill>
                  <a:srgbClr val="181E33"/>
                </a:solidFill>
                <a:latin typeface="黑体" panose="02010609060101010101" charset="-122"/>
                <a:ea typeface="黑体" panose="02010609060101010101" charset="-122"/>
                <a:cs typeface="黑体" panose="02010609060101010101" charset="-122"/>
                <a:sym typeface="+mn-ea"/>
              </a:rPr>
              <a:t>十四届三中全会</a:t>
            </a:r>
            <a:endParaRPr lang="zh-CN" altLang="en-US" sz="2400" b="1" dirty="0">
              <a:solidFill>
                <a:srgbClr val="181E33"/>
              </a:solidFill>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16465" cy="235331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15</a:t>
            </a:r>
            <a:r>
              <a:rPr lang="zh-CN" altLang="en-US" sz="2400" b="1" dirty="0">
                <a:solidFill>
                  <a:srgbClr val="181E33"/>
                </a:solidFill>
                <a:latin typeface="黑体" panose="02010609060101010101" charset="-122"/>
                <a:ea typeface="黑体" panose="02010609060101010101" charset="-122"/>
                <a:cs typeface="黑体" panose="02010609060101010101" charset="-122"/>
              </a:rPr>
              <a:t>、以下对改革开放表述正确的是：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中共五大</a:t>
            </a:r>
            <a:r>
              <a:rPr lang="en-US" altLang="zh-CN" sz="2400" b="1" dirty="0">
                <a:solidFill>
                  <a:srgbClr val="181E33"/>
                </a:solidFill>
                <a:latin typeface="黑体" panose="02010609060101010101" charset="-122"/>
                <a:ea typeface="黑体" panose="02010609060101010101" charset="-122"/>
                <a:cs typeface="黑体" panose="02010609060101010101" charset="-122"/>
              </a:rPr>
              <a:t> B. </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中共六大</a:t>
            </a:r>
            <a:r>
              <a:rPr lang="en-US" altLang="zh-CN" sz="2400" b="1" dirty="0">
                <a:solidFill>
                  <a:srgbClr val="181E33"/>
                </a:solidFill>
                <a:latin typeface="黑体" panose="02010609060101010101" charset="-122"/>
                <a:ea typeface="黑体" panose="02010609060101010101" charset="-122"/>
                <a:cs typeface="黑体" panose="02010609060101010101" charset="-122"/>
              </a:rPr>
              <a:t>  C.</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中共六届六中全会</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中共六届七中全会</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16</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sz="2400" b="1" dirty="0">
                <a:solidFill>
                  <a:srgbClr val="181E33"/>
                </a:solidFill>
                <a:latin typeface="黑体" panose="02010609060101010101" charset="-122"/>
                <a:ea typeface="黑体" panose="02010609060101010101" charset="-122"/>
                <a:cs typeface="黑体" panose="02010609060101010101" charset="-122"/>
              </a:rPr>
              <a:t>和平与发展是当今世界的两大主题</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是在党的哪次会议上提出？</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党的十一届三中全会</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党的十二大</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党的十二届三中全会</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D.</a:t>
            </a:r>
            <a:r>
              <a:rPr lang="zh-CN" altLang="en-US" sz="2400" b="1" dirty="0">
                <a:solidFill>
                  <a:srgbClr val="FF0000"/>
                </a:solidFill>
                <a:latin typeface="黑体" panose="02010609060101010101" charset="-122"/>
                <a:ea typeface="黑体" panose="02010609060101010101" charset="-122"/>
                <a:cs typeface="黑体" panose="02010609060101010101" charset="-122"/>
              </a:rPr>
              <a:t>党的十三大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17</a:t>
            </a:r>
            <a:r>
              <a:rPr lang="zh-CN" altLang="en-US" sz="2400" b="1" dirty="0">
                <a:solidFill>
                  <a:srgbClr val="181E33"/>
                </a:solidFill>
                <a:latin typeface="黑体" panose="02010609060101010101" charset="-122"/>
                <a:ea typeface="黑体" panose="02010609060101010101" charset="-122"/>
                <a:cs typeface="黑体" panose="02010609060101010101" charset="-122"/>
              </a:rPr>
              <a:t>、发展先进文化的重要内容和中心环节是：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弘扬民族精神</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加强社会主义思想道德建设</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做好思想政治工作</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繁荣哲学社会科学</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09040" y="1225550"/>
            <a:ext cx="10359390"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18</a:t>
            </a:r>
            <a:r>
              <a:rPr lang="zh-CN" altLang="en-US" sz="2400" b="1" dirty="0">
                <a:solidFill>
                  <a:srgbClr val="181E33"/>
                </a:solidFill>
                <a:latin typeface="黑体" panose="02010609060101010101" charset="-122"/>
                <a:ea typeface="黑体" panose="02010609060101010101" charset="-122"/>
                <a:cs typeface="黑体" panose="02010609060101010101" charset="-122"/>
              </a:rPr>
              <a:t>、科学发展观的第一要义是：</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推动经济社会发展</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坚持改革开放</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实现可持续发展</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实现高质量发展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222176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19</a:t>
            </a:r>
            <a:r>
              <a:rPr lang="zh-CN" altLang="en-US" sz="2400" b="1" dirty="0">
                <a:solidFill>
                  <a:srgbClr val="181E33"/>
                </a:solidFill>
                <a:latin typeface="黑体" panose="02010609060101010101" charset="-122"/>
                <a:ea typeface="黑体" panose="02010609060101010101" charset="-122"/>
                <a:cs typeface="黑体" panose="02010609060101010101" charset="-122"/>
              </a:rPr>
              <a:t>、科学发展观的核心立场是？</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以人为本</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以民为本</a:t>
            </a:r>
            <a:r>
              <a:rPr lang="en-US" altLang="zh-CN" sz="2400" b="1" dirty="0">
                <a:solidFill>
                  <a:srgbClr val="181E33"/>
                </a:solidFill>
                <a:latin typeface="黑体" panose="02010609060101010101" charset="-122"/>
                <a:ea typeface="黑体" panose="02010609060101010101" charset="-122"/>
                <a:cs typeface="黑体" panose="02010609060101010101" charset="-122"/>
              </a:rPr>
              <a:t>  C.</a:t>
            </a:r>
            <a:r>
              <a:rPr lang="zh-CN" altLang="en-US" sz="2400" b="1" dirty="0">
                <a:solidFill>
                  <a:srgbClr val="181E33"/>
                </a:solidFill>
                <a:latin typeface="黑体" panose="02010609060101010101" charset="-122"/>
                <a:ea typeface="黑体" panose="02010609060101010101" charset="-122"/>
                <a:cs typeface="黑体" panose="02010609060101010101" charset="-122"/>
              </a:rPr>
              <a:t>人本主义</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以利为本</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222176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20</a:t>
            </a:r>
            <a:r>
              <a:rPr lang="zh-CN" altLang="en-US" sz="2400" b="1" dirty="0">
                <a:solidFill>
                  <a:srgbClr val="181E33"/>
                </a:solidFill>
                <a:latin typeface="黑体" panose="02010609060101010101" charset="-122"/>
                <a:ea typeface="黑体" panose="02010609060101010101" charset="-122"/>
                <a:cs typeface="黑体" panose="02010609060101010101" charset="-122"/>
              </a:rPr>
              <a:t>、科学发展观的基本要求是：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sym typeface="+mn-ea"/>
              </a:rPr>
              <a:t>绿色</a:t>
            </a:r>
            <a:r>
              <a:rPr lang="zh-CN" altLang="en-US" sz="2400" b="1" dirty="0">
                <a:solidFill>
                  <a:srgbClr val="181E33"/>
                </a:solidFill>
                <a:latin typeface="黑体" panose="02010609060101010101" charset="-122"/>
                <a:ea typeface="黑体" panose="02010609060101010101" charset="-122"/>
                <a:cs typeface="黑体" panose="02010609060101010101" charset="-122"/>
              </a:rPr>
              <a:t>低碳</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sz="2400" b="1" dirty="0">
                <a:solidFill>
                  <a:srgbClr val="FF0000"/>
                </a:solidFill>
                <a:latin typeface="黑体" panose="02010609060101010101" charset="-122"/>
                <a:ea typeface="黑体" panose="02010609060101010101" charset="-122"/>
                <a:cs typeface="黑体" panose="02010609060101010101" charset="-122"/>
              </a:rPr>
              <a:t>全面协调可持续</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跨越式发展</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统筹兼顾</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1898597"/>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a:t>
            </a:r>
            <a:r>
              <a:rPr lang="zh-CN" altLang="en-US" sz="2400" b="1" dirty="0">
                <a:solidFill>
                  <a:srgbClr val="181E33"/>
                </a:solidFill>
                <a:latin typeface="黑体" panose="02010609060101010101" charset="-122"/>
                <a:ea typeface="黑体" panose="02010609060101010101" charset="-122"/>
                <a:cs typeface="黑体" panose="02010609060101010101" charset="-122"/>
              </a:rPr>
              <a:t>、邓小平理论的精髓是：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解放思想</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实事求是</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与时俱进</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求真务实</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sym typeface="+mn-ea"/>
              </a:rPr>
              <a:t>以下对改革开放表述正确的是：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当代中国的鲜明标志和活力源泉</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决定中国命运的关键一招</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实现中华民族伟大复兴的关键一招</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开启了党独立自主解决中国革命实际问题的新阶段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3</a:t>
            </a:r>
            <a:r>
              <a:rPr lang="zh-CN" altLang="en-US" sz="2400" b="1" dirty="0">
                <a:solidFill>
                  <a:srgbClr val="181E33"/>
                </a:solidFill>
                <a:latin typeface="黑体" panose="02010609060101010101" charset="-122"/>
                <a:ea typeface="黑体" panose="02010609060101010101" charset="-122"/>
                <a:cs typeface="黑体" panose="02010609060101010101" charset="-122"/>
              </a:rPr>
              <a:t>、社会主义市场经济理论具有哪些内涵？</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计划经济和市场经济不是划分社会制度的标志</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计划和市场都是经济手段</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市场经济不具有制度属性</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计划和市场是区别姓资姓社的标准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4</a:t>
            </a:r>
            <a:r>
              <a:rPr lang="zh-CN" altLang="en-US" sz="2400" b="1" dirty="0">
                <a:solidFill>
                  <a:srgbClr val="181E33"/>
                </a:solidFill>
                <a:latin typeface="黑体" panose="02010609060101010101" charset="-122"/>
                <a:ea typeface="黑体" panose="02010609060101010101" charset="-122"/>
                <a:cs typeface="黑体" panose="02010609060101010101" charset="-122"/>
              </a:rPr>
              <a:t>、邓小平的</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两手抓，两手都要硬</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的内涵是：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一手抓物质文明，一手抓精神文明</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一手抓建设，一手抓法制</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一手抓改革开放，一手抓惩治腐败</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一手抓经济建设，一手抓生态文明</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265366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5</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一国两制</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包含丰富的内涵：</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坚持一个中国</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确保两制并存</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实现高度自治</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追求和平统一</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02260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6</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sym typeface="+mn-ea"/>
              </a:rPr>
              <a:t>以下属于台独分裂言论的是：</a:t>
            </a:r>
            <a:endParaRPr lang="zh-CN" altLang="en-US" sz="2400" b="1" dirty="0">
              <a:solidFill>
                <a:srgbClr val="181E33"/>
              </a:solidFill>
              <a:latin typeface="黑体" panose="02010609060101010101" charset="-122"/>
              <a:ea typeface="黑体" panose="02010609060101010101" charset="-122"/>
              <a:cs typeface="黑体" panose="02010609060101010101" charset="-122"/>
            </a:endParaRP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sym typeface="+mn-ea"/>
              </a:rPr>
              <a:t>A.</a:t>
            </a:r>
            <a:r>
              <a:rPr lang="zh-CN" altLang="en-US" sz="2400" b="1" dirty="0">
                <a:solidFill>
                  <a:srgbClr val="FF0000"/>
                </a:solidFill>
                <a:latin typeface="黑体" panose="02010609060101010101" charset="-122"/>
                <a:ea typeface="黑体" panose="02010609060101010101" charset="-122"/>
                <a:cs typeface="黑体" panose="02010609060101010101" charset="-122"/>
                <a:sym typeface="+mn-ea"/>
              </a:rPr>
              <a:t>一中一台</a:t>
            </a:r>
            <a:r>
              <a:rPr lang="en-US" altLang="zh-CN" sz="2400" b="1" dirty="0">
                <a:solidFill>
                  <a:srgbClr val="FF0000"/>
                </a:solidFill>
                <a:latin typeface="黑体" panose="02010609060101010101" charset="-122"/>
                <a:ea typeface="黑体" panose="02010609060101010101" charset="-122"/>
                <a:cs typeface="黑体" panose="02010609060101010101" charset="-122"/>
                <a:sym typeface="+mn-ea"/>
              </a:rPr>
              <a:t>     B.</a:t>
            </a:r>
            <a:r>
              <a:rPr lang="zh-CN" altLang="en-US" sz="2400" b="1" dirty="0">
                <a:solidFill>
                  <a:srgbClr val="FF0000"/>
                </a:solidFill>
                <a:latin typeface="黑体" panose="02010609060101010101" charset="-122"/>
                <a:ea typeface="黑体" panose="02010609060101010101" charset="-122"/>
                <a:cs typeface="黑体" panose="02010609060101010101" charset="-122"/>
                <a:sym typeface="+mn-ea"/>
              </a:rPr>
              <a:t>一国两府</a:t>
            </a:r>
            <a:r>
              <a:rPr lang="en-US" altLang="zh-CN" sz="2400" b="1" dirty="0">
                <a:solidFill>
                  <a:srgbClr val="FF0000"/>
                </a:solidFill>
                <a:latin typeface="黑体" panose="02010609060101010101" charset="-122"/>
                <a:ea typeface="黑体" panose="02010609060101010101" charset="-122"/>
                <a:cs typeface="黑体" panose="02010609060101010101" charset="-122"/>
                <a:sym typeface="+mn-ea"/>
              </a:rPr>
              <a:t>     C.</a:t>
            </a:r>
            <a:r>
              <a:rPr lang="zh-CN" altLang="en-US" sz="2400" b="1" dirty="0">
                <a:solidFill>
                  <a:srgbClr val="FF0000"/>
                </a:solidFill>
                <a:latin typeface="黑体" panose="02010609060101010101" charset="-122"/>
                <a:ea typeface="黑体" panose="02010609060101010101" charset="-122"/>
                <a:cs typeface="黑体" panose="02010609060101010101" charset="-122"/>
                <a:sym typeface="+mn-ea"/>
              </a:rPr>
              <a:t>两个中国</a:t>
            </a:r>
            <a:r>
              <a:rPr lang="en-US" altLang="zh-CN" sz="2400" b="1" dirty="0">
                <a:solidFill>
                  <a:srgbClr val="FF0000"/>
                </a:solidFill>
                <a:latin typeface="黑体" panose="02010609060101010101" charset="-122"/>
                <a:ea typeface="黑体" panose="02010609060101010101" charset="-122"/>
                <a:cs typeface="黑体" panose="02010609060101010101" charset="-122"/>
                <a:sym typeface="+mn-ea"/>
              </a:rPr>
              <a:t>     D.</a:t>
            </a:r>
            <a:r>
              <a:rPr lang="zh-CN" altLang="en-US" sz="2400" b="1" dirty="0">
                <a:solidFill>
                  <a:srgbClr val="FF0000"/>
                </a:solidFill>
                <a:latin typeface="黑体" panose="02010609060101010101" charset="-122"/>
                <a:ea typeface="黑体" panose="02010609060101010101" charset="-122"/>
                <a:cs typeface="黑体" panose="02010609060101010101" charset="-122"/>
                <a:sym typeface="+mn-ea"/>
              </a:rPr>
              <a:t>互不隶属</a:t>
            </a:r>
            <a:endParaRPr lang="zh-CN" altLang="en-US" sz="2400" b="1" dirty="0">
              <a:solidFill>
                <a:srgbClr val="FF0000"/>
              </a:solidFill>
              <a:latin typeface="黑体" panose="02010609060101010101" charset="-122"/>
              <a:ea typeface="黑体" panose="02010609060101010101" charset="-122"/>
              <a:cs typeface="黑体" panose="02010609060101010101" charset="-122"/>
            </a:endParaRPr>
          </a:p>
          <a:p>
            <a:pPr marL="0" indent="0" algn="l" defTabSz="266700">
              <a:lnSpc>
                <a:spcPct val="150000"/>
              </a:lnSpc>
              <a:spcBef>
                <a:spcPct val="0"/>
              </a:spcBef>
              <a:spcAft>
                <a:spcPts val="900"/>
              </a:spcAft>
            </a:pPr>
            <a:endParaRPr lang="zh-CN" altLang="en-US" sz="2400" b="1" dirty="0">
              <a:solidFill>
                <a:srgbClr val="181E33"/>
              </a:solidFill>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1898597"/>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7</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、中国共产党与各国共产党和其他政党处理彼此之间关系的原则是：</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独立自主</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完全平等</a:t>
            </a:r>
            <a:r>
              <a:rPr lang="en-US" altLang="zh-CN" sz="2400" b="1" dirty="0">
                <a:solidFill>
                  <a:srgbClr val="FF0000"/>
                </a:solidFill>
                <a:latin typeface="黑体" panose="02010609060101010101" charset="-122"/>
                <a:ea typeface="黑体" panose="02010609060101010101" charset="-122"/>
                <a:cs typeface="黑体" panose="02010609060101010101" charset="-122"/>
              </a:rPr>
              <a:t>    C.</a:t>
            </a:r>
            <a:r>
              <a:rPr lang="zh-CN" altLang="en-US" sz="2400" b="1" dirty="0">
                <a:solidFill>
                  <a:srgbClr val="FF0000"/>
                </a:solidFill>
                <a:latin typeface="黑体" panose="02010609060101010101" charset="-122"/>
                <a:ea typeface="黑体" panose="02010609060101010101" charset="-122"/>
                <a:cs typeface="黑体" panose="02010609060101010101" charset="-122"/>
              </a:rPr>
              <a:t>互相尊重</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互不干涉内部事务</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253809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8</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zh-CN" sz="2400" b="1" dirty="0">
                <a:solidFill>
                  <a:srgbClr val="181E33"/>
                </a:solidFill>
                <a:latin typeface="黑体" panose="02010609060101010101" charset="-122"/>
                <a:ea typeface="黑体" panose="02010609060101010101" charset="-122"/>
                <a:cs typeface="黑体" panose="02010609060101010101" charset="-122"/>
              </a:rPr>
              <a:t>加强领导班子建设是保证党的路线连续性和国家长治久安的根本方针，因此，邓小平提出干部队伍的</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四化</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原则，分别是：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革命化</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年轻化</a:t>
            </a:r>
            <a:r>
              <a:rPr lang="en-US" altLang="zh-CN" sz="2400" b="1" dirty="0">
                <a:solidFill>
                  <a:srgbClr val="FF0000"/>
                </a:solidFill>
                <a:latin typeface="黑体" panose="02010609060101010101" charset="-122"/>
                <a:ea typeface="黑体" panose="02010609060101010101" charset="-122"/>
                <a:cs typeface="黑体" panose="02010609060101010101" charset="-122"/>
              </a:rPr>
              <a:t>  C.</a:t>
            </a:r>
            <a:r>
              <a:rPr lang="zh-CN" altLang="en-US" sz="2400" b="1" dirty="0">
                <a:solidFill>
                  <a:srgbClr val="FF0000"/>
                </a:solidFill>
                <a:latin typeface="黑体" panose="02010609060101010101" charset="-122"/>
                <a:ea typeface="黑体" panose="02010609060101010101" charset="-122"/>
                <a:cs typeface="黑体" panose="02010609060101010101" charset="-122"/>
              </a:rPr>
              <a:t>知识化</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专业化</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9</a:t>
            </a:r>
            <a:r>
              <a:rPr lang="zh-CN" altLang="en-US" sz="2400" b="1" dirty="0">
                <a:solidFill>
                  <a:srgbClr val="181E33"/>
                </a:solidFill>
                <a:latin typeface="黑体" panose="02010609060101010101" charset="-122"/>
                <a:ea typeface="黑体" panose="02010609060101010101" charset="-122"/>
                <a:cs typeface="黑体" panose="02010609060101010101" charset="-122"/>
              </a:rPr>
              <a:t>、坚持科学发展观，必须做到以下哪些方面？</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加快转变经济发展方式</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推动科学技术跨越式发展</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培养高素质创新型人才</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D.</a:t>
            </a:r>
            <a:r>
              <a:rPr lang="zh-CN" altLang="en-US" sz="2400" b="1" dirty="0">
                <a:solidFill>
                  <a:srgbClr val="FF0000"/>
                </a:solidFill>
                <a:latin typeface="黑体" panose="02010609060101010101" charset="-122"/>
                <a:ea typeface="黑体" panose="02010609060101010101" charset="-122"/>
                <a:cs typeface="黑体" panose="02010609060101010101" charset="-122"/>
              </a:rPr>
              <a:t>善于抓住和用好机遇</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10</a:t>
            </a:r>
            <a:r>
              <a:rPr lang="zh-CN" altLang="en-US" sz="2400" b="1" dirty="0">
                <a:solidFill>
                  <a:srgbClr val="181E33"/>
                </a:solidFill>
                <a:latin typeface="黑体" panose="02010609060101010101" charset="-122"/>
                <a:ea typeface="黑体" panose="02010609060101010101" charset="-122"/>
                <a:cs typeface="黑体" panose="02010609060101010101" charset="-122"/>
              </a:rPr>
              <a:t>、坚持科学发展观，就要做到以人为本，以下表述正确的是：</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zh-CN" altLang="en-US" sz="2400" b="1" dirty="0">
                <a:solidFill>
                  <a:srgbClr val="FF0000"/>
                </a:solidFill>
                <a:latin typeface="黑体" panose="02010609060101010101" charset="-122"/>
                <a:ea typeface="黑体" panose="02010609060101010101" charset="-122"/>
                <a:cs typeface="黑体" panose="02010609060101010101" charset="-122"/>
              </a:rPr>
              <a:t>坚持发展为了人民</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 </a:t>
            </a:r>
            <a:r>
              <a:rPr lang="zh-CN" altLang="en-US" sz="2400" b="1" dirty="0">
                <a:solidFill>
                  <a:srgbClr val="FF0000"/>
                </a:solidFill>
                <a:latin typeface="黑体" panose="02010609060101010101" charset="-122"/>
                <a:ea typeface="黑体" panose="02010609060101010101" charset="-122"/>
                <a:cs typeface="黑体" panose="02010609060101010101" charset="-122"/>
              </a:rPr>
              <a:t>坚持发展依靠人民</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 </a:t>
            </a:r>
            <a:r>
              <a:rPr lang="zh-CN" altLang="en-US" sz="2400" b="1" dirty="0">
                <a:solidFill>
                  <a:srgbClr val="FF0000"/>
                </a:solidFill>
                <a:latin typeface="黑体" panose="02010609060101010101" charset="-122"/>
                <a:ea typeface="黑体" panose="02010609060101010101" charset="-122"/>
                <a:cs typeface="黑体" panose="02010609060101010101" charset="-122"/>
              </a:rPr>
              <a:t>坚持发展成果由人民共享</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D. </a:t>
            </a:r>
            <a:r>
              <a:rPr lang="zh-CN" altLang="en-US" sz="2400" b="1" dirty="0">
                <a:solidFill>
                  <a:srgbClr val="FF0000"/>
                </a:solidFill>
                <a:latin typeface="黑体" panose="02010609060101010101" charset="-122"/>
                <a:ea typeface="黑体" panose="02010609060101010101" charset="-122"/>
                <a:cs typeface="黑体" panose="02010609060101010101" charset="-122"/>
              </a:rPr>
              <a:t>最终实现人的全面发展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218a92a6-e8ca-4fcf-aa90-d55c3872ab3f"/>
  <p:tag name="COMMONDATA" val="eyJoZGlkIjoiZGVmNTRkY2FiZTJlMzBjNDdiNTdlY2FkMDllMmQ4Zj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00000">
              <a:schemeClr val="bg1"/>
            </a:gs>
            <a:gs pos="0">
              <a:schemeClr val="bg1">
                <a:alpha val="68000"/>
              </a:schemeClr>
            </a:gs>
            <a:gs pos="44000">
              <a:schemeClr val="bg1">
                <a:alpha val="59000"/>
              </a:schemeClr>
            </a:gs>
          </a:gsLst>
          <a:lin ang="0" scaled="1"/>
          <a:tileRect/>
        </a:gradFill>
        <a:ln>
          <a:noFill/>
        </a:ln>
      </a:spPr>
      <a:bodyPr rtlCol="0" anchor="ctr"/>
      <a:lstStyle>
        <a:defPPr marL="0" marR="0" indent="0" algn="ctr" defTabSz="914400" rtl="0" eaLnBrk="1" fontAlgn="auto" latinLnBrk="0" hangingPunct="1">
          <a:lnSpc>
            <a:spcPct val="100000"/>
          </a:lnSpc>
          <a:spcBef>
            <a:spcPts val="0"/>
          </a:spcBef>
          <a:spcAft>
            <a:spcPts val="0"/>
          </a:spcAft>
          <a:buClrTx/>
          <a:buSzTx/>
          <a:buFontTx/>
          <a:buNone/>
          <a:defRPr kumimoji="0"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1375</Words>
  <Application>Microsoft Office PowerPoint</Application>
  <PresentationFormat>宽屏</PresentationFormat>
  <Paragraphs>158</Paragraphs>
  <Slides>31</Slides>
  <Notes>31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31</vt:i4>
      </vt:variant>
    </vt:vector>
  </HeadingPairs>
  <TitlesOfParts>
    <vt:vector size="38" baseType="lpstr">
      <vt:lpstr>等线</vt:lpstr>
      <vt:lpstr>黑体</vt:lpstr>
      <vt:lpstr>华文中宋</vt:lpstr>
      <vt:lpstr>微软雅黑</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SZH</cp:lastModifiedBy>
  <cp:revision>27</cp:revision>
  <dcterms:created xsi:type="dcterms:W3CDTF">2022-06-02T04:34:00Z</dcterms:created>
  <dcterms:modified xsi:type="dcterms:W3CDTF">2026-07-07T04:32:26Z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B94CE579270542E7B721C8F1C22F53F0</vt:lpwstr>
  </property>
  <property fmtid="{D5CDD505-2E9C-101B-9397-08002B2CF9AE}" pid="3" name="KSOProductBuildVer">
    <vt:lpwstr>2052-12.1.0.21541</vt:lpwstr>
  </property>
  <property fmtid="{D5CDD505-2E9C-101B-9397-08002B2CF9AE}" pid="4" name="MSIP_Label_defa4170-0d19-0005-0004-bc88714345d2_Enabled">
    <vt:lpwstr>true</vt:lpwstr>
  </property>
  <property fmtid="{D5CDD505-2E9C-101B-9397-08002B2CF9AE}" pid="5" name="MSIP_Label_defa4170-0d19-0005-0004-bc88714345d2_SetDate">
    <vt:lpwstr>2026-07-07T04:28:28Z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bfb1d8fb-4685-458f-a7bd-dab3783a40a9</vt:lpwstr>
  </property>
  <property fmtid="{D5CDD505-2E9C-101B-9397-08002B2CF9AE}" pid="9" name="MSIP_Label_defa4170-0d19-0005-0004-bc88714345d2_ActionId">
    <vt:lpwstr>7d8eb2ca-eda1-4cae-b28a-72d80d758d98</vt:lpwstr>
  </property>
  <property fmtid="{D5CDD505-2E9C-101B-9397-08002B2CF9AE}" pid="10" name="MSIP_Label_defa4170-0d19-0005-0004-bc88714345d2_ContentBits">
    <vt:lpwstr>0</vt:lpwstr>
  </property>
  <property fmtid="{D5CDD505-2E9C-101B-9397-08002B2CF9AE}" pid="11" name="MSIP_Label_defa4170-0d19-0005-0004-bc88714345d2_Tag">
    <vt:lpwstr>10, 3, 0, 1</vt:lpwstr>
  </property>
</Properties>
</file>