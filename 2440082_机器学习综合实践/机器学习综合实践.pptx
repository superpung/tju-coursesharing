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3"/>
  </p:notesMasterIdLst>
  <p:handoutMasterIdLst>
    <p:handoutMasterId r:id="rId14"/>
  </p:handoutMasterIdLst>
  <p:sldIdLst>
    <p:sldId id="327" r:id="rId4"/>
    <p:sldId id="1391" r:id="rId5"/>
    <p:sldId id="1689" r:id="rId6"/>
    <p:sldId id="1690" r:id="rId7"/>
    <p:sldId id="1693" r:id="rId8"/>
    <p:sldId id="1696" r:id="rId9"/>
    <p:sldId id="1694" r:id="rId10"/>
    <p:sldId id="1697" r:id="rId11"/>
    <p:sldId id="485" r:id="rId12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2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362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6"/>
    <p:restoredTop sz="71445" autoAdjust="0"/>
  </p:normalViewPr>
  <p:slideViewPr>
    <p:cSldViewPr showGuides="1">
      <p:cViewPr varScale="1">
        <p:scale>
          <a:sx n="81" d="100"/>
          <a:sy n="81" d="100"/>
        </p:scale>
        <p:origin x="138" y="90"/>
      </p:cViewPr>
      <p:guideLst>
        <p:guide orient="horz" pos="2089"/>
        <p:guide pos="27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EAD72C-437F-45B2-8866-618DD31A619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1028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36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58CA6E-CFDC-452F-B302-E0E92DC1E9E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031"/>
          <p:cNvSpPr/>
          <p:nvPr/>
        </p:nvSpPr>
        <p:spPr>
          <a:xfrm>
            <a:off x="711200" y="228600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B0F0">
              <a:alpha val="100000"/>
            </a:srgbClr>
          </a:solidFill>
          <a:ln w="9525" cap="flat" cmpd="sng">
            <a:solidFill>
              <a:srgbClr val="00B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5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800600"/>
            <a:ext cx="9144000" cy="208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20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ja-JP" altLang="en-US" noProof="1"/>
              <a:t>マスタ タイトルの書式設定</a:t>
            </a:r>
            <a:endParaRPr lang="ja-JP" altLang="en-US" noProof="1"/>
          </a:p>
        </p:txBody>
      </p:sp>
      <p:sp>
        <p:nvSpPr>
          <p:cNvPr id="111621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ja-JP" altLang="en-US" noProof="1"/>
              <a:t>マスタ サブタイトルの書式設定</a:t>
            </a:r>
            <a:endParaRPr lang="ja-JP" altLang="en-US" noProof="1"/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B94872-BF47-4EDA-923F-B71462EAADAB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14" y="59712"/>
            <a:ext cx="2069138" cy="633051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0C0"/>
              </a:buClr>
              <a:defRPr/>
            </a:lvl1pPr>
            <a:lvl2pPr>
              <a:buClr>
                <a:srgbClr val="0070C0"/>
              </a:buClr>
              <a:defRPr/>
            </a:lvl2pPr>
            <a:lvl3pPr>
              <a:buClr>
                <a:srgbClr val="0070C0"/>
              </a:buClr>
              <a:defRPr/>
            </a:lvl3pPr>
            <a:lvl4pPr>
              <a:buClr>
                <a:srgbClr val="0070C0"/>
              </a:buClr>
              <a:defRPr/>
            </a:lvl4pPr>
            <a:lvl5pPr>
              <a:buClr>
                <a:srgbClr val="0070C0"/>
              </a:buClr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66"/>
          <a:stretch>
            <a:fillRect/>
          </a:stretch>
        </p:blipFill>
        <p:spPr>
          <a:xfrm>
            <a:off x="6797996" y="35210"/>
            <a:ext cx="2362258" cy="9144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="b"/>
          <a:lstStyle>
            <a:lvl1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1765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单击此处编辑母版标题样式</a:t>
            </a:r>
            <a:endParaRPr kumimoji="0" lang="zh-CN" altLang="en-US" sz="3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295B2D-7655-401D-8D2E-AF7B4CFCBD21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66"/>
          <a:stretch>
            <a:fillRect/>
          </a:stretch>
        </p:blipFill>
        <p:spPr>
          <a:xfrm>
            <a:off x="6797996" y="35210"/>
            <a:ext cx="2362258" cy="9144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66"/>
          <a:stretch>
            <a:fillRect/>
          </a:stretch>
        </p:blipFill>
        <p:spPr>
          <a:xfrm>
            <a:off x="6797996" y="35210"/>
            <a:ext cx="2362258" cy="9144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8458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00500"/>
            <a:ext cx="8458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1F15E9-86AE-4C11-B84D-1550FA5D32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031"/>
          <p:cNvSpPr/>
          <p:nvPr/>
        </p:nvSpPr>
        <p:spPr>
          <a:xfrm>
            <a:off x="711200" y="228600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B0F0">
              <a:alpha val="100000"/>
            </a:srgbClr>
          </a:solidFill>
          <a:ln w="9525" cap="flat" cmpd="sng">
            <a:solidFill>
              <a:srgbClr val="00B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5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800600"/>
            <a:ext cx="9144000" cy="208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20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ja-JP" altLang="en-US" noProof="1"/>
              <a:t>マスタ タイトルの書式設定</a:t>
            </a:r>
            <a:endParaRPr lang="ja-JP" altLang="en-US" noProof="1"/>
          </a:p>
        </p:txBody>
      </p:sp>
      <p:sp>
        <p:nvSpPr>
          <p:cNvPr id="111621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ja-JP" altLang="en-US" noProof="1"/>
              <a:t>マスタ サブタイトルの書式設定</a:t>
            </a:r>
            <a:endParaRPr lang="ja-JP" altLang="en-US" noProof="1"/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B94872-BF47-4EDA-923F-B71462EAADAB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0C0"/>
              </a:buClr>
              <a:defRPr/>
            </a:lvl1pPr>
            <a:lvl2pPr>
              <a:buClr>
                <a:srgbClr val="0070C0"/>
              </a:buClr>
              <a:defRPr/>
            </a:lvl2pPr>
            <a:lvl3pPr>
              <a:buClr>
                <a:srgbClr val="0070C0"/>
              </a:buClr>
              <a:defRPr/>
            </a:lvl3pPr>
            <a:lvl4pPr>
              <a:buClr>
                <a:srgbClr val="0070C0"/>
              </a:buClr>
              <a:defRPr/>
            </a:lvl4pPr>
            <a:lvl5pPr>
              <a:buClr>
                <a:srgbClr val="0070C0"/>
              </a:buClr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="b"/>
          <a:lstStyle>
            <a:lvl1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1765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单击此处编辑母版标题样式</a:t>
            </a:r>
            <a:endParaRPr kumimoji="0" lang="zh-CN" altLang="en-US" sz="3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295B2D-7655-401D-8D2E-AF7B4CFCBD21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, and 2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9D96DB-8B41-4788-B763-7254921117F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zoom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zoom/>
  </p:transition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>
    <p:random/>
  </p:transition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dirty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7A883F-B95D-47CD-AD9C-5C6F9B4651B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zoom/>
  </p:transition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an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572000" y="1295400"/>
            <a:ext cx="41148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dirty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E2D65-6813-4678-A197-BF0B91DFAC6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zoom/>
  </p:transition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dirty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70DDBA-47BA-45CC-98E8-796705C1648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zoom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txBody>
          <a:bodyPr anchor="b"/>
          <a:lstStyle/>
          <a:p>
            <a:pPr lvl="0"/>
            <a:r>
              <a:rPr lang="ja-JP" altLang="en-US" dirty="0"/>
              <a:t>マスタ タイトルの書式設定</a:t>
            </a:r>
            <a:endParaRPr lang="ja-JP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250825" y="908050"/>
            <a:ext cx="8642350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 テキストの書式設定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r>
              <a:rPr lang="ja-JP" altLang="zh-CN" dirty="0"/>
              <a:t>：</a:t>
            </a:r>
            <a:endParaRPr lang="ja-JP" altLang="en-US" dirty="0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>
                <a:solidFill>
                  <a:srgbClr val="A5002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>
    <p:random/>
  </p:transition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4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folHlink"/>
          </a:solidFill>
          <a:latin typeface="+mn-lt"/>
          <a:ea typeface="+mn-ea"/>
        </a:defRPr>
      </a:lvl2pPr>
      <a:lvl3pPr marL="1304925" indent="-39560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rgbClr val="009900"/>
          </a:solidFill>
          <a:latin typeface="+mn-lt"/>
          <a:ea typeface="+mn-ea"/>
        </a:defRPr>
      </a:lvl3pPr>
      <a:lvl4pPr marL="1694180" indent="-387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rgbClr val="0099CC"/>
          </a:solidFill>
          <a:latin typeface="+mn-lt"/>
          <a:ea typeface="+mn-ea"/>
        </a:defRPr>
      </a:lvl4pPr>
      <a:lvl5pPr marL="2094230" indent="-398780" algn="l" rtl="0" eaLnBrk="0" fontAlgn="base" hangingPunct="0">
        <a:lnSpc>
          <a:spcPct val="12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txBody>
          <a:bodyPr anchor="b"/>
          <a:lstStyle/>
          <a:p>
            <a:pPr lvl="0"/>
            <a:r>
              <a:rPr lang="ja-JP" altLang="en-US" dirty="0"/>
              <a:t>マスタ タイトルの書式設定</a:t>
            </a:r>
            <a:endParaRPr lang="ja-JP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250825" y="908050"/>
            <a:ext cx="8642350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 テキストの書式設定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r>
              <a:rPr lang="ja-JP" altLang="zh-CN" dirty="0"/>
              <a:t>：</a:t>
            </a:r>
            <a:endParaRPr lang="ja-JP" altLang="en-US" dirty="0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>
                <a:solidFill>
                  <a:srgbClr val="A5002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BB781A-016F-455F-879E-9E08DEAAF735}" type="slidenum"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66"/>
          <a:stretch>
            <a:fillRect/>
          </a:stretch>
        </p:blipFill>
        <p:spPr>
          <a:xfrm>
            <a:off x="6797996" y="35210"/>
            <a:ext cx="2362258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ransition>
    <p:random/>
  </p:transition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4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folHlink"/>
          </a:solidFill>
          <a:latin typeface="+mn-lt"/>
          <a:ea typeface="+mn-ea"/>
        </a:defRPr>
      </a:lvl2pPr>
      <a:lvl3pPr marL="1304925" indent="-39560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rgbClr val="009900"/>
          </a:solidFill>
          <a:latin typeface="+mn-lt"/>
          <a:ea typeface="+mn-ea"/>
        </a:defRPr>
      </a:lvl3pPr>
      <a:lvl4pPr marL="1694180" indent="-387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rgbClr val="0099CC"/>
          </a:solidFill>
          <a:latin typeface="+mn-lt"/>
          <a:ea typeface="+mn-ea"/>
        </a:defRPr>
      </a:lvl4pPr>
      <a:lvl5pPr marL="2094230" indent="-398780" algn="l" rtl="0" eaLnBrk="0" fontAlgn="base" hangingPunct="0">
        <a:lnSpc>
          <a:spcPct val="12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ctrTitle"/>
          </p:nvPr>
        </p:nvSpPr>
        <p:spPr>
          <a:xfrm>
            <a:off x="-635" y="1181100"/>
            <a:ext cx="9142730" cy="952500"/>
          </a:xfrm>
        </p:spPr>
        <p:txBody>
          <a:bodyPr vert="horz" wrap="square" lIns="91440" tIns="45720" rIns="91440" bIns="45720" anchor="b"/>
          <a:lstStyle/>
          <a:p>
            <a:pPr algn="ctr" eaLnBrk="1" hangingPunct="1">
              <a:buClrTx/>
              <a:buSzTx/>
              <a:buFontTx/>
            </a:pPr>
            <a:r>
              <a:rPr lang="zh-CN" altLang="en-US" sz="4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机器学习综合实践</a:t>
            </a:r>
            <a:endParaRPr lang="zh-CN" altLang="en-US" sz="46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1267" name="Rectangle 4"/>
          <p:cNvSpPr>
            <a:spLocks noGrp="1"/>
          </p:cNvSpPr>
          <p:nvPr>
            <p:ph type="subTitle" idx="1"/>
          </p:nvPr>
        </p:nvSpPr>
        <p:spPr>
          <a:xfrm>
            <a:off x="304800" y="2667000"/>
            <a:ext cx="8382000" cy="2743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SzTx/>
            </a:pPr>
            <a:r>
              <a:rPr lang="zh-CN" altLang="en-US" sz="34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王煜</a:t>
            </a:r>
            <a:endParaRPr lang="en-US" altLang="zh-CN" sz="340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eaLnBrk="1" hangingPunct="1">
              <a:buSzTx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智能与计算学部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eaLnBrk="1" hangingPunct="1">
              <a:buSzTx/>
            </a:pPr>
            <a:r>
              <a:rPr lang="en-US" altLang="zh-CN" b="1" dirty="0">
                <a:latin typeface="Times New Roman" panose="02020603050405020304" pitchFamily="18" charset="0"/>
                <a:ea typeface="华文琥珀" panose="02010800040101010101" pitchFamily="2" charset="-122"/>
                <a:cs typeface="+mn-cs"/>
              </a:rPr>
              <a:t>  wang.yu@tju.edu.cn</a:t>
            </a:r>
            <a:endParaRPr lang="en-US" altLang="zh-CN" sz="1800" b="1" dirty="0"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课程介绍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57" y="1229160"/>
            <a:ext cx="8686686" cy="4312758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机器学习综合实践课程是一门应用类课程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机器学习课程理论基础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机器学习课程的实验内容基础</a:t>
            </a:r>
            <a:endParaRPr lang="en-US" altLang="zh-CN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面向具体任务，强调实际应用能力</a:t>
            </a:r>
            <a:endParaRPr lang="en-US" altLang="zh-CN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本学期课程特点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短：课程周期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天，实践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考核</a:t>
            </a:r>
            <a:endParaRPr lang="en-US" altLang="zh-CN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平</a:t>
            </a:r>
            <a:r>
              <a:rPr 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：没有理论教学，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直接动手实践</a:t>
            </a:r>
            <a:endParaRPr lang="en-US" altLang="zh-CN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快</a:t>
            </a:r>
            <a:r>
              <a:rPr 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快速体验完成真实任务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课程主讲教师介绍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4185" y="3810000"/>
            <a:ext cx="8353425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发表机器学习及相关领域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CCF-A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类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/IEEE 汇刊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/SCI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一区TOP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高水平期刊会议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33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篇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其中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TPAMI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等第一作者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通讯作者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22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篇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（近三年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篇）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 descr="mmexport17099039898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080" y="990600"/>
            <a:ext cx="1732915" cy="24263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7200" y="1165225"/>
            <a:ext cx="609028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人工智能学院，副教授</a:t>
            </a:r>
            <a:endParaRPr 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加拿大滑铁卢大学高级访问学者</a:t>
            </a:r>
            <a:endParaRPr 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天津市高层次青年人才计划</a:t>
            </a:r>
            <a:endParaRPr 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中国人工智能学会粒计算与知识发现专委会副秘书长、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天津市人工智能学会理事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指导学生获奖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228600" y="914400"/>
            <a:ext cx="8867140" cy="273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342900" indent="-342900" algn="just" defTabSz="457200" fontAlgn="auto">
              <a:lnSpc>
                <a:spcPct val="150000"/>
              </a:lnSpc>
              <a:spcBef>
                <a:spcPts val="600"/>
              </a:spcBef>
              <a:buClr>
                <a:srgbClr val="000066"/>
              </a:buClr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天津市优秀博士学位论文奖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中国人工智能顶级会议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CGCKD优秀学生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论文奖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CCF-A类会议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CVPR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开放世界目标发现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挑战赛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冠军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0066"/>
              </a:buClr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第九届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中国国际大学生创新大赛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（原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互联网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+”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大赛）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金奖</a:t>
            </a:r>
            <a:endParaRPr lang="en-US" altLang="zh-CN" sz="2400" b="1" dirty="0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just" defTabSz="457200">
              <a:spcBef>
                <a:spcPts val="1200"/>
              </a:spcBef>
              <a:buClr>
                <a:srgbClr val="000066"/>
              </a:buClr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全国信创与人工智能发展博士后学术论坛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优秀论文一等奖</a:t>
            </a:r>
            <a:endParaRPr lang="en-US" altLang="zh-CN" sz="2400" b="1" dirty="0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2890" y="3912870"/>
            <a:ext cx="3801110" cy="2686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76800" y="3919855"/>
            <a:ext cx="3746500" cy="26797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课程内容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3149600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在工业生产过程中，设备或产品可能会出现各种异常情况，例如表面划痕、破损、污渍等。这些异常通常比较稀少，且表现形式复杂，给自动化检测带来了挑战。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本次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任务的目标是在仅有正常样本的情况下，检测测试集中的异常样本。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任务要求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五人以内组队，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编写脚本，对</a:t>
            </a:r>
            <a:r>
              <a:rPr lang="en-US" altLang="zh-CN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MVTec-AD_subset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数据集进行二分类的异常判断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下载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数据集训练模型，提交训练脚本，助教运行后记录结果，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AUROC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作为最终评分。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课程内容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229360"/>
            <a:ext cx="8686800" cy="31496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MVTec-AD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7117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MVTec AD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数据集，包含用于训练的图像的正常的，即无缺陷的图像，和用于测试的异常图像。异常表现在超过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种不同类型的缺陷，如划痕，凹痕，污染，和各种结构变化。</a:t>
            </a:r>
            <a:endPara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  <p:pic>
        <p:nvPicPr>
          <p:cNvPr id="2" name="图片 1" descr="cable_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230" y="3504565"/>
            <a:ext cx="2042795" cy="2042795"/>
          </a:xfrm>
          <a:prstGeom prst="rect">
            <a:avLst/>
          </a:prstGeom>
        </p:spPr>
      </p:pic>
      <p:pic>
        <p:nvPicPr>
          <p:cNvPr id="4" name="图片 3" descr="cable_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505200"/>
            <a:ext cx="2042160" cy="20421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28800" y="5715000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无缺陷图像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67400" y="5715000"/>
            <a:ext cx="1652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有缺陷图像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课程内容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229360"/>
            <a:ext cx="8686800" cy="31496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MVTec-AD_subset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train:	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训练集图片，命名为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类名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_xxx.png",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全部都是正常样本，共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1196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张图片。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marR="0" lvl="3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：验证集图片，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部分样本正常，部分样本异常，共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50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张图片。</a:t>
            </a:r>
            <a:endParaRPr kumimoji="0" lang="zh-CN" altLang="en-US" sz="184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test:	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测试集图片，部分样本正常，部分样本异常，共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657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张图片。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train.csv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：训练集图片标注，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为正常，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为异常。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val.csv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：验证集图片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标注。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test.csv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：测试集图片标注。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课程内容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3149600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登录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https://www.kaggle.com/t/4170d45f01004eb18e017c8f77d12ba6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下载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train, train.csv, val, val.csv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在本地训练模型。用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val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中的图片进行预测，生成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submission.csv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，格式同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val.csv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，共两列：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filename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score(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异常预测得分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上传代码到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kaggle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，利用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test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中的图片进行预测，根据结果的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AUROC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进行打分。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最终排名根据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图像级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AUROC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排序：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AUROC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越接近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，说明模型越能区分正常与异常，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AUROC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接近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0.5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，说明模型效果接近随机。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64CA3-BC57-43B3-92CC-80F7FFBD582F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1"/>
          <a:stretch>
            <a:fillRect/>
          </a:stretch>
        </p:blipFill>
        <p:spPr>
          <a:xfrm>
            <a:off x="7353555" y="78373"/>
            <a:ext cx="1762089" cy="704854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4"/>
          <p:cNvSpPr>
            <a:spLocks noGrp="1"/>
          </p:cNvSpPr>
          <p:nvPr>
            <p:ph type="subTitle" idx="1"/>
          </p:nvPr>
        </p:nvSpPr>
        <p:spPr>
          <a:xfrm>
            <a:off x="457200" y="2895600"/>
            <a:ext cx="8382000" cy="2743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SzTx/>
            </a:pPr>
            <a:r>
              <a:rPr lang="en-US" altLang="zh-CN" sz="34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THE END</a:t>
            </a:r>
            <a:endParaRPr lang="en-US" altLang="zh-CN" sz="1800" b="1" dirty="0"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OC_GUID" val="{4c61eee7-e1ee-439e-b45a-bc45b898f70a}"/>
  <p:tag name="KSO_WPP_MARK_KEY" val="7c91953a-9c66-4a40-9e1b-598ced7105a0"/>
  <p:tag name="COMMONDATA" val="eyJoZGlkIjoiNjY3YzljYzc5Yzk1ZmUyOTdhZGJhYzc3MjgyMGI3MjQifQ=="/>
  <p:tag name="commondata" val="eyJoZGlkIjoiNzRiYzQ1ZjY2MTZhZTM2MjdmMGI0NDdkZDVjMzY3ZjIifQ=="/>
</p:tagLst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wasedaSample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wasedaSample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WPS 演示</Application>
  <PresentationFormat>全屏显示(4:3)</PresentationFormat>
  <Paragraphs>93</Paragraphs>
  <Slides>9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Verdana</vt:lpstr>
      <vt:lpstr>MS PGothic</vt:lpstr>
      <vt:lpstr>Times New Roman</vt:lpstr>
      <vt:lpstr>黑体</vt:lpstr>
      <vt:lpstr>华文琥珀</vt:lpstr>
      <vt:lpstr>楷体_GB2312</vt:lpstr>
      <vt:lpstr>新宋体</vt:lpstr>
      <vt:lpstr>微软雅黑</vt:lpstr>
      <vt:lpstr>Wingdings</vt:lpstr>
      <vt:lpstr>Arial Unicode MS</vt:lpstr>
      <vt:lpstr>wasedaSample5</vt:lpstr>
      <vt:lpstr>1_wasedaSample5</vt:lpstr>
      <vt:lpstr>机器学习综合实践</vt:lpstr>
      <vt:lpstr>课程介绍</vt:lpstr>
      <vt:lpstr>课程主讲教师介绍</vt:lpstr>
      <vt:lpstr>指导学生获奖</vt:lpstr>
      <vt:lpstr>课程内容</vt:lpstr>
      <vt:lpstr>课程内容</vt:lpstr>
      <vt:lpstr>课程内容</vt:lpstr>
      <vt:lpstr>课程内容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yangliu</dc:creator>
  <cp:lastModifiedBy>lsy泛之</cp:lastModifiedBy>
  <cp:revision>1163</cp:revision>
  <dcterms:created xsi:type="dcterms:W3CDTF">2019-04-07T04:12:00Z</dcterms:created>
  <dcterms:modified xsi:type="dcterms:W3CDTF">2025-09-09T01:28:20Z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5B498C8B6D274F259E582A2F7C74B398_13</vt:lpwstr>
  </property>
</Properties>
</file>