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6" r:id="rId3"/>
    <p:sldId id="285" r:id="rId4"/>
    <p:sldId id="278" r:id="rId5"/>
    <p:sldId id="284" r:id="rId6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8" autoAdjust="0"/>
    <p:restoredTop sz="83810" autoAdjust="0"/>
  </p:normalViewPr>
  <p:slideViewPr>
    <p:cSldViewPr snapToGrid="0">
      <p:cViewPr varScale="1">
        <p:scale>
          <a:sx n="106" d="100"/>
          <a:sy n="106" d="100"/>
        </p:scale>
        <p:origin x="1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F37AB-8135-4201-B079-AAFA6B789689}" type="datetimeFigureOut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5C283-1928-4A12-AA5A-1352D9DBBE1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532"/>
            <a:ext cx="10515600" cy="5219431"/>
          </a:xfrm>
        </p:spPr>
        <p:txBody>
          <a:bodyPr/>
          <a:lstStyle/>
          <a:p>
            <a:r>
              <a:rPr kumimoji="1" lang="zh-CN" altLang="en-US" dirty="0"/>
              <a:t>实验目的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理解缓冲区溢出漏洞原理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理解一种缓冲区溢出漏洞利用方式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实验二：缓冲区溢出漏洞利用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532"/>
            <a:ext cx="10515600" cy="5219431"/>
          </a:xfrm>
        </p:spPr>
        <p:txBody>
          <a:bodyPr/>
          <a:lstStyle/>
          <a:p>
            <a:r>
              <a:rPr kumimoji="1" lang="zh-CN" altLang="en-US" dirty="0"/>
              <a:t>知识点回顾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函数调用栈分布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实验二：缓冲区溢出漏洞利用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692863" y="1836525"/>
            <a:ext cx="1139906" cy="2949332"/>
          </a:xfrm>
          <a:prstGeom prst="rect">
            <a:avLst/>
          </a:prstGeom>
          <a:noFill/>
          <a:ln w="9525">
            <a:solidFill>
              <a:srgbClr val="0048AA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692863" y="1467193"/>
            <a:ext cx="1139906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高地址</a:t>
            </a:r>
            <a:endParaRPr kumimoji="1"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755953" y="4783351"/>
            <a:ext cx="1013725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低地址</a:t>
            </a:r>
            <a:endParaRPr kumimoji="1" lang="zh-CN" altLang="en-US" dirty="0"/>
          </a:p>
        </p:txBody>
      </p:sp>
      <p:cxnSp>
        <p:nvCxnSpPr>
          <p:cNvPr id="15" name="直线连接符 14"/>
          <p:cNvCxnSpPr/>
          <p:nvPr/>
        </p:nvCxnSpPr>
        <p:spPr>
          <a:xfrm>
            <a:off x="5692863" y="2177603"/>
            <a:ext cx="1139906" cy="0"/>
          </a:xfrm>
          <a:prstGeom prst="line">
            <a:avLst/>
          </a:prstGeom>
          <a:ln w="12700">
            <a:solidFill>
              <a:srgbClr val="0048A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5687953" y="2172927"/>
            <a:ext cx="1139906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arg2</a:t>
            </a:r>
            <a:endParaRPr kumimoji="1" lang="en-US" altLang="zh-CN" dirty="0"/>
          </a:p>
        </p:txBody>
      </p:sp>
      <p:cxnSp>
        <p:nvCxnSpPr>
          <p:cNvPr id="17" name="直线连接符 16"/>
          <p:cNvCxnSpPr/>
          <p:nvPr/>
        </p:nvCxnSpPr>
        <p:spPr>
          <a:xfrm>
            <a:off x="5692863" y="2542259"/>
            <a:ext cx="1139906" cy="0"/>
          </a:xfrm>
          <a:prstGeom prst="line">
            <a:avLst/>
          </a:prstGeom>
          <a:ln w="12700">
            <a:solidFill>
              <a:srgbClr val="0048A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5687953" y="2552972"/>
            <a:ext cx="1139906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arg1</a:t>
            </a:r>
            <a:endParaRPr kumimoji="1" lang="en-US" altLang="zh-CN" dirty="0"/>
          </a:p>
        </p:txBody>
      </p:sp>
      <p:cxnSp>
        <p:nvCxnSpPr>
          <p:cNvPr id="22" name="直线连接符 21"/>
          <p:cNvCxnSpPr/>
          <p:nvPr/>
        </p:nvCxnSpPr>
        <p:spPr>
          <a:xfrm>
            <a:off x="5692863" y="2930073"/>
            <a:ext cx="1139906" cy="0"/>
          </a:xfrm>
          <a:prstGeom prst="line">
            <a:avLst/>
          </a:prstGeom>
          <a:ln w="12700">
            <a:solidFill>
              <a:srgbClr val="0048A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5687953" y="2929230"/>
            <a:ext cx="1139906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返回地址</a:t>
            </a:r>
            <a:endParaRPr kumimoji="1" lang="en-US" altLang="zh-CN" dirty="0"/>
          </a:p>
        </p:txBody>
      </p:sp>
      <p:cxnSp>
        <p:nvCxnSpPr>
          <p:cNvPr id="27" name="直线连接符 26"/>
          <p:cNvCxnSpPr/>
          <p:nvPr/>
        </p:nvCxnSpPr>
        <p:spPr>
          <a:xfrm>
            <a:off x="5692862" y="3317685"/>
            <a:ext cx="1139906" cy="0"/>
          </a:xfrm>
          <a:prstGeom prst="line">
            <a:avLst/>
          </a:prstGeom>
          <a:ln w="12700">
            <a:solidFill>
              <a:srgbClr val="0048A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5687953" y="3317043"/>
            <a:ext cx="1139906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old</a:t>
            </a:r>
            <a:r>
              <a:rPr kumimoji="1" lang="zh-CN" altLang="en-US" dirty="0"/>
              <a:t> </a:t>
            </a:r>
            <a:r>
              <a:rPr kumimoji="1" lang="en-US" altLang="zh-CN" dirty="0"/>
              <a:t>EBP</a:t>
            </a:r>
            <a:endParaRPr kumimoji="1" lang="en-US" altLang="zh-CN" dirty="0"/>
          </a:p>
        </p:txBody>
      </p:sp>
      <p:cxnSp>
        <p:nvCxnSpPr>
          <p:cNvPr id="32" name="直线连接符 31"/>
          <p:cNvCxnSpPr/>
          <p:nvPr/>
        </p:nvCxnSpPr>
        <p:spPr>
          <a:xfrm>
            <a:off x="5692862" y="3691700"/>
            <a:ext cx="1139906" cy="0"/>
          </a:xfrm>
          <a:prstGeom prst="line">
            <a:avLst/>
          </a:prstGeom>
          <a:ln w="12700">
            <a:solidFill>
              <a:srgbClr val="0048A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5688135" y="3696383"/>
            <a:ext cx="1139906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a</a:t>
            </a:r>
            <a:endParaRPr kumimoji="1" lang="en-US" altLang="zh-CN" dirty="0"/>
          </a:p>
        </p:txBody>
      </p:sp>
      <p:cxnSp>
        <p:nvCxnSpPr>
          <p:cNvPr id="43" name="直线连接符 42"/>
          <p:cNvCxnSpPr/>
          <p:nvPr/>
        </p:nvCxnSpPr>
        <p:spPr>
          <a:xfrm>
            <a:off x="5692862" y="4061032"/>
            <a:ext cx="1139906" cy="0"/>
          </a:xfrm>
          <a:prstGeom prst="line">
            <a:avLst/>
          </a:prstGeom>
          <a:ln w="12700">
            <a:solidFill>
              <a:srgbClr val="0048A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5692861" y="4050321"/>
            <a:ext cx="1139906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b</a:t>
            </a:r>
            <a:endParaRPr kumimoji="1" lang="en-US" altLang="zh-CN" dirty="0"/>
          </a:p>
        </p:txBody>
      </p:sp>
      <p:cxnSp>
        <p:nvCxnSpPr>
          <p:cNvPr id="45" name="直线连接符 44"/>
          <p:cNvCxnSpPr/>
          <p:nvPr/>
        </p:nvCxnSpPr>
        <p:spPr>
          <a:xfrm>
            <a:off x="5692862" y="4426659"/>
            <a:ext cx="1139906" cy="0"/>
          </a:xfrm>
          <a:prstGeom prst="line">
            <a:avLst/>
          </a:prstGeom>
          <a:ln w="12700">
            <a:solidFill>
              <a:srgbClr val="0048AA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5692101" y="5237499"/>
            <a:ext cx="1139906" cy="360040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栈区</a:t>
            </a:r>
            <a:endParaRPr kumimoji="1"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532"/>
            <a:ext cx="5257800" cy="5219431"/>
          </a:xfrm>
        </p:spPr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：如右图所示小程序，实现了什么功能？</a:t>
            </a:r>
            <a:endParaRPr kumimoji="1" lang="en-US" altLang="zh-CN" dirty="0"/>
          </a:p>
          <a:p>
            <a:r>
              <a:rPr kumimoji="1" lang="zh-CN" altLang="en-US" dirty="0"/>
              <a:t>问题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：运行该程序会出现什么样的运行结果？</a:t>
            </a:r>
            <a:endParaRPr kumimoji="1" lang="en-US" altLang="zh-CN" dirty="0"/>
          </a:p>
          <a:p>
            <a:r>
              <a:rPr kumimoji="1" lang="zh-CN" altLang="en-US" dirty="0"/>
              <a:t>问题</a:t>
            </a:r>
            <a:r>
              <a:rPr kumimoji="1" lang="en-US" altLang="zh-CN" dirty="0"/>
              <a:t>3</a:t>
            </a:r>
            <a:r>
              <a:rPr kumimoji="1" lang="zh-CN" altLang="en-US" dirty="0"/>
              <a:t>：为什么会出现这样的运行结果？</a:t>
            </a:r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实验二：缓冲区溢出漏洞利用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6365096" y="957531"/>
            <a:ext cx="4876800" cy="5371079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vert="horz" wrap="square" rtlCol="0" anchor="ctr" anchorCtr="0">
            <a:noAutofit/>
          </a:bodyPr>
          <a:lstStyle/>
          <a:p>
            <a:r>
              <a:rPr lang="en-GB" altLang="zh-CN" sz="2000" dirty="0">
                <a:solidFill>
                  <a:srgbClr val="AF00D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#include</a:t>
            </a:r>
            <a:r>
              <a:rPr lang="en-GB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GB" altLang="zh-CN" sz="2000" dirty="0">
                <a:solidFill>
                  <a:srgbClr val="A31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GB" altLang="zh-CN" sz="2000" dirty="0" err="1">
                <a:solidFill>
                  <a:srgbClr val="A31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stdio.h</a:t>
            </a:r>
            <a:r>
              <a:rPr lang="en-GB" altLang="zh-CN" sz="2000" dirty="0">
                <a:solidFill>
                  <a:srgbClr val="A31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endParaRPr lang="en-GB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GB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</a:t>
            </a:r>
            <a: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GB" altLang="zh-CN" sz="2000" dirty="0" err="1">
                <a:solidFill>
                  <a:srgbClr val="795E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why_here</a:t>
            </a:r>
            <a: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(){</a:t>
            </a:r>
            <a:endParaRPr lang="en-GB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795E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GB" altLang="zh-CN" sz="2000" dirty="0" err="1">
                <a:solidFill>
                  <a:srgbClr val="795E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GB" altLang="zh-CN" sz="2000" dirty="0">
                <a:solidFill>
                  <a:srgbClr val="A31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"why are you here?</a:t>
            </a:r>
            <a:r>
              <a:rPr lang="en-GB" altLang="zh-CN" sz="2000" dirty="0">
                <a:solidFill>
                  <a:srgbClr val="EE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\n</a:t>
            </a:r>
            <a:r>
              <a:rPr lang="en-GB" altLang="zh-CN" sz="2000" dirty="0">
                <a:solidFill>
                  <a:srgbClr val="A31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  <a:endParaRPr lang="en-GB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GB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GB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</a:t>
            </a:r>
            <a: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GB" altLang="zh-CN" sz="2000" dirty="0">
                <a:solidFill>
                  <a:srgbClr val="795E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(){</a:t>
            </a:r>
            <a:endParaRPr lang="en-GB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GB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GB" altLang="zh-CN" sz="2000" dirty="0">
                <a:solidFill>
                  <a:srgbClr val="001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GB" altLang="zh-CN" sz="2000" dirty="0">
                <a:solidFill>
                  <a:srgbClr val="0986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];</a:t>
            </a:r>
            <a:endParaRPr lang="en-GB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001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GB" altLang="zh-CN" sz="2000" dirty="0">
                <a:solidFill>
                  <a:srgbClr val="001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GB" altLang="zh-CN" sz="2000" dirty="0">
                <a:solidFill>
                  <a:srgbClr val="0986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= (</a:t>
            </a:r>
            <a:r>
              <a:rPr lang="en-GB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GB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why_here</a:t>
            </a:r>
            <a: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GB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GB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b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GB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GB" altLang="zh-CN" sz="2000" dirty="0">
                <a:solidFill>
                  <a:srgbClr val="795E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GB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GB" altLang="zh-CN" sz="2000" dirty="0" err="1">
                <a:solidFill>
                  <a:srgbClr val="001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argc</a:t>
            </a:r>
            <a: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GB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char</a:t>
            </a:r>
            <a: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 </a:t>
            </a:r>
            <a:r>
              <a:rPr lang="en-GB" altLang="zh-CN" sz="2000" dirty="0" err="1">
                <a:solidFill>
                  <a:srgbClr val="001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argv</a:t>
            </a:r>
            <a:r>
              <a:rPr lang="en-GB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[]</a:t>
            </a:r>
            <a: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){</a:t>
            </a:r>
            <a:endParaRPr lang="en-GB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795E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GB" altLang="zh-CN" sz="2000" dirty="0">
                <a:solidFill>
                  <a:srgbClr val="795E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();</a:t>
            </a:r>
            <a:endParaRPr lang="en-GB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solidFill>
                  <a:srgbClr val="AF00D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GB" altLang="zh-CN" sz="2000" dirty="0">
                <a:solidFill>
                  <a:srgbClr val="AF00D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</a:t>
            </a:r>
            <a: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GB" altLang="zh-CN" sz="2000" dirty="0">
                <a:solidFill>
                  <a:srgbClr val="09865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GB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GB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GB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7532"/>
            <a:ext cx="5257800" cy="5219431"/>
          </a:xfrm>
        </p:spPr>
        <p:txBody>
          <a:bodyPr/>
          <a:lstStyle/>
          <a:p>
            <a:r>
              <a:rPr kumimoji="1" lang="zh-CN" altLang="en-US" dirty="0"/>
              <a:t>实验步骤</a:t>
            </a:r>
            <a:endParaRPr kumimoji="1" lang="en-US" altLang="zh-CN" dirty="0"/>
          </a:p>
          <a:p>
            <a:pPr marL="457200" lvl="1" indent="0">
              <a:buNone/>
            </a:pPr>
            <a:r>
              <a:rPr kumimoji="1" lang="en-US" altLang="zh-CN" sz="2000" dirty="0"/>
              <a:t>1.</a:t>
            </a:r>
            <a:r>
              <a:rPr kumimoji="1" lang="zh-CN" altLang="en-US" sz="2000" dirty="0"/>
              <a:t> 安装</a:t>
            </a:r>
            <a:r>
              <a:rPr kumimoji="1" lang="en-US" altLang="zh-CN" sz="2000" dirty="0"/>
              <a:t>XP</a:t>
            </a:r>
            <a:r>
              <a:rPr kumimoji="1" lang="zh-CN" altLang="en-US" sz="2000" dirty="0"/>
              <a:t>虚拟机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2. </a:t>
            </a:r>
            <a:r>
              <a:rPr kumimoji="1" lang="zh-CN" altLang="en-US" sz="2000" dirty="0"/>
              <a:t>安装</a:t>
            </a:r>
            <a:r>
              <a:rPr kumimoji="1" lang="en-US" altLang="zh-CN" sz="2000" dirty="0"/>
              <a:t>VC 6.0</a:t>
            </a:r>
            <a:r>
              <a:rPr kumimoji="1" lang="zh-CN" altLang="en-US" sz="2000" dirty="0"/>
              <a:t>编译器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3. </a:t>
            </a:r>
            <a:r>
              <a:rPr kumimoji="1" lang="zh-CN" altLang="en-US" sz="2000" dirty="0"/>
              <a:t>编写</a:t>
            </a:r>
            <a:r>
              <a:rPr kumimoji="1" lang="en-US" altLang="zh-CN" sz="2000" dirty="0"/>
              <a:t>C</a:t>
            </a:r>
            <a:r>
              <a:rPr kumimoji="1" lang="zh-CN" altLang="en-US" sz="2000" dirty="0"/>
              <a:t>文件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4. </a:t>
            </a:r>
            <a:r>
              <a:rPr kumimoji="1" lang="zh-CN" altLang="en-US" sz="2000" dirty="0"/>
              <a:t>编译出可执行文件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5.</a:t>
            </a:r>
            <a:r>
              <a:rPr kumimoji="1" lang="zh-CN" altLang="en-US" sz="2000" dirty="0"/>
              <a:t> 运行可执行文件并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zh-CN" altLang="en-US" sz="2000" dirty="0"/>
              <a:t>观察结果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en-US" altLang="zh-CN" sz="2000" dirty="0"/>
              <a:t>6.</a:t>
            </a:r>
            <a:r>
              <a:rPr kumimoji="1" lang="zh-CN" altLang="en-US" sz="2000" dirty="0"/>
              <a:t> 调试分析为什么会</a:t>
            </a:r>
            <a:endParaRPr kumimoji="1" lang="en-US" altLang="zh-CN" sz="2000" dirty="0"/>
          </a:p>
          <a:p>
            <a:pPr marL="457200" lvl="1" indent="0">
              <a:buNone/>
            </a:pPr>
            <a:r>
              <a:rPr kumimoji="1" lang="zh-CN" altLang="en-US" sz="2000" dirty="0"/>
              <a:t>出现该结果</a:t>
            </a:r>
            <a:endParaRPr kumimoji="1" lang="en-US" altLang="zh-CN" sz="2000" dirty="0"/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5000"/>
              </a:lnSpc>
            </a:pPr>
            <a:endParaRPr kumimoji="1"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692696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实验二：缓冲区溢出漏洞利用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741368"/>
            <a:ext cx="12192000" cy="116632"/>
          </a:xfrm>
          <a:prstGeom prst="rect">
            <a:avLst/>
          </a:prstGeom>
          <a:solidFill>
            <a:srgbClr val="0048A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6035" y="1405197"/>
            <a:ext cx="7211453" cy="40476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LOCALSLIDEID" val="17791008179834076"/>
</p:tagLst>
</file>

<file path=ppt/tags/tag2.xml><?xml version="1.0" encoding="utf-8"?>
<p:tagLst xmlns:p="http://schemas.openxmlformats.org/presentationml/2006/main">
  <p:tag name="LOCALSLIDEID" val="17791008179839141"/>
</p:tagLst>
</file>

<file path=ppt/tags/tag3.xml><?xml version="1.0" encoding="utf-8"?>
<p:tagLst xmlns:p="http://schemas.openxmlformats.org/presentationml/2006/main">
  <p:tag name="RAINPROBLEM" val="ProblemBody"/>
</p:tagLst>
</file>

<file path=ppt/tags/tag4.xml><?xml version="1.0" encoding="utf-8"?>
<p:tagLst xmlns:p="http://schemas.openxmlformats.org/presentationml/2006/main">
  <p:tag name="LOCALSLIDEID" val="17791008179832774"/>
</p:tagLst>
</file>

<file path=ppt/tags/tag5.xml><?xml version="1.0" encoding="utf-8"?>
<p:tagLst xmlns:p="http://schemas.openxmlformats.org/presentationml/2006/main">
  <p:tag name="LOCALSLIDEID" val="17791008179839907"/>
</p:tagLst>
</file>

<file path=ppt/tags/tag6.xml><?xml version="1.0" encoding="utf-8"?>
<p:tagLst xmlns:p="http://schemas.openxmlformats.org/presentationml/2006/main">
  <p:tag name="commondata" val="eyJoZGlkIjoiYjg0ZmMxMTE1N2JlOTEwYTJmNWQ3OWYyN2YzYTMwMjQifQ=="/>
  <p:tag name="LOCALPRESID" val="1779100817974048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</Words>
  <Application>WPS 演示</Application>
  <PresentationFormat>宽屏</PresentationFormat>
  <Paragraphs>63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等线</vt:lpstr>
      <vt:lpstr>Calibri</vt:lpstr>
      <vt:lpstr>Arial Unicode MS</vt:lpstr>
      <vt:lpstr>等线 Light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实验一 熟悉函数调用过程与栈帧</dc:title>
  <dc:creator>1</dc:creator>
  <cp:lastModifiedBy>Caroline</cp:lastModifiedBy>
  <cp:revision>28</cp:revision>
  <dcterms:created xsi:type="dcterms:W3CDTF">2022-10-27T12:25:00Z</dcterms:created>
  <dcterms:modified xsi:type="dcterms:W3CDTF">2026-05-18T10:40:26Z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C743899D033F49FA8DCECAB209BF74E6_12</vt:lpwstr>
  </property>
  <property fmtid="{D5CDD505-2E9C-101B-9397-08002B2CF9AE}" pid="3" name="KSOProductBuildVer">
    <vt:lpwstr>2052-12.1.0.25865</vt:lpwstr>
  </property>
</Properties>
</file>