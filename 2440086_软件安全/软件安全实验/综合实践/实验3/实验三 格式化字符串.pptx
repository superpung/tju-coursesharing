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76" r:id="rId3"/>
    <p:sldId id="277" r:id="rId4"/>
    <p:sldId id="287" r:id="rId5"/>
    <p:sldId id="335" r:id="rId6"/>
    <p:sldId id="307" r:id="rId8"/>
    <p:sldId id="286" r:id="rId9"/>
    <p:sldId id="285" r:id="rId10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12" autoAdjust="0"/>
    <p:restoredTop sz="94660"/>
  </p:normalViewPr>
  <p:slideViewPr>
    <p:cSldViewPr snapToGrid="0">
      <p:cViewPr varScale="1">
        <p:scale>
          <a:sx n="68" d="100"/>
          <a:sy n="68" d="100"/>
        </p:scale>
        <p:origin x="8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9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9DF59-FC2F-7F4D-90EF-007103454E2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CF8B5-A8B1-7F45-BF24-30B850C872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EF20F-F223-2C45-BD7A-9B601D3BF61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10515600" cy="5219431"/>
          </a:xfrm>
        </p:spPr>
        <p:txBody>
          <a:bodyPr/>
          <a:lstStyle/>
          <a:p>
            <a:r>
              <a:rPr kumimoji="1" lang="zh-CN" altLang="en-US" dirty="0"/>
              <a:t>实验目的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了解格式化字符串漏洞原理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了解格式化字符串利用方法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实验三：格式化字符串漏洞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9169400" cy="5219431"/>
          </a:xfrm>
        </p:spPr>
        <p:txBody>
          <a:bodyPr/>
          <a:lstStyle/>
          <a:p>
            <a:r>
              <a:rPr kumimoji="1" lang="zh-CN" altLang="en-US" dirty="0"/>
              <a:t>知识点回顾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语言中，怎样打印一个整数变量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的值？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实验三：格式化字符串漏洞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8585200" cy="5219431"/>
          </a:xfrm>
        </p:spPr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知识点回顾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问题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语言中，怎样打印一个整数变量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的值？</a:t>
            </a:r>
            <a:endParaRPr lang="en-US" altLang="zh-CN" sz="20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  <a:p>
            <a:pPr lvl="1"/>
            <a:r>
              <a:rPr lang="en-GB" altLang="zh-CN" sz="20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altLang="zh-CN" sz="2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altLang="zh-CN" sz="20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"%d\n"</a:t>
            </a:r>
            <a:r>
              <a:rPr lang="en-GB" altLang="zh-CN" sz="2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a);</a:t>
            </a:r>
            <a:endParaRPr lang="en-GB" altLang="zh-CN" sz="20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0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实验三：格式化字符串漏洞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C/C++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语言格式化输出</a:t>
            </a:r>
            <a:endParaRPr kumimoji="1" lang="en-GB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73943" y="1052513"/>
            <a:ext cx="5111750" cy="5256212"/>
          </a:xfrm>
          <a:prstGeom prst="rect">
            <a:avLst/>
          </a:prstGeom>
          <a:noFill/>
          <a:ln>
            <a:solidFill>
              <a:srgbClr val="D6D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11424" y="114882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004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kumimoji="1" lang="zh-CN" altLang="en-US" sz="2400" dirty="0">
              <a:solidFill>
                <a:srgbClr val="004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1424" y="1929217"/>
            <a:ext cx="4824536" cy="313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GB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C/C++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语言中，</a:t>
            </a:r>
            <a:r>
              <a:rPr kumimoji="1" lang="en-GB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GB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fprintf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sprintf</a:t>
            </a:r>
            <a:r>
              <a:rPr kumimoji="1"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(), </a:t>
            </a:r>
            <a:r>
              <a:rPr kumimoji="1" lang="en-US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snprintf</a:t>
            </a:r>
            <a:r>
              <a:rPr kumimoji="1"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等函数（</a:t>
            </a:r>
            <a:r>
              <a:rPr kumimoji="1"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1" lang="en-US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函数家族）可以按照一定的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将数据进行输出。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kumimoji="1" lang="en-US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函数的第一个参数就是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格式化字符串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，它告诉程序以什么格式输出数据。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313488" y="1058914"/>
            <a:ext cx="5111750" cy="2370086"/>
            <a:chOff x="623888" y="1052514"/>
            <a:chExt cx="5111750" cy="2370086"/>
          </a:xfrm>
        </p:grpSpPr>
        <p:sp>
          <p:nvSpPr>
            <p:cNvPr id="13" name="矩形 12"/>
            <p:cNvSpPr/>
            <p:nvPr/>
          </p:nvSpPr>
          <p:spPr>
            <a:xfrm>
              <a:off x="623888" y="1052514"/>
              <a:ext cx="5111750" cy="2370086"/>
            </a:xfrm>
            <a:prstGeom prst="rect">
              <a:avLst/>
            </a:prstGeom>
            <a:noFill/>
            <a:ln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70901" y="1094202"/>
              <a:ext cx="4824536" cy="2306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dirty="0">
                  <a:solidFill>
                    <a:srgbClr val="0000FF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#include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&lt;stdio.h&gt;</a:t>
              </a:r>
              <a:endParaRPr lang="en-US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br>
                <a:rPr lang="en-US" b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b="0" dirty="0">
                  <a:solidFill>
                    <a:srgbClr val="0000FF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int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main(){</a:t>
              </a:r>
              <a:endParaRPr lang="en-US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rgbClr val="0000FF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    int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a = </a:t>
              </a:r>
              <a:r>
                <a:rPr lang="en-US" b="0" dirty="0">
                  <a:solidFill>
                    <a:srgbClr val="098658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  <a:endParaRPr lang="en-US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    </a:t>
              </a:r>
              <a:r>
                <a:rPr lang="en-US" b="0" dirty="0" err="1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printf</a:t>
              </a:r>
              <a:r>
                <a:rPr lang="en-US" b="0" dirty="0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b="0" dirty="0">
                  <a:solidFill>
                    <a:srgbClr val="A31515"/>
                  </a:solidFill>
                  <a:effectLst/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"%d\n"</a:t>
              </a:r>
              <a:r>
                <a:rPr lang="en-US" b="0" dirty="0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, a);</a:t>
              </a:r>
              <a:endPara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    system(</a:t>
              </a:r>
              <a:r>
                <a:rPr lang="en-US" b="0" dirty="0">
                  <a:solidFill>
                    <a:srgbClr val="A31515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"pause"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);</a:t>
              </a:r>
              <a:endParaRPr lang="en-US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rgbClr val="0000FF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    return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b="0" dirty="0">
                  <a:solidFill>
                    <a:srgbClr val="098658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  <a:endParaRPr lang="en-US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}</a:t>
              </a:r>
              <a:endParaRPr lang="en-US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322616" y="3742364"/>
            <a:ext cx="5111750" cy="2566362"/>
            <a:chOff x="623888" y="862639"/>
            <a:chExt cx="5111750" cy="2566362"/>
          </a:xfrm>
        </p:grpSpPr>
        <p:sp>
          <p:nvSpPr>
            <p:cNvPr id="17" name="矩形 16"/>
            <p:cNvSpPr/>
            <p:nvPr/>
          </p:nvSpPr>
          <p:spPr>
            <a:xfrm>
              <a:off x="623888" y="862639"/>
              <a:ext cx="5111750" cy="2566362"/>
            </a:xfrm>
            <a:prstGeom prst="rect">
              <a:avLst/>
            </a:prstGeom>
            <a:noFill/>
            <a:ln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27022" y="9602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400" dirty="0">
                  <a:solidFill>
                    <a:srgbClr val="0048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输出结果</a:t>
              </a:r>
              <a:endParaRPr kumimoji="1" lang="zh-CN" altLang="en-US" sz="2400" dirty="0">
                <a:solidFill>
                  <a:srgbClr val="0048A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106" y="4301661"/>
            <a:ext cx="4864878" cy="17916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格式化字符串</a:t>
            </a:r>
            <a:endParaRPr kumimoji="1" lang="en-GB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313488" y="1062089"/>
            <a:ext cx="5111750" cy="5256212"/>
          </a:xfrm>
          <a:prstGeom prst="rect">
            <a:avLst/>
          </a:prstGeom>
          <a:noFill/>
          <a:ln>
            <a:solidFill>
              <a:srgbClr val="D6D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450969" y="115839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004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常见类型</a:t>
            </a:r>
            <a:endParaRPr kumimoji="1" lang="zh-CN" altLang="en-US" sz="2400" dirty="0">
              <a:solidFill>
                <a:srgbClr val="004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50969" y="1938793"/>
            <a:ext cx="4824536" cy="3904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kumimoji="1"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kumimoji="1" lang="en-US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：整型输出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ld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：长整型输出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：以八进制数形式输出整数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：以十六进制数形式输出整数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：以十进制数输出无符号数型数据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：输出一个字符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：输出一个字符串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：以小数形式输出实数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%p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：指针</a:t>
            </a:r>
            <a:b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3943" y="1052513"/>
            <a:ext cx="5111750" cy="5256212"/>
          </a:xfrm>
          <a:prstGeom prst="rect">
            <a:avLst/>
          </a:prstGeom>
          <a:noFill/>
          <a:ln>
            <a:solidFill>
              <a:srgbClr val="D6D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9081" y="112533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004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kumimoji="1" lang="zh-CN" altLang="en-US" sz="2400" dirty="0">
              <a:solidFill>
                <a:srgbClr val="0048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3943" y="1929217"/>
            <a:ext cx="4962017" cy="3904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函数的一般形式为：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en-GB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printf(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格式化字符串</a:t>
            </a:r>
            <a:r>
              <a:rPr kumimoji="1" lang="en-GB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“format”, 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输出列表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格式化字符串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format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的结构为：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%[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输出最小宽度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][.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叫做一个占位符。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endParaRPr kumimoji="1"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标志可以是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，空格，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知识点回顾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：如右图所示小程序，实现了什么功能？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：这段程序可能存在什么软件漏洞？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实验三：格式化字符串漏洞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65096" y="957532"/>
            <a:ext cx="4876800" cy="519927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rtlCol="0" anchor="t" anchorCtr="0">
            <a:no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lang="en-US" altLang="zh-CN" sz="2400" dirty="0">
                <a:solidFill>
                  <a:srgbClr val="A315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zh-CN" sz="2400" dirty="0" err="1">
                <a:solidFill>
                  <a:srgbClr val="A315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stdio.h</a:t>
            </a:r>
            <a:r>
              <a:rPr lang="en-US" altLang="zh-CN" sz="2400" dirty="0">
                <a:solidFill>
                  <a:srgbClr val="A315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altLang="zh-CN" sz="2400" dirty="0">
              <a:solidFill>
                <a:srgbClr val="A315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main(){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char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str[</a:t>
            </a:r>
            <a:r>
              <a:rPr lang="en-US" altLang="zh-CN" sz="2400" dirty="0">
                <a:solidFill>
                  <a:srgbClr val="0986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];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fgets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(str,</a:t>
            </a:r>
            <a:r>
              <a:rPr lang="en-US" altLang="zh-CN" sz="2400" dirty="0">
                <a:solidFill>
                  <a:srgbClr val="0986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,stdin);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(str);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986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957532"/>
            <a:ext cx="10609053" cy="5219431"/>
          </a:xfrm>
        </p:spPr>
        <p:txBody>
          <a:bodyPr/>
          <a:lstStyle/>
          <a:p>
            <a:r>
              <a:rPr kumimoji="1" lang="zh-CN" altLang="en-US" dirty="0"/>
              <a:t>实验步骤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en-US" altLang="zh-CN" sz="2000" dirty="0"/>
              <a:t>1.</a:t>
            </a:r>
            <a:r>
              <a:rPr kumimoji="1" lang="zh-CN" altLang="en-US" sz="2000" dirty="0"/>
              <a:t> 安装</a:t>
            </a:r>
            <a:r>
              <a:rPr kumimoji="1" lang="en-US" altLang="zh-CN" sz="2000" dirty="0"/>
              <a:t>XP</a:t>
            </a:r>
            <a:r>
              <a:rPr kumimoji="1" lang="zh-CN" altLang="en-US" sz="2000" dirty="0"/>
              <a:t>虚拟机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安装</a:t>
            </a:r>
            <a:r>
              <a:rPr kumimoji="1" lang="en-US" altLang="zh-CN" sz="2000" dirty="0"/>
              <a:t>VC 6.0</a:t>
            </a:r>
            <a:r>
              <a:rPr kumimoji="1" lang="zh-CN" altLang="en-US" sz="2000" dirty="0"/>
              <a:t>编译器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编写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4. </a:t>
            </a:r>
            <a:r>
              <a:rPr kumimoji="1" lang="zh-CN" altLang="en-US" sz="2000" dirty="0"/>
              <a:t>调试模式进行编译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5. </a:t>
            </a:r>
            <a:r>
              <a:rPr kumimoji="1" lang="zh-CN" altLang="en-US" sz="2000" dirty="0"/>
              <a:t>运行可执行程序，并输入“</a:t>
            </a:r>
            <a:r>
              <a:rPr kumimoji="1" lang="en-US" altLang="zh-CN" sz="2000" dirty="0" err="1"/>
              <a:t>AAAA%x%x%x%x%x%x%x</a:t>
            </a:r>
            <a:r>
              <a:rPr kumimoji="1" lang="en-US" altLang="zh-CN" sz="2000" dirty="0"/>
              <a:t>”</a:t>
            </a:r>
            <a:r>
              <a:rPr kumimoji="1" lang="zh-CN" altLang="en-US" sz="2000" dirty="0"/>
              <a:t>，观察输出结果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6.</a:t>
            </a:r>
            <a:r>
              <a:rPr kumimoji="1" lang="zh-CN" altLang="en-US" sz="2000" dirty="0"/>
              <a:t> 分析为什么会出现该结果，并尝试不同输入</a:t>
            </a:r>
            <a:endParaRPr kumimoji="1" lang="en-US" altLang="zh-CN" sz="2000" dirty="0"/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实验三：格式化字符串漏洞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LOCALSLIDEID" val="17791010518736578"/>
</p:tagLst>
</file>

<file path=ppt/tags/tag2.xml><?xml version="1.0" encoding="utf-8"?>
<p:tagLst xmlns:p="http://schemas.openxmlformats.org/presentationml/2006/main">
  <p:tag name="LOCALSLIDEID" val="17791010518745280"/>
</p:tagLst>
</file>

<file path=ppt/tags/tag3.xml><?xml version="1.0" encoding="utf-8"?>
<p:tagLst xmlns:p="http://schemas.openxmlformats.org/presentationml/2006/main">
  <p:tag name="LOCALSLIDEID" val="17791010518754637"/>
</p:tagLst>
</file>

<file path=ppt/tags/tag4.xml><?xml version="1.0" encoding="utf-8"?>
<p:tagLst xmlns:p="http://schemas.openxmlformats.org/presentationml/2006/main">
  <p:tag name="LOCALSLIDEID" val="17791010518756162"/>
</p:tagLst>
</file>

<file path=ppt/tags/tag5.xml><?xml version="1.0" encoding="utf-8"?>
<p:tagLst xmlns:p="http://schemas.openxmlformats.org/presentationml/2006/main">
  <p:tag name="LOCALSLIDEID" val="17791010518766165"/>
</p:tagLst>
</file>

<file path=ppt/tags/tag6.xml><?xml version="1.0" encoding="utf-8"?>
<p:tagLst xmlns:p="http://schemas.openxmlformats.org/presentationml/2006/main">
  <p:tag name="RAINPROBLEM" val="ProblemBody"/>
</p:tagLst>
</file>

<file path=ppt/tags/tag7.xml><?xml version="1.0" encoding="utf-8"?>
<p:tagLst xmlns:p="http://schemas.openxmlformats.org/presentationml/2006/main">
  <p:tag name="LOCALSLIDEID" val="17791010518770668"/>
</p:tagLst>
</file>

<file path=ppt/tags/tag8.xml><?xml version="1.0" encoding="utf-8"?>
<p:tagLst xmlns:p="http://schemas.openxmlformats.org/presentationml/2006/main">
  <p:tag name="LOCALSLIDEID" val="17791010518770399"/>
</p:tagLst>
</file>

<file path=ppt/tags/tag9.xml><?xml version="1.0" encoding="utf-8"?>
<p:tagLst xmlns:p="http://schemas.openxmlformats.org/presentationml/2006/main">
  <p:tag name="commondata" val="eyJoZGlkIjoiYjg0ZmMxMTE1N2JlOTEwYTJmNWQ3OWYyN2YzYTMwMjQifQ=="/>
  <p:tag name="LOCALPRESID" val="1779101051866178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WPS 演示</Application>
  <PresentationFormat>宽屏</PresentationFormat>
  <Paragraphs>90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Menlo</vt:lpstr>
      <vt:lpstr>Segoe Print</vt:lpstr>
      <vt:lpstr>Menlo</vt:lpstr>
      <vt:lpstr>等线</vt:lpstr>
      <vt:lpstr>Calibri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实验一 熟悉函数调用过程与栈帧</dc:title>
  <dc:creator>1</dc:creator>
  <cp:lastModifiedBy>Caroline</cp:lastModifiedBy>
  <cp:revision>27</cp:revision>
  <dcterms:created xsi:type="dcterms:W3CDTF">2022-10-27T12:25:00Z</dcterms:created>
  <dcterms:modified xsi:type="dcterms:W3CDTF">2026-05-18T10:44:48Z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A0DC45E6B2554A5EB88E482DA4C1418F_12</vt:lpwstr>
  </property>
  <property fmtid="{D5CDD505-2E9C-101B-9397-08002B2CF9AE}" pid="3" name="KSOProductBuildVer">
    <vt:lpwstr>2052-12.1.0.25865</vt:lpwstr>
  </property>
</Properties>
</file>