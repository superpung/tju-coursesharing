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4" r:id="rId3"/>
    <p:sldId id="276" r:id="rId5"/>
    <p:sldId id="277" r:id="rId6"/>
    <p:sldId id="278" r:id="rId7"/>
    <p:sldId id="292" r:id="rId8"/>
    <p:sldId id="279" r:id="rId9"/>
    <p:sldId id="293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08" autoAdjust="0"/>
    <p:restoredTop sz="96846"/>
  </p:normalViewPr>
  <p:slideViewPr>
    <p:cSldViewPr snapToGrid="0">
      <p:cViewPr varScale="1">
        <p:scale>
          <a:sx n="60" d="100"/>
          <a:sy n="60" d="100"/>
        </p:scale>
        <p:origin x="17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28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E9ECC-BE4D-0F41-BF04-7B1C2AA4F33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2F5FB-507E-8243-AC13-6748949B0C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2F5FB-507E-8243-AC13-6748949B0C2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hyperlink" Target="mailto:junjie.wang@tju.edu.c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10515600" cy="521943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实践内容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实验一：函数调用过程与栈帧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实验二：缓冲区溢出漏洞利用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实验三：格式化字符</a:t>
            </a:r>
            <a:r>
              <a:rPr kumimoji="1" lang="zh-CN" altLang="en-US"/>
              <a:t>串漏洞</a:t>
            </a:r>
            <a:endParaRPr kumimoji="1" lang="en-US" altLang="zh-CN" dirty="0"/>
          </a:p>
          <a:p>
            <a:r>
              <a:rPr kumimoji="1" lang="zh-CN" altLang="en-US" dirty="0"/>
              <a:t>验收方式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课堂演示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实验报告：</a:t>
            </a:r>
            <a:r>
              <a:rPr kumimoji="1" lang="en-US" altLang="zh-CN" dirty="0">
                <a:hlinkClick r:id="rId1"/>
              </a:rPr>
              <a:t>junjie.wang@tju.edu.cn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软件安全综合实践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课程简介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10515600" cy="5219431"/>
          </a:xfrm>
        </p:spPr>
        <p:txBody>
          <a:bodyPr/>
          <a:lstStyle/>
          <a:p>
            <a:r>
              <a:rPr kumimoji="1" lang="zh-CN" altLang="en-US" dirty="0"/>
              <a:t>实验目的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复习操作系统函数调用知识点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复习汇编语言寄存器知识点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学习使用编译器调试功能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为软件安全课程准备实验环境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知识点回顾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：如右图所示小程序，实现了什么功能？</a:t>
            </a:r>
            <a:endParaRPr kumimoji="1"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2"/>
            <a:ext cx="4876800" cy="51992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ctr" anchorCtr="0">
            <a:noAutofit/>
          </a:bodyPr>
          <a:lstStyle/>
          <a:p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lang="en-GB" altLang="zh-CN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&lt;iostream&gt;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add(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=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x+y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main(){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add(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(“%d\n”, n);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：如右图所示小程序，实现了什么功能？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右图小程序，通过函数调用实现了一个简单的整数加法功能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2"/>
            <a:ext cx="4876800" cy="51992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ctr" anchorCtr="0">
            <a:noAutofit/>
          </a:bodyPr>
          <a:lstStyle/>
          <a:p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lang="en-GB" altLang="zh-CN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&lt;iostream&gt;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add(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=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x+y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main(){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add(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(“%d\n”, n);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知识点回顾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：如右图所示小程序，实现了什么功能？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：这段小程序是怎样编译成一个可执行程序的？</a:t>
            </a:r>
            <a:endParaRPr kumimoji="1"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2"/>
            <a:ext cx="4876800" cy="51992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ctr" anchorCtr="0">
            <a:noAutofit/>
          </a:bodyPr>
          <a:lstStyle/>
          <a:p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lang="en-GB" altLang="zh-CN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&lt;iostream&gt;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add(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=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x+y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main(){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add(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(“%d\n”, n);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：这段小程序是怎样编译成一个可执行程序的？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编译：编译器检查源代码语法并对单个源文件产生可执行程序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链接：多个可执行文件进行关联（函数调用信息），增加启动程序等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2"/>
            <a:ext cx="4876800" cy="51992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ctr" anchorCtr="0">
            <a:noAutofit/>
          </a:bodyPr>
          <a:lstStyle/>
          <a:p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lang="en-GB" altLang="zh-CN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&lt;iostream&gt;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add(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=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x+y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main(){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add(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(“%d\n”, n);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知识点回顾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：如右图所示小程序，实现了什么功能？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：这段小程序是怎样编译成一个可执行程序的？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问题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：编译成的可执行程序是如何执行的？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2"/>
            <a:ext cx="4876800" cy="51992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ctr" anchorCtr="0">
            <a:noAutofit/>
          </a:bodyPr>
          <a:lstStyle/>
          <a:p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lang="en-GB" altLang="zh-CN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&lt;iostream&gt;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add(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=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x+y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main(){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add(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(“%d\n”, n);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：编译成的可执行程序是如何执行的？</a:t>
            </a:r>
            <a:endParaRPr kumimoji="1" lang="zh-CN" altLang="en-US" dirty="0"/>
          </a:p>
          <a:p>
            <a:pPr lvl="1"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在代码区中，指令以函数为单位进行存储。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在调用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函数的时候，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会从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函数对应的代码区跳转到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函数对应的代码区取指并执行。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是怎么知道要去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的代码区取指令？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在执行完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后，又是怎么知道跳回到</a:t>
            </a:r>
            <a:r>
              <a:rPr kumimoji="1" lang="en-GB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函数对应的代码区的呢？</a:t>
            </a: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2"/>
            <a:ext cx="4876800" cy="51992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ctr" anchorCtr="0">
            <a:noAutofit/>
          </a:bodyPr>
          <a:lstStyle/>
          <a:p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lang="en-GB" altLang="zh-CN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&lt;iostream&gt;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add(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=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x+y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main(){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add(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(“%d\n”, n);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函数调用过程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kumimoji="1"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在代码区中精确的跳转都是在与系统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巧妙地配合过程中完成的。在发生函数调用时，系统借助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来完成函数状态的保存和恢复。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当函数被调用时，系统会在栈上为这个函数开辟一块新的内存，叫做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函数栈帧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每个函数栈帧对应着一个未运行完的函数。栈帧中保存了该函数的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返回地址，参数，和局部变量</a:t>
            </a: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从逻辑上讲，函数栈帧就是一个函数执行的环境。当函数返回时，系统栈会弹出该函数所对应的栈帧。</a:t>
            </a: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2"/>
            <a:ext cx="4876800" cy="51992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ctr" anchorCtr="0">
            <a:noAutofit/>
          </a:bodyPr>
          <a:lstStyle/>
          <a:p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lang="en-GB" altLang="zh-CN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&lt;iostream&gt;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add(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=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x+y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main(){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add(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(“%d\n”, n);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3"/>
            <a:ext cx="5257800" cy="49170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函数调用过程</a:t>
            </a: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2"/>
            <a:ext cx="4876800" cy="519927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ctr" anchorCtr="0">
            <a:noAutofit/>
          </a:bodyPr>
          <a:lstStyle/>
          <a:p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lang="en-GB" altLang="zh-CN" sz="24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&lt;iostream&gt;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add(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 =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x+y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main(){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= add(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altLang="zh-CN" sz="2400" b="0" dirty="0">
                <a:solidFill>
                  <a:srgbClr val="09865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altLang="zh-CN" sz="2400" b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(“%d\n”, n);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altLang="zh-CN" sz="24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37282" y="1714075"/>
            <a:ext cx="1387654" cy="4002556"/>
            <a:chOff x="5035065" y="2308736"/>
            <a:chExt cx="1387654" cy="4002556"/>
          </a:xfrm>
        </p:grpSpPr>
        <p:grpSp>
          <p:nvGrpSpPr>
            <p:cNvPr id="7" name="组合 6"/>
            <p:cNvGrpSpPr/>
            <p:nvPr/>
          </p:nvGrpSpPr>
          <p:grpSpPr>
            <a:xfrm>
              <a:off x="5035065" y="2308736"/>
              <a:ext cx="1387654" cy="3583837"/>
              <a:chOff x="4988979" y="2567456"/>
              <a:chExt cx="1387654" cy="3583837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5041802" y="2910251"/>
                <a:ext cx="1282008" cy="2859805"/>
              </a:xfrm>
              <a:prstGeom prst="rect">
                <a:avLst/>
              </a:prstGeom>
              <a:noFill/>
              <a:ln w="9525">
                <a:solidFill>
                  <a:srgbClr val="0048AA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111788" y="2567456"/>
                <a:ext cx="113990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高地址</a:t>
                </a:r>
                <a:endParaRPr kumimoji="1"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5174878" y="5843516"/>
                <a:ext cx="1013725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低地址</a:t>
                </a:r>
                <a:endParaRPr kumimoji="1"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4988979" y="2910251"/>
                <a:ext cx="1387654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main</a:t>
                </a:r>
                <a:r>
                  <a: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函数栈帧</a:t>
                </a:r>
                <a:endParaRPr kumimoji="1"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3" name="直线连接符 12"/>
              <p:cNvCxnSpPr/>
              <p:nvPr/>
            </p:nvCxnSpPr>
            <p:spPr>
              <a:xfrm>
                <a:off x="5039672" y="3228979"/>
                <a:ext cx="1284138" cy="0"/>
              </a:xfrm>
              <a:prstGeom prst="line">
                <a:avLst/>
              </a:prstGeom>
              <a:ln w="12700">
                <a:solidFill>
                  <a:srgbClr val="0048AA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矩形 7"/>
            <p:cNvSpPr/>
            <p:nvPr/>
          </p:nvSpPr>
          <p:spPr>
            <a:xfrm>
              <a:off x="5085758" y="5951252"/>
              <a:ext cx="1282008" cy="360040"/>
            </a:xfrm>
            <a:prstGeom prst="rect">
              <a:avLst/>
            </a:prstGeom>
            <a:solidFill>
              <a:srgbClr val="0048A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728259" y="1714075"/>
            <a:ext cx="1387654" cy="4002556"/>
            <a:chOff x="5032935" y="2308736"/>
            <a:chExt cx="1387654" cy="4002556"/>
          </a:xfrm>
        </p:grpSpPr>
        <p:grpSp>
          <p:nvGrpSpPr>
            <p:cNvPr id="16" name="组合 15"/>
            <p:cNvGrpSpPr/>
            <p:nvPr/>
          </p:nvGrpSpPr>
          <p:grpSpPr>
            <a:xfrm>
              <a:off x="5032935" y="2308736"/>
              <a:ext cx="1387654" cy="3583837"/>
              <a:chOff x="4986849" y="2567456"/>
              <a:chExt cx="1387654" cy="3583837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5041802" y="2910251"/>
                <a:ext cx="1282008" cy="2859805"/>
              </a:xfrm>
              <a:prstGeom prst="rect">
                <a:avLst/>
              </a:prstGeom>
              <a:noFill/>
              <a:ln w="9525">
                <a:solidFill>
                  <a:srgbClr val="0048AA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5111788" y="2567456"/>
                <a:ext cx="113990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高地址</a:t>
                </a:r>
                <a:endParaRPr kumimoji="1"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5174878" y="5843516"/>
                <a:ext cx="1013725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低地址</a:t>
                </a:r>
                <a:endParaRPr kumimoji="1"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986849" y="2900129"/>
                <a:ext cx="1387654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main</a:t>
                </a:r>
                <a:r>
                  <a: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函数栈帧</a:t>
                </a:r>
                <a:endParaRPr kumimoji="1"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2" name="直线连接符 21"/>
              <p:cNvCxnSpPr/>
              <p:nvPr/>
            </p:nvCxnSpPr>
            <p:spPr>
              <a:xfrm>
                <a:off x="5039672" y="3228979"/>
                <a:ext cx="1284138" cy="0"/>
              </a:xfrm>
              <a:prstGeom prst="line">
                <a:avLst/>
              </a:prstGeom>
              <a:ln w="12700">
                <a:solidFill>
                  <a:srgbClr val="0048AA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" name="矩形 16"/>
            <p:cNvSpPr/>
            <p:nvPr/>
          </p:nvSpPr>
          <p:spPr>
            <a:xfrm>
              <a:off x="5085758" y="5951252"/>
              <a:ext cx="1282008" cy="360040"/>
            </a:xfrm>
            <a:prstGeom prst="rect">
              <a:avLst/>
            </a:prstGeom>
            <a:solidFill>
              <a:srgbClr val="0048A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2757768" y="2409996"/>
            <a:ext cx="1387654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kumimoji="1"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函数栈帧</a:t>
            </a:r>
            <a:endParaRPr kumimoji="1"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线连接符 23"/>
          <p:cNvCxnSpPr/>
          <p:nvPr/>
        </p:nvCxnSpPr>
        <p:spPr>
          <a:xfrm>
            <a:off x="2781082" y="2736026"/>
            <a:ext cx="1284138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4272059" y="1714075"/>
            <a:ext cx="1387654" cy="4002556"/>
            <a:chOff x="5035065" y="2308736"/>
            <a:chExt cx="1387654" cy="4002556"/>
          </a:xfrm>
        </p:grpSpPr>
        <p:grpSp>
          <p:nvGrpSpPr>
            <p:cNvPr id="26" name="组合 25"/>
            <p:cNvGrpSpPr/>
            <p:nvPr/>
          </p:nvGrpSpPr>
          <p:grpSpPr>
            <a:xfrm>
              <a:off x="5035065" y="2308736"/>
              <a:ext cx="1387654" cy="3583837"/>
              <a:chOff x="4988979" y="2567456"/>
              <a:chExt cx="1387654" cy="3583837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5041802" y="2910251"/>
                <a:ext cx="1282008" cy="2859805"/>
              </a:xfrm>
              <a:prstGeom prst="rect">
                <a:avLst/>
              </a:prstGeom>
              <a:noFill/>
              <a:ln w="9525">
                <a:solidFill>
                  <a:srgbClr val="0048AA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111788" y="2567456"/>
                <a:ext cx="113990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高地址</a:t>
                </a:r>
                <a:endParaRPr kumimoji="1"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5174878" y="5843516"/>
                <a:ext cx="1013725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低地址</a:t>
                </a:r>
                <a:endParaRPr kumimoji="1"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4988979" y="2910251"/>
                <a:ext cx="1387654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main</a:t>
                </a:r>
                <a:r>
                  <a:rPr kumimoji="1"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函数栈帧</a:t>
                </a:r>
                <a:endParaRPr kumimoji="1"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2" name="直线连接符 31"/>
              <p:cNvCxnSpPr/>
              <p:nvPr/>
            </p:nvCxnSpPr>
            <p:spPr>
              <a:xfrm>
                <a:off x="5039672" y="3228979"/>
                <a:ext cx="1284138" cy="0"/>
              </a:xfrm>
              <a:prstGeom prst="line">
                <a:avLst/>
              </a:prstGeom>
              <a:ln w="12700">
                <a:solidFill>
                  <a:srgbClr val="0048AA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" name="矩形 26"/>
            <p:cNvSpPr/>
            <p:nvPr/>
          </p:nvSpPr>
          <p:spPr>
            <a:xfrm>
              <a:off x="5085758" y="5951252"/>
              <a:ext cx="1282008" cy="360040"/>
            </a:xfrm>
            <a:prstGeom prst="rect">
              <a:avLst/>
            </a:prstGeom>
            <a:solidFill>
              <a:srgbClr val="0048A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766764" y="1052513"/>
            <a:ext cx="4985242" cy="504280"/>
            <a:chOff x="766764" y="1052513"/>
            <a:chExt cx="4985242" cy="504280"/>
          </a:xfrm>
        </p:grpSpPr>
        <p:sp>
          <p:nvSpPr>
            <p:cNvPr id="19" name="矩形 18"/>
            <p:cNvSpPr/>
            <p:nvPr/>
          </p:nvSpPr>
          <p:spPr>
            <a:xfrm>
              <a:off x="766764" y="1052513"/>
              <a:ext cx="576708" cy="504280"/>
            </a:xfrm>
            <a:prstGeom prst="rect">
              <a:avLst/>
            </a:prstGeom>
            <a:solidFill>
              <a:srgbClr val="D6D6D6"/>
            </a:solidFill>
            <a:ln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343471" y="1052513"/>
              <a:ext cx="4408535" cy="504280"/>
            </a:xfrm>
            <a:prstGeom prst="rect">
              <a:avLst/>
            </a:prstGeom>
            <a:noFill/>
            <a:ln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参数入栈（从右向左）</a:t>
              </a:r>
              <a:endPara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766764" y="1772816"/>
            <a:ext cx="4985242" cy="504280"/>
            <a:chOff x="766764" y="1052513"/>
            <a:chExt cx="4985242" cy="504280"/>
          </a:xfrm>
        </p:grpSpPr>
        <p:sp>
          <p:nvSpPr>
            <p:cNvPr id="34" name="矩形 33"/>
            <p:cNvSpPr/>
            <p:nvPr/>
          </p:nvSpPr>
          <p:spPr>
            <a:xfrm>
              <a:off x="766764" y="1052513"/>
              <a:ext cx="576708" cy="504280"/>
            </a:xfrm>
            <a:prstGeom prst="rect">
              <a:avLst/>
            </a:prstGeom>
            <a:solidFill>
              <a:srgbClr val="D6D6D6"/>
            </a:solidFill>
            <a:ln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343472" y="1052513"/>
              <a:ext cx="4408534" cy="504280"/>
            </a:xfrm>
            <a:prstGeom prst="rect">
              <a:avLst/>
            </a:prstGeom>
            <a:noFill/>
            <a:ln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返回地址入栈</a:t>
              </a:r>
              <a:endPara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766764" y="2493119"/>
            <a:ext cx="576708" cy="1367482"/>
          </a:xfrm>
          <a:prstGeom prst="rect">
            <a:avLst/>
          </a:prstGeom>
          <a:solidFill>
            <a:srgbClr val="D6D6D6"/>
          </a:solidFill>
          <a:ln>
            <a:solidFill>
              <a:srgbClr val="D6D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kumimoji="1"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343471" y="2493118"/>
            <a:ext cx="4369717" cy="1367483"/>
          </a:xfrm>
          <a:prstGeom prst="rect">
            <a:avLst/>
          </a:prstGeom>
          <a:noFill/>
          <a:ln>
            <a:solidFill>
              <a:srgbClr val="D6D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762249" y="4076623"/>
            <a:ext cx="4946424" cy="504280"/>
            <a:chOff x="766764" y="1052513"/>
            <a:chExt cx="4946424" cy="504280"/>
          </a:xfrm>
        </p:grpSpPr>
        <p:sp>
          <p:nvSpPr>
            <p:cNvPr id="40" name="矩形 39"/>
            <p:cNvSpPr/>
            <p:nvPr/>
          </p:nvSpPr>
          <p:spPr>
            <a:xfrm>
              <a:off x="766764" y="1052513"/>
              <a:ext cx="576708" cy="504280"/>
            </a:xfrm>
            <a:prstGeom prst="rect">
              <a:avLst/>
            </a:prstGeom>
            <a:solidFill>
              <a:srgbClr val="D6D6D6"/>
            </a:solidFill>
            <a:ln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kumimoji="1"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343472" y="1052513"/>
              <a:ext cx="4369716" cy="504280"/>
            </a:xfrm>
            <a:prstGeom prst="rect">
              <a:avLst/>
            </a:prstGeom>
            <a:noFill/>
            <a:ln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函数执行</a:t>
              </a:r>
              <a:endPara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762249" y="4796926"/>
            <a:ext cx="576708" cy="1367482"/>
          </a:xfrm>
          <a:prstGeom prst="rect">
            <a:avLst/>
          </a:prstGeom>
          <a:solidFill>
            <a:srgbClr val="D6D6D6"/>
          </a:solidFill>
          <a:ln>
            <a:solidFill>
              <a:srgbClr val="D6D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kumimoji="1"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338957" y="4796925"/>
            <a:ext cx="4369716" cy="1367483"/>
          </a:xfrm>
          <a:prstGeom prst="rect">
            <a:avLst/>
          </a:prstGeom>
          <a:noFill/>
          <a:ln>
            <a:solidFill>
              <a:srgbClr val="D6D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168008" y="1052513"/>
            <a:ext cx="5222850" cy="1228288"/>
            <a:chOff x="351902" y="1052513"/>
            <a:chExt cx="5222850" cy="1228288"/>
          </a:xfrm>
        </p:grpSpPr>
        <p:sp>
          <p:nvSpPr>
            <p:cNvPr id="46" name="矩形 45"/>
            <p:cNvSpPr/>
            <p:nvPr/>
          </p:nvSpPr>
          <p:spPr>
            <a:xfrm>
              <a:off x="351902" y="1052513"/>
              <a:ext cx="5222850" cy="1224583"/>
            </a:xfrm>
            <a:prstGeom prst="rect">
              <a:avLst/>
            </a:prstGeom>
            <a:noFill/>
            <a:ln>
              <a:solidFill>
                <a:srgbClr val="D6D6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25802" y="1080472"/>
              <a:ext cx="480684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dirty="0">
                  <a:solidFill>
                    <a:srgbClr val="795E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 </a:t>
              </a:r>
              <a:r>
                <a:rPr lang="en-GB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arg1,</a:t>
              </a:r>
              <a:r>
                <a:rPr lang="en-GB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int 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arg2 ) {</a:t>
              </a:r>
              <a:endParaRPr lang="en-GB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/>
              <a:r>
                <a:rPr lang="en-GB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char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GB" altLang="zh-CN" dirty="0">
                  <a:solidFill>
                    <a:srgbClr val="001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</a:t>
              </a:r>
              <a:r>
                <a:rPr lang="en-GB" altLang="zh-CN" dirty="0">
                  <a:solidFill>
                    <a:srgbClr val="0986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];</a:t>
              </a:r>
              <a:endParaRPr lang="en-GB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/>
              <a:r>
                <a:rPr lang="en-GB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char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GB" altLang="zh-CN" dirty="0">
                  <a:solidFill>
                    <a:srgbClr val="001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</a:t>
              </a:r>
              <a:r>
                <a:rPr lang="en-GB" altLang="zh-CN" dirty="0">
                  <a:solidFill>
                    <a:srgbClr val="09865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];</a:t>
              </a:r>
              <a:endParaRPr lang="en-GB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GB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  <a:endParaRPr lang="en-GB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6478812" y="2858438"/>
            <a:ext cx="1139906" cy="2949332"/>
          </a:xfrm>
          <a:prstGeom prst="rect">
            <a:avLst/>
          </a:prstGeom>
          <a:noFill/>
          <a:ln w="9525">
            <a:solidFill>
              <a:srgbClr val="0048A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478812" y="2489106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高地址</a:t>
            </a:r>
            <a:endParaRPr kumimoji="1" lang="zh-CN" altLang="en-US" dirty="0"/>
          </a:p>
        </p:txBody>
      </p:sp>
      <p:sp>
        <p:nvSpPr>
          <p:cNvPr id="50" name="文本框 49"/>
          <p:cNvSpPr txBox="1"/>
          <p:nvPr/>
        </p:nvSpPr>
        <p:spPr>
          <a:xfrm>
            <a:off x="6541902" y="5805264"/>
            <a:ext cx="1013725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低地址</a:t>
            </a:r>
            <a:endParaRPr kumimoji="1" lang="zh-CN" altLang="en-US" dirty="0"/>
          </a:p>
        </p:txBody>
      </p:sp>
      <p:grpSp>
        <p:nvGrpSpPr>
          <p:cNvPr id="51" name="组合 50"/>
          <p:cNvGrpSpPr/>
          <p:nvPr/>
        </p:nvGrpSpPr>
        <p:grpSpPr>
          <a:xfrm>
            <a:off x="8645333" y="2860304"/>
            <a:ext cx="1013731" cy="307777"/>
            <a:chOff x="10043698" y="3856703"/>
            <a:chExt cx="1013731" cy="307777"/>
          </a:xfrm>
        </p:grpSpPr>
        <p:sp>
          <p:nvSpPr>
            <p:cNvPr id="52" name="文本框 51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ESP</a:t>
              </a:r>
              <a:endParaRPr kumimoji="1" lang="zh-CN" altLang="en-US" sz="1400" dirty="0"/>
            </a:p>
          </p:txBody>
        </p:sp>
        <p:cxnSp>
          <p:nvCxnSpPr>
            <p:cNvPr id="53" name="直线箭头连接符 52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54" name="组合 53"/>
          <p:cNvGrpSpPr/>
          <p:nvPr/>
        </p:nvGrpSpPr>
        <p:grpSpPr>
          <a:xfrm>
            <a:off x="7780468" y="2860304"/>
            <a:ext cx="1013731" cy="307777"/>
            <a:chOff x="10043698" y="3856703"/>
            <a:chExt cx="1013731" cy="307777"/>
          </a:xfrm>
        </p:grpSpPr>
        <p:sp>
          <p:nvSpPr>
            <p:cNvPr id="55" name="文本框 54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EBP</a:t>
              </a:r>
              <a:endParaRPr kumimoji="1" lang="zh-CN" altLang="en-US" sz="1400" dirty="0"/>
            </a:p>
          </p:txBody>
        </p:sp>
        <p:cxnSp>
          <p:nvCxnSpPr>
            <p:cNvPr id="56" name="直线箭头连接符 55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57" name="直线连接符 56"/>
          <p:cNvCxnSpPr/>
          <p:nvPr/>
        </p:nvCxnSpPr>
        <p:spPr>
          <a:xfrm>
            <a:off x="6478812" y="3199516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6473902" y="3194840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arg2</a:t>
            </a:r>
            <a:endParaRPr kumimoji="1" lang="en-US" altLang="zh-CN" dirty="0"/>
          </a:p>
        </p:txBody>
      </p:sp>
      <p:cxnSp>
        <p:nvCxnSpPr>
          <p:cNvPr id="59" name="直线连接符 58"/>
          <p:cNvCxnSpPr/>
          <p:nvPr/>
        </p:nvCxnSpPr>
        <p:spPr>
          <a:xfrm>
            <a:off x="6478812" y="3564172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7775129" y="3234504"/>
            <a:ext cx="1013731" cy="307777"/>
            <a:chOff x="10043698" y="3856703"/>
            <a:chExt cx="1013731" cy="307777"/>
          </a:xfrm>
        </p:grpSpPr>
        <p:sp>
          <p:nvSpPr>
            <p:cNvPr id="61" name="文本框 60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ESP</a:t>
              </a:r>
              <a:endParaRPr kumimoji="1" lang="zh-CN" altLang="en-US" sz="1400" dirty="0"/>
            </a:p>
          </p:txBody>
        </p:sp>
        <p:cxnSp>
          <p:nvCxnSpPr>
            <p:cNvPr id="62" name="直线箭头连接符 61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3" name="文本框 62"/>
          <p:cNvSpPr txBox="1"/>
          <p:nvPr/>
        </p:nvSpPr>
        <p:spPr>
          <a:xfrm>
            <a:off x="6473902" y="3574885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arg1</a:t>
            </a:r>
            <a:endParaRPr kumimoji="1" lang="en-US" altLang="zh-CN" dirty="0"/>
          </a:p>
        </p:txBody>
      </p:sp>
      <p:cxnSp>
        <p:nvCxnSpPr>
          <p:cNvPr id="64" name="直线连接符 63"/>
          <p:cNvCxnSpPr/>
          <p:nvPr/>
        </p:nvCxnSpPr>
        <p:spPr>
          <a:xfrm>
            <a:off x="6478812" y="3951986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组合 64"/>
          <p:cNvGrpSpPr/>
          <p:nvPr/>
        </p:nvGrpSpPr>
        <p:grpSpPr>
          <a:xfrm>
            <a:off x="7766118" y="3594441"/>
            <a:ext cx="1013731" cy="307777"/>
            <a:chOff x="10043698" y="3856703"/>
            <a:chExt cx="1013731" cy="307777"/>
          </a:xfrm>
        </p:grpSpPr>
        <p:sp>
          <p:nvSpPr>
            <p:cNvPr id="66" name="文本框 65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ESP</a:t>
              </a:r>
              <a:endParaRPr kumimoji="1" lang="zh-CN" altLang="en-US" sz="1400" dirty="0"/>
            </a:p>
          </p:txBody>
        </p:sp>
        <p:cxnSp>
          <p:nvCxnSpPr>
            <p:cNvPr id="67" name="直线箭头连接符 66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8" name="文本框 67"/>
          <p:cNvSpPr txBox="1"/>
          <p:nvPr/>
        </p:nvSpPr>
        <p:spPr>
          <a:xfrm>
            <a:off x="6473902" y="3951143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返回地址</a:t>
            </a:r>
            <a:endParaRPr kumimoji="1" lang="en-US" altLang="zh-CN" dirty="0"/>
          </a:p>
        </p:txBody>
      </p:sp>
      <p:cxnSp>
        <p:nvCxnSpPr>
          <p:cNvPr id="69" name="直线连接符 68"/>
          <p:cNvCxnSpPr/>
          <p:nvPr/>
        </p:nvCxnSpPr>
        <p:spPr>
          <a:xfrm>
            <a:off x="6478811" y="4339598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/>
        </p:nvGrpSpPr>
        <p:grpSpPr>
          <a:xfrm>
            <a:off x="7763870" y="4000275"/>
            <a:ext cx="1013731" cy="307777"/>
            <a:chOff x="10043698" y="3856703"/>
            <a:chExt cx="1013731" cy="307777"/>
          </a:xfrm>
        </p:grpSpPr>
        <p:sp>
          <p:nvSpPr>
            <p:cNvPr id="71" name="文本框 70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ESP</a:t>
              </a:r>
              <a:endParaRPr kumimoji="1" lang="zh-CN" altLang="en-US" sz="1400" dirty="0"/>
            </a:p>
          </p:txBody>
        </p:sp>
        <p:cxnSp>
          <p:nvCxnSpPr>
            <p:cNvPr id="72" name="直线箭头连接符 71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73" name="文本框 72"/>
          <p:cNvSpPr txBox="1"/>
          <p:nvPr/>
        </p:nvSpPr>
        <p:spPr>
          <a:xfrm>
            <a:off x="6473902" y="4338956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EBP</a:t>
            </a:r>
            <a:endParaRPr kumimoji="1" lang="en-US" altLang="zh-CN" dirty="0"/>
          </a:p>
        </p:txBody>
      </p:sp>
      <p:cxnSp>
        <p:nvCxnSpPr>
          <p:cNvPr id="74" name="直线连接符 73"/>
          <p:cNvCxnSpPr/>
          <p:nvPr/>
        </p:nvCxnSpPr>
        <p:spPr>
          <a:xfrm>
            <a:off x="6478811" y="4713613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5" name="组合 74"/>
          <p:cNvGrpSpPr/>
          <p:nvPr/>
        </p:nvGrpSpPr>
        <p:grpSpPr>
          <a:xfrm>
            <a:off x="7763631" y="4369495"/>
            <a:ext cx="1013731" cy="307777"/>
            <a:chOff x="10043698" y="3856703"/>
            <a:chExt cx="1013731" cy="307777"/>
          </a:xfrm>
        </p:grpSpPr>
        <p:sp>
          <p:nvSpPr>
            <p:cNvPr id="76" name="文本框 75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ESP</a:t>
              </a:r>
              <a:endParaRPr kumimoji="1" lang="zh-CN" altLang="en-US" sz="1400" dirty="0"/>
            </a:p>
          </p:txBody>
        </p:sp>
        <p:cxnSp>
          <p:nvCxnSpPr>
            <p:cNvPr id="77" name="直线箭头连接符 76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8617428" y="4376469"/>
            <a:ext cx="1013731" cy="307777"/>
            <a:chOff x="10043698" y="3856703"/>
            <a:chExt cx="1013731" cy="307777"/>
          </a:xfrm>
        </p:grpSpPr>
        <p:sp>
          <p:nvSpPr>
            <p:cNvPr id="79" name="文本框 78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EBP</a:t>
              </a:r>
              <a:endParaRPr kumimoji="1" lang="zh-CN" altLang="en-US" sz="1400" dirty="0"/>
            </a:p>
          </p:txBody>
        </p:sp>
        <p:cxnSp>
          <p:nvCxnSpPr>
            <p:cNvPr id="80" name="直线箭头连接符 79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81" name="组合 80"/>
          <p:cNvGrpSpPr/>
          <p:nvPr/>
        </p:nvGrpSpPr>
        <p:grpSpPr>
          <a:xfrm>
            <a:off x="7763871" y="5492409"/>
            <a:ext cx="1013731" cy="307777"/>
            <a:chOff x="10043698" y="3856703"/>
            <a:chExt cx="1013731" cy="307777"/>
          </a:xfrm>
        </p:grpSpPr>
        <p:sp>
          <p:nvSpPr>
            <p:cNvPr id="82" name="文本框 81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ESP</a:t>
              </a:r>
              <a:endParaRPr kumimoji="1" lang="zh-CN" altLang="en-US" sz="1400" dirty="0"/>
            </a:p>
          </p:txBody>
        </p:sp>
        <p:cxnSp>
          <p:nvCxnSpPr>
            <p:cNvPr id="83" name="直线箭头连接符 82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84" name="文本框 83"/>
          <p:cNvSpPr txBox="1"/>
          <p:nvPr/>
        </p:nvSpPr>
        <p:spPr>
          <a:xfrm>
            <a:off x="6474084" y="4718296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</a:t>
            </a:r>
            <a:endParaRPr kumimoji="1" lang="en-US" altLang="zh-CN" dirty="0"/>
          </a:p>
        </p:txBody>
      </p:sp>
      <p:cxnSp>
        <p:nvCxnSpPr>
          <p:cNvPr id="85" name="直线连接符 84"/>
          <p:cNvCxnSpPr/>
          <p:nvPr/>
        </p:nvCxnSpPr>
        <p:spPr>
          <a:xfrm>
            <a:off x="6478811" y="5082945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6478810" y="5072234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b</a:t>
            </a:r>
            <a:endParaRPr kumimoji="1" lang="en-US" altLang="zh-CN" dirty="0"/>
          </a:p>
        </p:txBody>
      </p:sp>
      <p:cxnSp>
        <p:nvCxnSpPr>
          <p:cNvPr id="87" name="直线连接符 86"/>
          <p:cNvCxnSpPr/>
          <p:nvPr/>
        </p:nvCxnSpPr>
        <p:spPr>
          <a:xfrm>
            <a:off x="6478811" y="5448572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>
            <a:off x="9510197" y="4360918"/>
            <a:ext cx="1013731" cy="307777"/>
            <a:chOff x="10043698" y="3856703"/>
            <a:chExt cx="1013731" cy="307777"/>
          </a:xfrm>
        </p:grpSpPr>
        <p:sp>
          <p:nvSpPr>
            <p:cNvPr id="89" name="文本框 88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ESP</a:t>
              </a:r>
              <a:endParaRPr kumimoji="1" lang="zh-CN" altLang="en-US" sz="1400" dirty="0"/>
            </a:p>
          </p:txBody>
        </p:sp>
        <p:cxnSp>
          <p:nvCxnSpPr>
            <p:cNvPr id="90" name="直线箭头连接符 89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9510198" y="2860304"/>
            <a:ext cx="1013731" cy="307777"/>
            <a:chOff x="10043698" y="3856703"/>
            <a:chExt cx="1013731" cy="307777"/>
          </a:xfrm>
        </p:grpSpPr>
        <p:sp>
          <p:nvSpPr>
            <p:cNvPr id="92" name="文本框 91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EBP</a:t>
              </a:r>
              <a:endParaRPr kumimoji="1" lang="zh-CN" altLang="en-US" sz="1400" dirty="0"/>
            </a:p>
          </p:txBody>
        </p:sp>
        <p:cxnSp>
          <p:nvCxnSpPr>
            <p:cNvPr id="93" name="直线箭头连接符 92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94" name="组合 93"/>
          <p:cNvGrpSpPr/>
          <p:nvPr/>
        </p:nvGrpSpPr>
        <p:grpSpPr>
          <a:xfrm>
            <a:off x="8617428" y="3976244"/>
            <a:ext cx="1013731" cy="307777"/>
            <a:chOff x="10043698" y="3856703"/>
            <a:chExt cx="1013731" cy="307777"/>
          </a:xfrm>
        </p:grpSpPr>
        <p:sp>
          <p:nvSpPr>
            <p:cNvPr id="95" name="文本框 94"/>
            <p:cNvSpPr txBox="1"/>
            <p:nvPr/>
          </p:nvSpPr>
          <p:spPr>
            <a:xfrm>
              <a:off x="10043698" y="3856703"/>
              <a:ext cx="1013731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ESP</a:t>
              </a:r>
              <a:endParaRPr kumimoji="1" lang="zh-CN" altLang="en-US" sz="1400" dirty="0"/>
            </a:p>
          </p:txBody>
        </p:sp>
        <p:cxnSp>
          <p:nvCxnSpPr>
            <p:cNvPr id="96" name="直线箭头连接符 95"/>
            <p:cNvCxnSpPr/>
            <p:nvPr/>
          </p:nvCxnSpPr>
          <p:spPr>
            <a:xfrm flipH="1">
              <a:off x="10054584" y="4007397"/>
              <a:ext cx="286846" cy="319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97" name="矩形 96"/>
          <p:cNvSpPr/>
          <p:nvPr/>
        </p:nvSpPr>
        <p:spPr>
          <a:xfrm>
            <a:off x="6168008" y="2496213"/>
            <a:ext cx="5222850" cy="3668195"/>
          </a:xfrm>
          <a:prstGeom prst="rect">
            <a:avLst/>
          </a:prstGeom>
          <a:noFill/>
          <a:ln>
            <a:solidFill>
              <a:srgbClr val="D6D6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9393303" y="5793820"/>
            <a:ext cx="1139906" cy="360040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栈区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08679" y="3469564"/>
            <a:ext cx="168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 20(%ESP)</a:t>
            </a:r>
            <a:endParaRPr kumimoji="1"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63871" y="251156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调整栈帧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622965" y="2826121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push EBP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613589" y="3134046"/>
            <a:ext cx="2047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%ESP, %EBP</a:t>
            </a:r>
            <a:endParaRPr kumimoji="1"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28678" y="5779851"/>
            <a:ext cx="487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endParaRPr kumimoji="1"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3313" y="479492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14511" y="5111295"/>
            <a:ext cx="2047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%EBP, %ESP</a:t>
            </a:r>
            <a:endParaRPr kumimoji="1"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08679" y="5438438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 %EBP</a:t>
            </a:r>
            <a:endParaRPr kumimoji="1"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3" grpId="0" animBg="1"/>
      <p:bldP spid="44" grpId="0" animBg="1"/>
      <p:bldP spid="48" grpId="0" animBg="1"/>
      <p:bldP spid="49" grpId="0"/>
      <p:bldP spid="50" grpId="0"/>
      <p:bldP spid="58" grpId="0"/>
      <p:bldP spid="63" grpId="0"/>
      <p:bldP spid="68" grpId="0"/>
      <p:bldP spid="73" grpId="0"/>
      <p:bldP spid="84" grpId="0"/>
      <p:bldP spid="86" grpId="0"/>
      <p:bldP spid="97" grpId="0" animBg="1"/>
      <p:bldP spid="98" grpId="0" animBg="1"/>
      <p:bldP spid="2" grpId="0"/>
      <p:bldP spid="3" grpId="0"/>
      <p:bldP spid="99" grpId="0"/>
      <p:bldP spid="100" grpId="0"/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调试模式进行编译</a:t>
            </a: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6643" y="1442201"/>
            <a:ext cx="7558768" cy="4610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调试模式进行编译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5.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main</a:t>
            </a:r>
            <a:r>
              <a:rPr kumimoji="1" lang="zh-CN" altLang="en-US" sz="2000" dirty="0"/>
              <a:t>函数内“</a:t>
            </a:r>
            <a:r>
              <a:rPr kumimoji="1" lang="en-US" altLang="zh-CN" sz="2000" dirty="0"/>
              <a:t>n = add(1,3);”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处设置一个断点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6. </a:t>
            </a:r>
            <a:r>
              <a:rPr kumimoji="1" lang="zh-CN" altLang="en-US" sz="2000" dirty="0"/>
              <a:t>按</a:t>
            </a:r>
            <a:r>
              <a:rPr kumimoji="1" lang="en-US" altLang="zh-CN" sz="2000" dirty="0"/>
              <a:t>F5</a:t>
            </a:r>
            <a:r>
              <a:rPr kumimoji="1" lang="zh-CN" altLang="en-US" sz="2000" dirty="0"/>
              <a:t>进入调试状态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7. </a:t>
            </a:r>
            <a:r>
              <a:rPr kumimoji="1" lang="zh-CN" altLang="en-US" sz="2000" dirty="0"/>
              <a:t>点右键，选择“转到反汇编”</a:t>
            </a:r>
            <a:endParaRPr kumimoji="1" lang="zh-CN" altLang="en-US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9491" y="2000176"/>
            <a:ext cx="5994708" cy="28576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调试模式进行编译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5.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main</a:t>
            </a:r>
            <a:r>
              <a:rPr kumimoji="1" lang="zh-CN" altLang="en-US" sz="2000" dirty="0"/>
              <a:t>函数内“</a:t>
            </a:r>
            <a:r>
              <a:rPr kumimoji="1" lang="en-US" altLang="zh-CN" sz="2000" dirty="0"/>
              <a:t>n = add(1,3);”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处设置一个断点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6. </a:t>
            </a:r>
            <a:r>
              <a:rPr kumimoji="1" lang="zh-CN" altLang="en-US" sz="2000" dirty="0"/>
              <a:t>按</a:t>
            </a:r>
            <a:r>
              <a:rPr kumimoji="1" lang="en-US" altLang="zh-CN" sz="2000" dirty="0"/>
              <a:t>F5</a:t>
            </a:r>
            <a:r>
              <a:rPr kumimoji="1" lang="zh-CN" altLang="en-US" sz="2000" dirty="0"/>
              <a:t>进入调试状态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7. </a:t>
            </a:r>
            <a:r>
              <a:rPr kumimoji="1" lang="zh-CN" altLang="en-US" sz="2000" dirty="0"/>
              <a:t>点右键，选择“转到反汇编”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8. </a:t>
            </a:r>
            <a:r>
              <a:rPr kumimoji="1" lang="zh-CN" altLang="en-US" sz="2000" dirty="0"/>
              <a:t>点</a:t>
            </a:r>
            <a:r>
              <a:rPr kumimoji="1" lang="en-GB" altLang="zh-CN" sz="2000" dirty="0"/>
              <a:t>F11</a:t>
            </a:r>
            <a:r>
              <a:rPr kumimoji="1" lang="zh-CN" altLang="en-US" sz="2000" dirty="0"/>
              <a:t>单步执行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9. </a:t>
            </a:r>
            <a:r>
              <a:rPr kumimoji="1" lang="zh-CN" altLang="en-US" sz="2000" dirty="0"/>
              <a:t>观察寄存器窗口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和内存窗口</a:t>
            </a: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485" y="957532"/>
            <a:ext cx="6705945" cy="439442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调试模式进行编译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5.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main</a:t>
            </a:r>
            <a:r>
              <a:rPr kumimoji="1" lang="zh-CN" altLang="en-US" sz="2000" dirty="0"/>
              <a:t>函数内“</a:t>
            </a:r>
            <a:r>
              <a:rPr kumimoji="1" lang="en-US" altLang="zh-CN" sz="2000" dirty="0"/>
              <a:t>n = add(1,3);”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处设置一个断点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6. </a:t>
            </a:r>
            <a:r>
              <a:rPr kumimoji="1" lang="zh-CN" altLang="en-US" sz="2000" dirty="0"/>
              <a:t>按</a:t>
            </a:r>
            <a:r>
              <a:rPr kumimoji="1" lang="en-US" altLang="zh-CN" sz="2000" dirty="0"/>
              <a:t>F5</a:t>
            </a:r>
            <a:r>
              <a:rPr kumimoji="1" lang="zh-CN" altLang="en-US" sz="2000" dirty="0"/>
              <a:t>进入调试状态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7. </a:t>
            </a:r>
            <a:r>
              <a:rPr kumimoji="1" lang="zh-CN" altLang="en-US" sz="2000" dirty="0"/>
              <a:t>点右键，选择“转到反汇编”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8. </a:t>
            </a:r>
            <a:r>
              <a:rPr kumimoji="1" lang="zh-CN" altLang="en-US" sz="2000" dirty="0"/>
              <a:t>点</a:t>
            </a:r>
            <a:r>
              <a:rPr kumimoji="1" lang="en-GB" altLang="zh-CN" sz="2000" dirty="0"/>
              <a:t>F11</a:t>
            </a:r>
            <a:r>
              <a:rPr kumimoji="1" lang="zh-CN" altLang="en-US" sz="2000" dirty="0"/>
              <a:t>单步执行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9. </a:t>
            </a:r>
            <a:r>
              <a:rPr kumimoji="1" lang="zh-CN" altLang="en-US" sz="2000" dirty="0"/>
              <a:t>观察寄存器窗口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和内存窗口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10. </a:t>
            </a:r>
            <a:r>
              <a:rPr kumimoji="1" lang="zh-CN" altLang="en-US" sz="2000" dirty="0"/>
              <a:t>观察参数入栈</a:t>
            </a: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9187" y="1370034"/>
            <a:ext cx="6705945" cy="439442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调试模式进行编译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5.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main</a:t>
            </a:r>
            <a:r>
              <a:rPr kumimoji="1" lang="zh-CN" altLang="en-US" sz="2000" dirty="0"/>
              <a:t>函数内“</a:t>
            </a:r>
            <a:r>
              <a:rPr kumimoji="1" lang="en-US" altLang="zh-CN" sz="2000" dirty="0"/>
              <a:t>n = add(1,3);”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处设置一个断点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6. </a:t>
            </a:r>
            <a:r>
              <a:rPr kumimoji="1" lang="zh-CN" altLang="en-US" sz="2000" dirty="0"/>
              <a:t>按</a:t>
            </a:r>
            <a:r>
              <a:rPr kumimoji="1" lang="en-US" altLang="zh-CN" sz="2000" dirty="0"/>
              <a:t>F5</a:t>
            </a:r>
            <a:r>
              <a:rPr kumimoji="1" lang="zh-CN" altLang="en-US" sz="2000" dirty="0"/>
              <a:t>进入调试状态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7. </a:t>
            </a:r>
            <a:r>
              <a:rPr kumimoji="1" lang="zh-CN" altLang="en-US" sz="2000" dirty="0"/>
              <a:t>点右键，选择“转到反汇编”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8. </a:t>
            </a:r>
            <a:r>
              <a:rPr kumimoji="1" lang="zh-CN" altLang="en-US" sz="2000" dirty="0"/>
              <a:t>点</a:t>
            </a:r>
            <a:r>
              <a:rPr kumimoji="1" lang="en-GB" altLang="zh-CN" sz="2000" dirty="0"/>
              <a:t>F11</a:t>
            </a:r>
            <a:r>
              <a:rPr kumimoji="1" lang="zh-CN" altLang="en-US" sz="2000" dirty="0"/>
              <a:t>单步执行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9. </a:t>
            </a:r>
            <a:r>
              <a:rPr kumimoji="1" lang="zh-CN" altLang="en-US" sz="2000" dirty="0"/>
              <a:t>观察寄存器窗口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和内存窗口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10. </a:t>
            </a:r>
            <a:r>
              <a:rPr kumimoji="1" lang="zh-CN" altLang="en-US" sz="2000" dirty="0"/>
              <a:t>观察参数入栈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11. </a:t>
            </a:r>
            <a:r>
              <a:rPr kumimoji="1" lang="zh-CN" altLang="en-US" sz="2000" dirty="0"/>
              <a:t>观察返回地址入栈</a:t>
            </a: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453" y="1519819"/>
            <a:ext cx="7340977" cy="439442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调试模式进行编译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5.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main</a:t>
            </a:r>
            <a:r>
              <a:rPr kumimoji="1" lang="zh-CN" altLang="en-US" sz="2000" dirty="0"/>
              <a:t>函数内“</a:t>
            </a:r>
            <a:r>
              <a:rPr kumimoji="1" lang="en-US" altLang="zh-CN" sz="2000" dirty="0"/>
              <a:t>n = add(1,3);”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处设置一个断点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6. </a:t>
            </a:r>
            <a:r>
              <a:rPr kumimoji="1" lang="zh-CN" altLang="en-US" sz="2000" dirty="0"/>
              <a:t>按</a:t>
            </a:r>
            <a:r>
              <a:rPr kumimoji="1" lang="en-US" altLang="zh-CN" sz="2000" dirty="0"/>
              <a:t>F5</a:t>
            </a:r>
            <a:r>
              <a:rPr kumimoji="1" lang="zh-CN" altLang="en-US" sz="2000" dirty="0"/>
              <a:t>进入调试状态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7. </a:t>
            </a:r>
            <a:r>
              <a:rPr kumimoji="1" lang="zh-CN" altLang="en-US" sz="2000" dirty="0"/>
              <a:t>点右键，选择“转到反汇编”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8. </a:t>
            </a:r>
            <a:r>
              <a:rPr kumimoji="1" lang="zh-CN" altLang="en-US" sz="2000" dirty="0"/>
              <a:t>点</a:t>
            </a:r>
            <a:r>
              <a:rPr kumimoji="1" lang="en-GB" altLang="zh-CN" sz="2000" dirty="0"/>
              <a:t>F11</a:t>
            </a:r>
            <a:r>
              <a:rPr kumimoji="1" lang="zh-CN" altLang="en-US" sz="2000" dirty="0"/>
              <a:t>单步执行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9. </a:t>
            </a:r>
            <a:r>
              <a:rPr kumimoji="1" lang="zh-CN" altLang="en-US" sz="2000" dirty="0"/>
              <a:t>观察寄存器窗口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和内存窗口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10. </a:t>
            </a:r>
            <a:r>
              <a:rPr kumimoji="1" lang="zh-CN" altLang="en-US" sz="2000" dirty="0"/>
              <a:t>观察参数入栈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11. </a:t>
            </a:r>
            <a:r>
              <a:rPr kumimoji="1" lang="zh-CN" altLang="en-US" sz="2000" dirty="0"/>
              <a:t>观察返回地址入栈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12. </a:t>
            </a:r>
            <a:r>
              <a:rPr kumimoji="1" lang="zh-CN" altLang="en-US" sz="2000" dirty="0"/>
              <a:t>观察调整栈帧</a:t>
            </a: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409" y="957532"/>
            <a:ext cx="7340977" cy="542317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调试模式进行编译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5.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main</a:t>
            </a:r>
            <a:r>
              <a:rPr kumimoji="1" lang="zh-CN" altLang="en-US" sz="2000" dirty="0"/>
              <a:t>函数内“</a:t>
            </a:r>
            <a:r>
              <a:rPr kumimoji="1" lang="en-US" altLang="zh-CN" sz="2000" dirty="0"/>
              <a:t>n = add(1,3);”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处设置一个断点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6. </a:t>
            </a:r>
            <a:r>
              <a:rPr kumimoji="1" lang="zh-CN" altLang="en-US" sz="2000" dirty="0"/>
              <a:t>按</a:t>
            </a:r>
            <a:r>
              <a:rPr kumimoji="1" lang="en-US" altLang="zh-CN" sz="2000" dirty="0"/>
              <a:t>F5</a:t>
            </a:r>
            <a:r>
              <a:rPr kumimoji="1" lang="zh-CN" altLang="en-US" sz="2000" dirty="0"/>
              <a:t>进入调试状态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7. </a:t>
            </a:r>
            <a:r>
              <a:rPr kumimoji="1" lang="zh-CN" altLang="en-US" sz="2000" dirty="0"/>
              <a:t>点右键，选择“转到反汇编”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8. </a:t>
            </a:r>
            <a:r>
              <a:rPr kumimoji="1" lang="zh-CN" altLang="en-US" sz="2000" dirty="0"/>
              <a:t>点</a:t>
            </a:r>
            <a:r>
              <a:rPr kumimoji="1" lang="en-GB" altLang="zh-CN" sz="2000" dirty="0"/>
              <a:t>F11</a:t>
            </a:r>
            <a:r>
              <a:rPr kumimoji="1" lang="zh-CN" altLang="en-US" sz="2000" dirty="0"/>
              <a:t>单步执行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9. </a:t>
            </a:r>
            <a:r>
              <a:rPr kumimoji="1" lang="zh-CN" altLang="en-US" sz="2000" dirty="0"/>
              <a:t>观察寄存器窗口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和内存窗口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10. </a:t>
            </a:r>
            <a:r>
              <a:rPr kumimoji="1" lang="zh-CN" altLang="en-US" sz="2000" dirty="0"/>
              <a:t>观察参数入栈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11. </a:t>
            </a:r>
            <a:r>
              <a:rPr kumimoji="1" lang="zh-CN" altLang="en-US" sz="2000" dirty="0"/>
              <a:t>观察返回地址入栈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12. </a:t>
            </a:r>
            <a:r>
              <a:rPr kumimoji="1" lang="zh-CN" altLang="en-US" sz="2000" dirty="0"/>
              <a:t>观察调整栈帧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13. </a:t>
            </a:r>
            <a:r>
              <a:rPr kumimoji="1" lang="zh-CN" altLang="en-US" sz="2000" dirty="0"/>
              <a:t>观察函数执行</a:t>
            </a: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6856" y="957532"/>
            <a:ext cx="7340977" cy="542317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调试模式进行编译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5.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main</a:t>
            </a:r>
            <a:r>
              <a:rPr kumimoji="1" lang="zh-CN" altLang="en-US" sz="2000" dirty="0"/>
              <a:t>函数内“</a:t>
            </a:r>
            <a:r>
              <a:rPr kumimoji="1" lang="en-US" altLang="zh-CN" sz="2000" dirty="0"/>
              <a:t>n = add(1,3);”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处设置一个断点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6. </a:t>
            </a:r>
            <a:r>
              <a:rPr kumimoji="1" lang="zh-CN" altLang="en-US" sz="2000" dirty="0"/>
              <a:t>按</a:t>
            </a:r>
            <a:r>
              <a:rPr kumimoji="1" lang="en-US" altLang="zh-CN" sz="2000" dirty="0"/>
              <a:t>F5</a:t>
            </a:r>
            <a:r>
              <a:rPr kumimoji="1" lang="zh-CN" altLang="en-US" sz="2000" dirty="0"/>
              <a:t>进入调试状态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7. </a:t>
            </a:r>
            <a:r>
              <a:rPr kumimoji="1" lang="zh-CN" altLang="en-US" sz="2000" dirty="0"/>
              <a:t>点右键，选择“转到反汇编”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8. </a:t>
            </a:r>
            <a:r>
              <a:rPr kumimoji="1" lang="zh-CN" altLang="en-US" sz="2000" dirty="0"/>
              <a:t>点</a:t>
            </a:r>
            <a:r>
              <a:rPr kumimoji="1" lang="en-GB" altLang="zh-CN" sz="2000" dirty="0"/>
              <a:t>F11</a:t>
            </a:r>
            <a:r>
              <a:rPr kumimoji="1" lang="zh-CN" altLang="en-US" sz="2000" dirty="0"/>
              <a:t>单步执行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en-US" altLang="zh-CN" sz="2000" dirty="0"/>
              <a:t>9. </a:t>
            </a:r>
            <a:r>
              <a:rPr kumimoji="1" lang="zh-CN" altLang="en-US" sz="2000" dirty="0"/>
              <a:t>观察寄存器窗口</a:t>
            </a:r>
            <a:endParaRPr kumimoji="1" lang="zh-CN" altLang="en-US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和内存窗口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10. </a:t>
            </a:r>
            <a:r>
              <a:rPr kumimoji="1" lang="zh-CN" altLang="en-US" sz="2000" dirty="0"/>
              <a:t>观察参数入栈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11. </a:t>
            </a:r>
            <a:r>
              <a:rPr kumimoji="1" lang="zh-CN" altLang="en-US" sz="2000" dirty="0"/>
              <a:t>观察返回地址入栈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12. </a:t>
            </a:r>
            <a:r>
              <a:rPr kumimoji="1" lang="zh-CN" altLang="en-US" sz="2000" dirty="0"/>
              <a:t>观察调整栈帧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13. </a:t>
            </a:r>
            <a:r>
              <a:rPr kumimoji="1" lang="zh-CN" altLang="en-US" sz="2000" dirty="0"/>
              <a:t>观察函数执行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14. </a:t>
            </a:r>
            <a:r>
              <a:rPr kumimoji="1" lang="zh-CN" altLang="en-US" sz="2000" dirty="0"/>
              <a:t>观察函数返回</a:t>
            </a: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zh-CN" altLang="en-US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实验一：函数调用过程与栈帧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9431" y="938888"/>
            <a:ext cx="7340977" cy="542317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LOCALSLIDEID" val="17791005901901026"/>
</p:tagLst>
</file>

<file path=ppt/tags/tag2.xml><?xml version="1.0" encoding="utf-8"?>
<p:tagLst xmlns:p="http://schemas.openxmlformats.org/presentationml/2006/main">
  <p:tag name="LOCALSLIDEID" val="17791005901917779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LOCALSLIDEID" val="17791005901929634"/>
</p:tagLst>
</file>

<file path=ppt/tags/tag5.xml><?xml version="1.0" encoding="utf-8"?>
<p:tagLst xmlns:p="http://schemas.openxmlformats.org/presentationml/2006/main">
  <p:tag name="RAINPROBLEM" val="ProblemBody"/>
</p:tagLst>
</file>

<file path=ppt/tags/tag6.xml><?xml version="1.0" encoding="utf-8"?>
<p:tagLst xmlns:p="http://schemas.openxmlformats.org/presentationml/2006/main">
  <p:tag name="LOCALSLIDEID" val="17791005901925658"/>
</p:tagLst>
</file>

<file path=ppt/tags/tag7.xml><?xml version="1.0" encoding="utf-8"?>
<p:tagLst xmlns:p="http://schemas.openxmlformats.org/presentationml/2006/main">
  <p:tag name="RAINPROBLEM" val="ProblemBody"/>
</p:tagLst>
</file>

<file path=ppt/tags/tag8.xml><?xml version="1.0" encoding="utf-8"?>
<p:tagLst xmlns:p="http://schemas.openxmlformats.org/presentationml/2006/main">
  <p:tag name="LOCALSLIDEID" val="17791005901933946"/>
</p:tagLst>
</file>

<file path=ppt/tags/tag9.xml><?xml version="1.0" encoding="utf-8"?>
<p:tagLst xmlns:p="http://schemas.openxmlformats.org/presentationml/2006/main">
  <p:tag name="RAINPROBLEM" val="ProblemBody"/>
</p:tagLst>
</file>

<file path=ppt/tags/tag10.xml><?xml version="1.0" encoding="utf-8"?>
<p:tagLst xmlns:p="http://schemas.openxmlformats.org/presentationml/2006/main">
  <p:tag name="LOCALSLIDEID" val="17791005901948590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LOCALSLIDEID" val="17791005901952454"/>
</p:tagLst>
</file>

<file path=ppt/tags/tag13.xml><?xml version="1.0" encoding="utf-8"?>
<p:tagLst xmlns:p="http://schemas.openxmlformats.org/presentationml/2006/main">
  <p:tag name="RAINPROBLEM" val="ProblemBody"/>
</p:tagLst>
</file>

<file path=ppt/tags/tag14.xml><?xml version="1.0" encoding="utf-8"?>
<p:tagLst xmlns:p="http://schemas.openxmlformats.org/presentationml/2006/main">
  <p:tag name="LOCALSLIDEID" val="17791005901967711"/>
</p:tagLst>
</file>

<file path=ppt/tags/tag15.xml><?xml version="1.0" encoding="utf-8"?>
<p:tagLst xmlns:p="http://schemas.openxmlformats.org/presentationml/2006/main">
  <p:tag name="RAINPROBLEM" val="ProblemBody"/>
</p:tagLst>
</file>

<file path=ppt/tags/tag16.xml><?xml version="1.0" encoding="utf-8"?>
<p:tagLst xmlns:p="http://schemas.openxmlformats.org/presentationml/2006/main">
  <p:tag name="LOCALSLIDEID" val="17791005901969770"/>
</p:tagLst>
</file>

<file path=ppt/tags/tag17.xml><?xml version="1.0" encoding="utf-8"?>
<p:tagLst xmlns:p="http://schemas.openxmlformats.org/presentationml/2006/main">
  <p:tag name="RAINPROBLEM" val="ProblemBody"/>
</p:tagLst>
</file>

<file path=ppt/tags/tag18.xml><?xml version="1.0" encoding="utf-8"?>
<p:tagLst xmlns:p="http://schemas.openxmlformats.org/presentationml/2006/main">
  <p:tag name="LOCALSLIDEID" val="17791005901976481"/>
</p:tagLst>
</file>

<file path=ppt/tags/tag19.xml><?xml version="1.0" encoding="utf-8"?>
<p:tagLst xmlns:p="http://schemas.openxmlformats.org/presentationml/2006/main">
  <p:tag name="LOCALSLIDEID" val="17791005901989823"/>
</p:tagLst>
</file>

<file path=ppt/tags/tag20.xml><?xml version="1.0" encoding="utf-8"?>
<p:tagLst xmlns:p="http://schemas.openxmlformats.org/presentationml/2006/main">
  <p:tag name="LOCALSLIDEID" val="17791005901982460"/>
</p:tagLst>
</file>

<file path=ppt/tags/tag21.xml><?xml version="1.0" encoding="utf-8"?>
<p:tagLst xmlns:p="http://schemas.openxmlformats.org/presentationml/2006/main">
  <p:tag name="LOCALSLIDEID" val="17791005901993650"/>
</p:tagLst>
</file>

<file path=ppt/tags/tag22.xml><?xml version="1.0" encoding="utf-8"?>
<p:tagLst xmlns:p="http://schemas.openxmlformats.org/presentationml/2006/main">
  <p:tag name="LOCALSLIDEID" val="17791005901997852"/>
</p:tagLst>
</file>

<file path=ppt/tags/tag23.xml><?xml version="1.0" encoding="utf-8"?>
<p:tagLst xmlns:p="http://schemas.openxmlformats.org/presentationml/2006/main">
  <p:tag name="LOCALSLIDEID" val="17791005902004459"/>
</p:tagLst>
</file>

<file path=ppt/tags/tag24.xml><?xml version="1.0" encoding="utf-8"?>
<p:tagLst xmlns:p="http://schemas.openxmlformats.org/presentationml/2006/main">
  <p:tag name="LOCALSLIDEID" val="17791005902009288"/>
</p:tagLst>
</file>

<file path=ppt/tags/tag25.xml><?xml version="1.0" encoding="utf-8"?>
<p:tagLst xmlns:p="http://schemas.openxmlformats.org/presentationml/2006/main">
  <p:tag name="LOCALSLIDEID" val="17791005902019138"/>
</p:tagLst>
</file>

<file path=ppt/tags/tag26.xml><?xml version="1.0" encoding="utf-8"?>
<p:tagLst xmlns:p="http://schemas.openxmlformats.org/presentationml/2006/main">
  <p:tag name="LOCALSLIDEID" val="17791005902012145"/>
</p:tagLst>
</file>

<file path=ppt/tags/tag27.xml><?xml version="1.0" encoding="utf-8"?>
<p:tagLst xmlns:p="http://schemas.openxmlformats.org/presentationml/2006/main">
  <p:tag name="LOCALSLIDEID" val="17791005902024482"/>
</p:tagLst>
</file>

<file path=ppt/tags/tag28.xml><?xml version="1.0" encoding="utf-8"?>
<p:tagLst xmlns:p="http://schemas.openxmlformats.org/presentationml/2006/main">
  <p:tag name="LOCALPRESID" val="1779100590182921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3563</Words>
  <Application>WPS 演示</Application>
  <PresentationFormat>宽屏</PresentationFormat>
  <Paragraphs>451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Menlo</vt:lpstr>
      <vt:lpstr>Segoe Print</vt:lpstr>
      <vt:lpstr>等线</vt:lpstr>
      <vt:lpstr>Calibri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 熟悉函数调用过程与栈帧</dc:title>
  <dc:creator>1</dc:creator>
  <cp:lastModifiedBy>Caroline</cp:lastModifiedBy>
  <cp:revision>23</cp:revision>
  <dcterms:created xsi:type="dcterms:W3CDTF">2022-10-27T12:25:00Z</dcterms:created>
  <dcterms:modified xsi:type="dcterms:W3CDTF">2026-05-18T10:39:07Z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3842F9CDFE2C4C84B65DCD30C1DA92B1_12</vt:lpwstr>
  </property>
  <property fmtid="{D5CDD505-2E9C-101B-9397-08002B2CF9AE}" pid="3" name="KSOProductBuildVer">
    <vt:lpwstr>2052-12.1.0.25865</vt:lpwstr>
  </property>
</Properties>
</file>