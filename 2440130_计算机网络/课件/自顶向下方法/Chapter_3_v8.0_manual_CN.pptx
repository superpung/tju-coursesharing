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51"/>
  </p:notesMasterIdLst>
  <p:sldIdLst>
    <p:sldId id="960" r:id="rId2"/>
    <p:sldId id="956" r:id="rId3"/>
    <p:sldId id="964" r:id="rId4"/>
    <p:sldId id="1047" r:id="rId5"/>
    <p:sldId id="1048" r:id="rId6"/>
    <p:sldId id="1153" r:id="rId7"/>
    <p:sldId id="1154" r:id="rId8"/>
    <p:sldId id="1086" r:id="rId9"/>
    <p:sldId id="1049" r:id="rId10"/>
    <p:sldId id="1041" r:id="rId11"/>
    <p:sldId id="1155" r:id="rId12"/>
    <p:sldId id="1156" r:id="rId13"/>
    <p:sldId id="1157" r:id="rId14"/>
    <p:sldId id="1158" r:id="rId15"/>
    <p:sldId id="1159" r:id="rId16"/>
    <p:sldId id="1050" r:id="rId17"/>
    <p:sldId id="1051" r:id="rId18"/>
    <p:sldId id="1052" r:id="rId19"/>
    <p:sldId id="1053" r:id="rId20"/>
    <p:sldId id="1054" r:id="rId21"/>
    <p:sldId id="1055" r:id="rId22"/>
    <p:sldId id="1160" r:id="rId23"/>
    <p:sldId id="1042" r:id="rId24"/>
    <p:sldId id="1161" r:id="rId25"/>
    <p:sldId id="1162" r:id="rId26"/>
    <p:sldId id="1163" r:id="rId27"/>
    <p:sldId id="1164" r:id="rId28"/>
    <p:sldId id="1165" r:id="rId29"/>
    <p:sldId id="1166" r:id="rId30"/>
    <p:sldId id="1167" r:id="rId31"/>
    <p:sldId id="1058" r:id="rId32"/>
    <p:sldId id="1168" r:id="rId33"/>
    <p:sldId id="1169" r:id="rId34"/>
    <p:sldId id="1170" r:id="rId35"/>
    <p:sldId id="1171" r:id="rId36"/>
    <p:sldId id="1043" r:id="rId37"/>
    <p:sldId id="1061" r:id="rId38"/>
    <p:sldId id="1213" r:id="rId39"/>
    <p:sldId id="1214" r:id="rId40"/>
    <p:sldId id="1215" r:id="rId41"/>
    <p:sldId id="1062" r:id="rId42"/>
    <p:sldId id="1063" r:id="rId43"/>
    <p:sldId id="1064" r:id="rId44"/>
    <p:sldId id="1066" r:id="rId45"/>
    <p:sldId id="1065" r:id="rId46"/>
    <p:sldId id="1067" r:id="rId47"/>
    <p:sldId id="1083" r:id="rId48"/>
    <p:sldId id="1068" r:id="rId49"/>
    <p:sldId id="1069" r:id="rId50"/>
    <p:sldId id="1070" r:id="rId51"/>
    <p:sldId id="1071" r:id="rId52"/>
    <p:sldId id="1072" r:id="rId53"/>
    <p:sldId id="1073" r:id="rId54"/>
    <p:sldId id="1074" r:id="rId55"/>
    <p:sldId id="1075" r:id="rId56"/>
    <p:sldId id="1076" r:id="rId57"/>
    <p:sldId id="1204" r:id="rId58"/>
    <p:sldId id="1103" r:id="rId59"/>
    <p:sldId id="1205" r:id="rId60"/>
    <p:sldId id="1078" r:id="rId61"/>
    <p:sldId id="1079" r:id="rId62"/>
    <p:sldId id="1080" r:id="rId63"/>
    <p:sldId id="1082" r:id="rId64"/>
    <p:sldId id="1206" r:id="rId65"/>
    <p:sldId id="1081" r:id="rId66"/>
    <p:sldId id="1207" r:id="rId67"/>
    <p:sldId id="1087" r:id="rId68"/>
    <p:sldId id="1208" r:id="rId69"/>
    <p:sldId id="1090" r:id="rId70"/>
    <p:sldId id="1097" r:id="rId71"/>
    <p:sldId id="1092" r:id="rId72"/>
    <p:sldId id="1209" r:id="rId73"/>
    <p:sldId id="1210" r:id="rId74"/>
    <p:sldId id="1211" r:id="rId75"/>
    <p:sldId id="1212" r:id="rId76"/>
    <p:sldId id="1044" r:id="rId77"/>
    <p:sldId id="1096" r:id="rId78"/>
    <p:sldId id="1203" r:id="rId79"/>
    <p:sldId id="1098" r:id="rId80"/>
    <p:sldId id="1099" r:id="rId81"/>
    <p:sldId id="1100" r:id="rId82"/>
    <p:sldId id="1101" r:id="rId83"/>
    <p:sldId id="1102" r:id="rId84"/>
    <p:sldId id="1104" r:id="rId85"/>
    <p:sldId id="1108" r:id="rId86"/>
    <p:sldId id="1106" r:id="rId87"/>
    <p:sldId id="1107" r:id="rId88"/>
    <p:sldId id="1110" r:id="rId89"/>
    <p:sldId id="1111" r:id="rId90"/>
    <p:sldId id="1112" r:id="rId91"/>
    <p:sldId id="1198" r:id="rId92"/>
    <p:sldId id="1124" r:id="rId93"/>
    <p:sldId id="1125" r:id="rId94"/>
    <p:sldId id="1113" r:id="rId95"/>
    <p:sldId id="1199" r:id="rId96"/>
    <p:sldId id="1114" r:id="rId97"/>
    <p:sldId id="1115" r:id="rId98"/>
    <p:sldId id="1116" r:id="rId99"/>
    <p:sldId id="1200" r:id="rId100"/>
    <p:sldId id="1201" r:id="rId101"/>
    <p:sldId id="1117" r:id="rId102"/>
    <p:sldId id="1202" r:id="rId103"/>
    <p:sldId id="1119" r:id="rId104"/>
    <p:sldId id="1045" r:id="rId105"/>
    <p:sldId id="1123" r:id="rId106"/>
    <p:sldId id="1121" r:id="rId107"/>
    <p:sldId id="1195" r:id="rId108"/>
    <p:sldId id="1196" r:id="rId109"/>
    <p:sldId id="1126" r:id="rId110"/>
    <p:sldId id="1127" r:id="rId111"/>
    <p:sldId id="1128" r:id="rId112"/>
    <p:sldId id="1131" r:id="rId113"/>
    <p:sldId id="1129" r:id="rId114"/>
    <p:sldId id="1130" r:id="rId115"/>
    <p:sldId id="1197" r:id="rId116"/>
    <p:sldId id="340" r:id="rId117"/>
    <p:sldId id="1184" r:id="rId118"/>
    <p:sldId id="1046" r:id="rId119"/>
    <p:sldId id="1193" r:id="rId120"/>
    <p:sldId id="1194" r:id="rId121"/>
    <p:sldId id="1132" r:id="rId122"/>
    <p:sldId id="1133" r:id="rId123"/>
    <p:sldId id="1134" r:id="rId124"/>
    <p:sldId id="1135" r:id="rId125"/>
    <p:sldId id="1143" r:id="rId126"/>
    <p:sldId id="1144" r:id="rId127"/>
    <p:sldId id="1146" r:id="rId128"/>
    <p:sldId id="1147" r:id="rId129"/>
    <p:sldId id="1145" r:id="rId130"/>
    <p:sldId id="1148" r:id="rId131"/>
    <p:sldId id="1141" r:id="rId132"/>
    <p:sldId id="1138" r:id="rId133"/>
    <p:sldId id="1192" r:id="rId134"/>
    <p:sldId id="1140" r:id="rId135"/>
    <p:sldId id="1183" r:id="rId136"/>
    <p:sldId id="1185" r:id="rId137"/>
    <p:sldId id="1186" r:id="rId138"/>
    <p:sldId id="1187" r:id="rId139"/>
    <p:sldId id="1188" r:id="rId140"/>
    <p:sldId id="1189" r:id="rId141"/>
    <p:sldId id="1142" r:id="rId142"/>
    <p:sldId id="1038" r:id="rId143"/>
    <p:sldId id="1088" r:id="rId144"/>
    <p:sldId id="1089" r:id="rId145"/>
    <p:sldId id="1105" r:id="rId146"/>
    <p:sldId id="1118" r:id="rId147"/>
    <p:sldId id="1120" r:id="rId148"/>
    <p:sldId id="1190" r:id="rId149"/>
    <p:sldId id="1137" r:id="rId15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1348"/>
    <p:restoredTop sz="90729"/>
  </p:normalViewPr>
  <p:slideViewPr>
    <p:cSldViewPr snapToGrid="0" snapToObjects="1">
      <p:cViewPr varScale="1">
        <p:scale>
          <a:sx n="113" d="100"/>
          <a:sy n="113" d="100"/>
        </p:scale>
        <p:origin x="184" y="408"/>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tableStyles" Target="tableStyle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notesMaster" Target="notesMasters/notes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presProps" Target="presProp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theme" Target="theme/theme1.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8.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5/2/20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QUIC, CUBIC, delay-based congestion control</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18242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37175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94357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0014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228208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214349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a:t>
            </a:fld>
            <a:endParaRPr lang="en-US"/>
          </a:p>
        </p:txBody>
      </p:sp>
    </p:spTree>
    <p:extLst>
      <p:ext uri="{BB962C8B-B14F-4D97-AF65-F5344CB8AC3E}">
        <p14:creationId xmlns:p14="http://schemas.microsoft.com/office/powerpoint/2010/main" val="339089855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a:t>
            </a:r>
            <a:r>
              <a:rPr lang="en-US"/>
              <a:t>it’s only 2.5 pages!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36</a:t>
            </a:fld>
            <a:endParaRPr lang="en-US"/>
          </a:p>
        </p:txBody>
      </p:sp>
    </p:spTree>
    <p:extLst>
      <p:ext uri="{BB962C8B-B14F-4D97-AF65-F5344CB8AC3E}">
        <p14:creationId xmlns:p14="http://schemas.microsoft.com/office/powerpoint/2010/main" val="150821767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a:t>
            </a:r>
            <a:r>
              <a:rPr lang="en-US" dirty="0" err="1"/>
              <a:t>TWO-way</a:t>
            </a:r>
            <a:r>
              <a:rPr lang="en-US" dirty="0"/>
              <a:t>: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a:t>
            </a:r>
            <a:r>
              <a:rPr lang="en-US" dirty="0" err="1"/>
              <a:t>rdt</a:t>
            </a:r>
            <a:r>
              <a:rPr lang="en-US" dirty="0"/>
              <a: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a:t>
            </a:r>
            <a:r>
              <a:rPr lang="en-US" dirty="0" err="1"/>
              <a:t>dupplicated</a:t>
            </a:r>
            <a:r>
              <a:rPr lang="en-US" dirty="0"/>
              <a:t>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1KB pkt every 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33kB/sec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thruput</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t>
            </a:r>
            <a:r>
              <a:rPr lang="en-US" dirty="0" err="1"/>
              <a:t>ackowledgedm</a:t>
            </a:r>
            <a:r>
              <a:rPr lang="en-US" dirty="0"/>
              <a:t> 6 sequence numbers are available for us. In </a:t>
            </a:r>
            <a:r>
              <a:rPr lang="en-US" dirty="0" err="1"/>
              <a:t>woindow</a:t>
            </a:r>
            <a:r>
              <a:rPr lang="en-US" dirty="0"/>
              <a:t>, but no calls from above to use them.</a:t>
            </a:r>
          </a:p>
          <a:p>
            <a:endParaRPr lang="en-US" dirty="0"/>
          </a:p>
          <a:p>
            <a:r>
              <a:rPr lang="en-US" dirty="0"/>
              <a:t>Note – we’ll skip the Go-Back-N FSM specification you can </a:t>
            </a:r>
            <a:r>
              <a:rPr lang="en-US" dirty="0" err="1"/>
              <a:t>chack</a:t>
            </a:r>
            <a:r>
              <a:rPr lang="en-US" dirty="0"/>
              <a:t> that out in </a:t>
            </a:r>
            <a:r>
              <a:rPr lang="en-US" dirty="0" err="1"/>
              <a:t>powerpoitn</a:t>
            </a:r>
            <a:r>
              <a:rPr lang="en-US" dirty="0"/>
              <a: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a:t>
            </a:r>
            <a:r>
              <a:rPr lang="en-US" dirty="0" err="1"/>
              <a:t>indiviually</a:t>
            </a:r>
            <a:r>
              <a:rPr lang="en-US" dirty="0"/>
              <a:t>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a:t>
            </a:r>
            <a:r>
              <a:rPr lang="en-US" dirty="0" err="1"/>
              <a:t>delived</a:t>
            </a:r>
            <a:r>
              <a:rPr lang="en-US" dirty="0"/>
              <a:t>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76</a:t>
            </a:fld>
            <a:endParaRPr lang="en-US"/>
          </a:p>
        </p:txBody>
      </p:sp>
    </p:spTree>
    <p:extLst>
      <p:ext uri="{BB962C8B-B14F-4D97-AF65-F5344CB8AC3E}">
        <p14:creationId xmlns:p14="http://schemas.microsoft.com/office/powerpoint/2010/main" val="38826013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a:t>
            </a:r>
            <a:r>
              <a:rPr lang="en-US" dirty="0" err="1"/>
              <a:t>toB</a:t>
            </a:r>
            <a:r>
              <a:rPr lang="en-US" dirty="0"/>
              <a:t>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a:t>
            </a:r>
            <a:r>
              <a:rPr lang="en-US"/>
              <a:t>last A-to-B </a:t>
            </a:r>
            <a:r>
              <a:rPr lang="en-US" dirty="0"/>
              <a:t>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a:t>
            </a:r>
            <a:r>
              <a:rPr lang="en-US" dirty="0" err="1"/>
              <a:t>SampleRTT</a:t>
            </a:r>
            <a:r>
              <a:rPr lang="en-US" dirty="0"/>
              <a:t> is taken.</a:t>
            </a:r>
          </a:p>
          <a:p>
            <a:r>
              <a:rPr lang="en-US" dirty="0"/>
              <a:t>The process is knows as an </a:t>
            </a:r>
            <a:r>
              <a:rPr lang="en-US" dirty="0" err="1"/>
              <a:t>exponeitally</a:t>
            </a:r>
            <a:r>
              <a:rPr lang="en-US" dirty="0"/>
              <a:t> weighted moving average, shown by the equation here.</a:t>
            </a:r>
          </a:p>
          <a:p>
            <a:r>
              <a:rPr lang="en-US" dirty="0"/>
              <a:t>&lt;say it&gt;</a:t>
            </a:r>
          </a:p>
          <a:p>
            <a:r>
              <a:rPr lang="en-US" dirty="0"/>
              <a:t>Where alpha reflects the influence of the most recent measurements on the estimated RTT; a typical value of alpha used in </a:t>
            </a:r>
            <a:r>
              <a:rPr lang="en-US" dirty="0" err="1"/>
              <a:t>implementaitons</a:t>
            </a:r>
            <a:r>
              <a:rPr lang="en-US" dirty="0"/>
              <a:t> is .125</a:t>
            </a:r>
          </a:p>
          <a:p>
            <a:endParaRPr lang="en-US" dirty="0"/>
          </a:p>
          <a:p>
            <a:r>
              <a:rPr lang="en-US" dirty="0"/>
              <a:t>The graph at the bottom show measured RTTs </a:t>
            </a:r>
            <a:r>
              <a:rPr lang="en-US" dirty="0" err="1"/>
              <a:t>beween</a:t>
            </a:r>
            <a:r>
              <a:rPr lang="en-US" dirty="0"/>
              <a:t>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a:t>
            </a:r>
            <a:r>
              <a:rPr lang="en-US" dirty="0" err="1"/>
              <a:t>savety</a:t>
            </a:r>
            <a:r>
              <a:rPr lang="en-US" dirty="0"/>
              <a:t>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a:t>
            </a:r>
            <a:r>
              <a:rPr lang="en-US" dirty="0" err="1"/>
              <a:t>eWMA</a:t>
            </a:r>
            <a:r>
              <a:rPr lang="en-US" dirty="0"/>
              <a:t> of the difference between the most recently measured </a:t>
            </a:r>
            <a:r>
              <a:rPr lang="en-US" dirty="0" err="1"/>
              <a:t>SampleRTT</a:t>
            </a:r>
            <a:r>
              <a:rPr lang="en-US" dirty="0"/>
              <a: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t>
            </a:r>
            <a:r>
              <a:rPr lang="en-US" dirty="0" err="1"/>
              <a:t>ACKnowledig</a:t>
            </a:r>
            <a:r>
              <a:rPr lang="en-US" dirty="0"/>
              <a:t>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a:t>
            </a:r>
            <a:r>
              <a:rPr lang="en-US" dirty="0" err="1"/>
              <a:t>transmited</a:t>
            </a:r>
            <a:r>
              <a:rPr lang="en-US" dirty="0"/>
              <a:t> and the ACK is lost, and the TCP timeout mechanism results in another copy of being transmitted and then re-</a:t>
            </a:r>
            <a:r>
              <a:rPr lang="en-US" dirty="0" err="1"/>
              <a:t>ACKed</a:t>
            </a:r>
            <a:r>
              <a:rPr lang="en-US" dirty="0"/>
              <a:t> a the sender</a:t>
            </a:r>
          </a:p>
          <a:p>
            <a:endParaRPr lang="en-US" dirty="0"/>
          </a:p>
          <a:p>
            <a:r>
              <a:rPr lang="en-US" dirty="0"/>
              <a:t>In the second example two segments are sent and acknowledged, but there is a premature timeout e for the first segment, which is retransmitted.  </a:t>
            </a:r>
            <a:r>
              <a:rPr lang="en-US" dirty="0" err="1"/>
              <a:t>Notet</a:t>
            </a:r>
            <a:r>
              <a:rPr lang="en-US" dirty="0"/>
              <a:t>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a:t>
            </a:r>
            <a:r>
              <a:rPr lang="en-US" dirty="0" err="1"/>
              <a:t>unACKed</a:t>
            </a:r>
            <a:r>
              <a:rPr lang="en-US" dirty="0"/>
              <a:t>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a:p>
        </p:txBody>
      </p:sp>
    </p:spTree>
    <p:extLst>
      <p:ext uri="{BB962C8B-B14F-4D97-AF65-F5344CB8AC3E}">
        <p14:creationId xmlns:p14="http://schemas.microsoft.com/office/powerpoint/2010/main" val="311777889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a:t>
            </a:r>
            <a:r>
              <a:rPr lang="en-US" dirty="0" err="1"/>
              <a:t>reciver</a:t>
            </a:r>
            <a:r>
              <a:rPr lang="en-US" dirty="0"/>
              <a:t> have a number of pieces of shared state that they must establish before actually communication</a:t>
            </a:r>
          </a:p>
          <a:p>
            <a:pPr marL="171450" indent="-171450">
              <a:buFont typeface="Arial" panose="020B0604020202020204" pitchFamily="34" charset="0"/>
              <a:buChar char="•"/>
            </a:pPr>
            <a:r>
              <a:rPr lang="en-US" dirty="0"/>
              <a:t>FIRST </a:t>
            </a:r>
            <a:r>
              <a:rPr lang="en-US" dirty="0" err="1"/>
              <a:t>theym</a:t>
            </a:r>
            <a:r>
              <a:rPr lang="en-US" dirty="0"/>
              <a:t> </a:t>
            </a:r>
            <a:r>
              <a:rPr lang="en-US" dirty="0" err="1"/>
              <a:t>ust</a:t>
            </a:r>
            <a:r>
              <a:rPr lang="en-US" dirty="0"/>
              <a: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a:t>
            </a:r>
            <a:r>
              <a:rPr lang="en-US" dirty="0" err="1"/>
              <a:t>bufferspace</a:t>
            </a:r>
            <a:r>
              <a:rPr lang="en-US" dirty="0"/>
              <a:t>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a:t>
            </a:r>
            <a:r>
              <a:rPr lang="en-US" dirty="0" err="1"/>
              <a:t>ESTABLished</a:t>
            </a:r>
            <a:r>
              <a:rPr lang="en-US" dirty="0"/>
              <a:t>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104</a:t>
            </a:fld>
            <a:endParaRPr lang="en-US"/>
          </a:p>
        </p:txBody>
      </p:sp>
    </p:spTree>
    <p:extLst>
      <p:ext uri="{BB962C8B-B14F-4D97-AF65-F5344CB8AC3E}">
        <p14:creationId xmlns:p14="http://schemas.microsoft.com/office/powerpoint/2010/main" val="114639378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118</a:t>
            </a:fld>
            <a:endParaRPr lang="en-US"/>
          </a:p>
        </p:txBody>
      </p:sp>
    </p:spTree>
    <p:extLst>
      <p:ext uri="{BB962C8B-B14F-4D97-AF65-F5344CB8AC3E}">
        <p14:creationId xmlns:p14="http://schemas.microsoft.com/office/powerpoint/2010/main" val="2138548727"/>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105523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135</a:t>
            </a:fld>
            <a:endParaRPr lang="en-US"/>
          </a:p>
        </p:txBody>
      </p:sp>
    </p:spTree>
    <p:extLst>
      <p:ext uri="{BB962C8B-B14F-4D97-AF65-F5344CB8AC3E}">
        <p14:creationId xmlns:p14="http://schemas.microsoft.com/office/powerpoint/2010/main" val="219699997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141</a:t>
            </a:fld>
            <a:endParaRPr lang="en-US"/>
          </a:p>
        </p:txBody>
      </p:sp>
    </p:spTree>
    <p:extLst>
      <p:ext uri="{BB962C8B-B14F-4D97-AF65-F5344CB8AC3E}">
        <p14:creationId xmlns:p14="http://schemas.microsoft.com/office/powerpoint/2010/main" val="3370746623"/>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142</a:t>
            </a:fld>
            <a:endParaRPr lang="en-US"/>
          </a:p>
        </p:txBody>
      </p:sp>
    </p:spTree>
    <p:extLst>
      <p:ext uri="{BB962C8B-B14F-4D97-AF65-F5344CB8AC3E}">
        <p14:creationId xmlns:p14="http://schemas.microsoft.com/office/powerpoint/2010/main" val="152639813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2477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046381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6006533"/>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744071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147</a:t>
            </a:fld>
            <a:endParaRPr lang="en-US"/>
          </a:p>
        </p:txBody>
      </p:sp>
    </p:spTree>
    <p:extLst>
      <p:ext uri="{BB962C8B-B14F-4D97-AF65-F5344CB8AC3E}">
        <p14:creationId xmlns:p14="http://schemas.microsoft.com/office/powerpoint/2010/main" val="39207727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43935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149</a:t>
            </a:fld>
            <a:endParaRPr lang="en-US"/>
          </a:p>
        </p:txBody>
      </p:sp>
    </p:spTree>
    <p:extLst>
      <p:ext uri="{BB962C8B-B14F-4D97-AF65-F5344CB8AC3E}">
        <p14:creationId xmlns:p14="http://schemas.microsoft.com/office/powerpoint/2010/main" val="4230624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1.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5.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1.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 Id="rId4" Type="http://schemas.openxmlformats.org/officeDocument/2006/relationships/image" Target="../media/image33.png"/></Relationships>
</file>

<file path=ppt/slides/_rels/slide4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6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3.xml"/><Relationship Id="rId1" Type="http://schemas.openxmlformats.org/officeDocument/2006/relationships/vmlDrawing" Target="../drawings/vmlDrawing1.vml"/><Relationship Id="rId5" Type="http://schemas.openxmlformats.org/officeDocument/2006/relationships/image" Target="../media/image38.emf"/><Relationship Id="rId4" Type="http://schemas.openxmlformats.org/officeDocument/2006/relationships/oleObject" Target="../embeddings/oleObject1.bin"/></Relationships>
</file>

<file path=ppt/slides/_rels/slide6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42.emf"/><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8.xml"/><Relationship Id="rId1" Type="http://schemas.openxmlformats.org/officeDocument/2006/relationships/slideLayout" Target="../slideLayouts/slideLayout3.xml"/><Relationship Id="rId4" Type="http://schemas.openxmlformats.org/officeDocument/2006/relationships/image" Target="../media/image43.png"/></Relationships>
</file>

<file path=ppt/slides/_rels/slide8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1.xml"/><Relationship Id="rId1" Type="http://schemas.openxmlformats.org/officeDocument/2006/relationships/slideLayout" Target="../slideLayouts/slideLayout3.xml"/><Relationship Id="rId5" Type="http://schemas.openxmlformats.org/officeDocument/2006/relationships/image" Target="../media/image45.jpeg"/><Relationship Id="rId4" Type="http://schemas.openxmlformats.org/officeDocument/2006/relationships/image" Target="../media/image44.jpeg"/></Relationships>
</file>

<file path=ppt/slides/_rels/slide9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97.xml"/><Relationship Id="rId1" Type="http://schemas.openxmlformats.org/officeDocument/2006/relationships/slideLayout" Target="../slideLayouts/slideLayout3.xml"/><Relationship Id="rId5" Type="http://schemas.openxmlformats.org/officeDocument/2006/relationships/image" Target="../media/image25.png"/><Relationship Id="rId4" Type="http://schemas.openxmlformats.org/officeDocument/2006/relationships/image" Target="../media/image47.png"/></Relationships>
</file>

<file path=ppt/slides/_rels/slide9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8.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9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10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10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105.xml"/><Relationship Id="rId1" Type="http://schemas.openxmlformats.org/officeDocument/2006/relationships/slideLayout" Target="../slideLayouts/slideLayout3.xml"/><Relationship Id="rId5" Type="http://schemas.openxmlformats.org/officeDocument/2006/relationships/image" Target="../media/image45.jpeg"/><Relationship Id="rId4" Type="http://schemas.openxmlformats.org/officeDocument/2006/relationships/image" Target="../media/image44.jpeg"/></Relationships>
</file>

<file path=ppt/slides/_rels/slide10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109.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1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1.xml"/><Relationship Id="rId1" Type="http://schemas.openxmlformats.org/officeDocument/2006/relationships/slideLayout" Target="../slideLayouts/slideLayout3.xml"/><Relationship Id="rId5" Type="http://schemas.openxmlformats.org/officeDocument/2006/relationships/image" Target="../media/image54.png"/><Relationship Id="rId4" Type="http://schemas.openxmlformats.org/officeDocument/2006/relationships/image" Target="../media/image53.png"/></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3" Type="http://schemas.openxmlformats.org/officeDocument/2006/relationships/image" Target="../media/image55.emf"/><Relationship Id="rId7" Type="http://schemas.openxmlformats.org/officeDocument/2006/relationships/image" Target="../media/image59.emf"/><Relationship Id="rId2" Type="http://schemas.openxmlformats.org/officeDocument/2006/relationships/notesSlide" Target="../notesSlides/notesSlide115.xml"/><Relationship Id="rId1" Type="http://schemas.openxmlformats.org/officeDocument/2006/relationships/slideLayout" Target="../slideLayouts/slideLayout3.xml"/><Relationship Id="rId6" Type="http://schemas.openxmlformats.org/officeDocument/2006/relationships/image" Target="../media/image58.emf"/><Relationship Id="rId5" Type="http://schemas.openxmlformats.org/officeDocument/2006/relationships/image" Target="../media/image57.emf"/><Relationship Id="rId4" Type="http://schemas.openxmlformats.org/officeDocument/2006/relationships/image" Target="../media/image56.emf"/></Relationships>
</file>

<file path=ppt/slides/_rels/slide1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18.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23.xml"/><Relationship Id="rId1" Type="http://schemas.openxmlformats.org/officeDocument/2006/relationships/slideLayout" Target="../slideLayouts/slideLayout3.xml"/><Relationship Id="rId4" Type="http://schemas.openxmlformats.org/officeDocument/2006/relationships/image" Target="../media/image61.png"/></Relationships>
</file>

<file path=ppt/slides/_rels/slide12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124.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《计算机网络：自顶向下方法》第 8 版 Jim Kurose、Keith Ross，Pearson，2020</a:t>
            </a:r>
            <a:br>
              <a:rPr lang="en-US" altLang="en-US" sz="2800" dirty="0">
                <a:solidFill>
                  <a:srgbClr val="008000"/>
                </a:solidFill>
                <a:latin typeface="+mn-lt"/>
              </a:rPr>
            </a:br>
            <a:r>
              <a:rPr lang="en-US" altLang="en-US" sz="1800" dirty="0">
                <a:latin typeface="+mn-lt"/>
              </a:rPr>
              <a:t/>
            </a:r>
            <a:r>
              <a:rPr lang="en-US" altLang="en-US" sz="1800" baseline="30000" dirty="0">
                <a:latin typeface="+mn-lt"/>
              </a:rPr>
              <a:t/>
            </a:r>
            <a:r>
              <a:rPr lang="en-US" altLang="en-US" sz="1800" dirty="0">
                <a:latin typeface="+mn-lt"/>
              </a:rPr>
              <a:t/>
            </a:r>
            <a:br>
              <a:rPr lang="en-US" altLang="en-US" sz="1800" dirty="0">
                <a:latin typeface="+mn-lt"/>
              </a:rPr>
            </a:br>
            <a:r>
              <a:rPr lang="en-US" altLang="en-US" sz="1800" dirty="0">
                <a:latin typeface="+mn-lt"/>
              </a:rPr>
              <a:t/>
            </a:r>
            <a:br>
              <a:rPr lang="en-US" altLang="en-US" sz="1800" dirty="0">
                <a:latin typeface="+mn-lt"/>
              </a:rPr>
            </a:br>
            <a:r>
              <a:rPr lang="en-US" altLang="en-US" sz="1800" dirty="0">
                <a:latin typeface="+mn-lt"/>
              </a:rPr>
              <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052616"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第 3 章 传输层</a:t>
            </a:r>
            <a:br>
              <a:rPr lang="en-US" altLang="en-US" sz="6000" b="1" dirty="0">
                <a:solidFill>
                  <a:srgbClr val="000099"/>
                </a:solidFill>
                <a:latin typeface="+mj-lt"/>
              </a:rPr>
            </a:br>
            <a:r>
              <a:rPr lang="en-US" altLang="en-US" sz="5400" b="1" dirty="0">
                <a:solidFill>
                  <a:srgbClr val="000099"/>
                </a:solidFill>
                <a:latin typeface="+mj-lt"/>
              </a:rPr>
              <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关于使用这些 PowerPoint 幻灯片的说明：</a:t>
            </a:r>
          </a:p>
          <a:p>
            <a:r>
              <a:rPr lang="en-US" altLang="en-US" sz="1400" dirty="0">
                <a:latin typeface="+mn-lt"/>
              </a:rPr>
              <a:t>我们将这些幻灯片免费提供给所有人（教师、学生、读者）使用。它们采用 PowerPoint 格式，因此你可以看到动画，也可以按需要添加、修改、删除幻灯片（包括本页）及其中内容。这些材料显然凝结了我们大量工作。作为使用回报，我们只提出以下要求：</a:t>
            </a:r>
            <a:r>
              <a:rPr lang="en-US" altLang="ja-JP" sz="1400" dirty="0">
                <a:latin typeface="+mn-lt"/>
              </a:rPr>
              <a:t/>
            </a:r>
            <a:r>
              <a:rPr lang="en-US" altLang="ja-JP" sz="1400" i="1" dirty="0">
                <a:latin typeface="+mn-lt"/>
              </a:rPr>
              <a:t/>
            </a:r>
            <a:r>
              <a:rPr lang="en-US" altLang="ja-JP" sz="1400" dirty="0">
                <a:latin typeface="+mn-lt"/>
              </a:rPr>
              <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如果你使用这些幻灯片（例如用于课堂），请说明其来源（毕竟，我们也希望大家使用我们的教材！）</a:t>
            </a:r>
            <a:r>
              <a:rPr lang="en-US" altLang="ja-JP" sz="1400" dirty="0">
                <a:latin typeface="+mn-lt"/>
                <a:cs typeface="Calibri" panose="020F0502020204030204" pitchFamily="34" charset="0"/>
              </a:rPr>
              <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如果你在网站上发布任何幻灯片，请注明它们改编自（或可能完全相同于）我们的幻灯片，并注明我们对这些材料拥有版权。</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修订历史请参见本页的幻灯片备注。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感谢使用，祝学习愉快！JFK/KWR</a:t>
            </a:r>
          </a:p>
          <a:p>
            <a:pPr>
              <a:lnSpc>
                <a:spcPct val="85000"/>
              </a:lnSpc>
            </a:pPr>
            <a:endParaRPr lang="en-US" altLang="en-US" sz="1400" dirty="0">
              <a:latin typeface="+mn-lt"/>
            </a:endParaRPr>
          </a:p>
          <a:p>
            <a:pPr>
              <a:lnSpc>
                <a:spcPct val="85000"/>
              </a:lnSpc>
            </a:pPr>
            <a:r>
              <a:rPr lang="en-US" altLang="en-US" sz="1400" dirty="0">
                <a:latin typeface="+mn-lt"/>
              </a:rPr>
              <a:t>     所有材料版权 1996-2020</a:t>
            </a:r>
          </a:p>
          <a:p>
            <a:pPr>
              <a:lnSpc>
                <a:spcPct val="85000"/>
              </a:lnSpc>
            </a:pPr>
            <a:r>
              <a:rPr lang="en-US" altLang="en-US" sz="1400" dirty="0">
                <a:latin typeface="+mn-lt"/>
              </a:rPr>
              <a:t>     J.F. Kurose 和 K.W. Ross，保留所有权利</a:t>
            </a:r>
            <a:endParaRPr lang="en-US" altLang="en-US" sz="1200" dirty="0">
              <a:latin typeface="+mn-lt"/>
            </a:endParaRPr>
          </a:p>
        </p:txBody>
      </p:sp>
      <p:sp>
        <p:nvSpPr>
          <p:cNvPr id="2" name="Slide Number Placeholder 1">
            <a:extLst>
              <a:ext uri="{FF2B5EF4-FFF2-40B4-BE49-F238E27FC236}">
                <a16:creationId xmlns:a16="http://schemas.microsoft.com/office/drawing/2014/main" id="{B46B45F3-5B52-354C-801C-007B1F52150F}"/>
              </a:ext>
            </a:extLst>
          </p:cNvPr>
          <p:cNvSpPr>
            <a:spLocks noGrp="1"/>
          </p:cNvSpPr>
          <p:nvPr>
            <p:ph type="sldNum" sz="quarter" idx="4"/>
          </p:nvPr>
        </p:nvSpPr>
        <p:spPr/>
        <p:txBody>
          <a:bodyPr/>
          <a:lstStyle/>
          <a:p>
            <a:r>
              <a:rPr lang="en-US"/>
              <a:t>传输层：3-1</a:t>
            </a:r>
            <a:fld id="{C4204591-24BD-A542-B9D5-F8D8A88D2FEE}" type="slidenum">
              <a:rPr lang="en-US" smtClean="0"/>
              <a:pPr/>
              <a:t/>
            </a:fld>
            <a:endParaRPr lang="en-US" dirty="0"/>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传输层：概览</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本节目标： </a:t>
            </a:r>
            <a:r>
              <a:rPr lang="en-US" altLang="en-US" sz="3200" i="1" dirty="0">
                <a:latin typeface="Calibri" panose="020F0502020204030204" pitchFamily="34" charset="0"/>
                <a:cs typeface="Calibri" panose="020F0502020204030204" pitchFamily="34" charset="0"/>
              </a:rPr>
              <a:t/>
            </a:r>
          </a:p>
          <a:p>
            <a:pPr marL="400050" indent="-285750">
              <a:buFont typeface="Wingdings" charset="2"/>
              <a:buChar char="§"/>
              <a:defRPr/>
            </a:pPr>
            <a:r>
              <a:rPr lang="en-US" sz="3200" dirty="0"/>
              <a:t>理解传输层服务背后的基本原理：</a:t>
            </a:r>
          </a:p>
          <a:p>
            <a:pPr lvl="1">
              <a:buFont typeface="Arial"/>
              <a:buChar char="•"/>
              <a:defRPr/>
            </a:pPr>
            <a:r>
              <a:rPr lang="en-US" sz="2800" dirty="0"/>
              <a:t>复用、分用</a:t>
            </a:r>
          </a:p>
          <a:p>
            <a:pPr lvl="1">
              <a:buFont typeface="Arial"/>
              <a:buChar char="•"/>
              <a:defRPr/>
            </a:pPr>
            <a:r>
              <a:rPr lang="en-US" sz="2800" dirty="0"/>
              <a:t>可靠数据传输</a:t>
            </a:r>
          </a:p>
          <a:p>
            <a:pPr lvl="1">
              <a:buFont typeface="Arial"/>
              <a:buChar char="•"/>
              <a:defRPr/>
            </a:pPr>
            <a:r>
              <a:rPr lang="en-US" sz="2800" dirty="0"/>
              <a:t>流量控制</a:t>
            </a:r>
          </a:p>
          <a:p>
            <a:pPr lvl="1">
              <a:buFont typeface="Arial"/>
              <a:buChar char="•"/>
              <a:defRPr/>
            </a:pPr>
            <a:r>
              <a:rPr lang="en-US" sz="2800" dirty="0"/>
              <a:t>拥塞控制</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学习互联网中的传输层协议：</a:t>
            </a:r>
          </a:p>
          <a:p>
            <a:pPr lvl="1">
              <a:buFont typeface="Arial"/>
              <a:buChar char="•"/>
              <a:defRPr/>
            </a:pPr>
            <a:r>
              <a:rPr lang="en-US" sz="2800" dirty="0"/>
              <a:t>UDP：无连接传输</a:t>
            </a:r>
          </a:p>
          <a:p>
            <a:pPr lvl="1">
              <a:buFont typeface="Arial"/>
              <a:buChar char="•"/>
              <a:defRPr/>
            </a:pPr>
            <a:r>
              <a:rPr lang="en-US" sz="2800" dirty="0"/>
              <a:t>TCP：面向连接的可靠传输</a:t>
            </a:r>
          </a:p>
          <a:p>
            <a:pPr lvl="1">
              <a:buFont typeface="Arial"/>
              <a:buChar char="•"/>
              <a:defRPr/>
            </a:pPr>
            <a:r>
              <a:rPr lang="en-US" sz="2800" dirty="0"/>
              <a:t>TCP 拥塞控制</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传输层：3-2</a:t>
            </a:r>
            <a:fld id="{C4204591-24BD-A542-B9D5-F8D8A88D2FEE}" type="slidenum">
              <a:rPr lang="en-US" smtClean="0"/>
              <a:pPr/>
              <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传输层：路线图</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传输层服务</a:t>
            </a:r>
          </a:p>
          <a:p>
            <a:pPr marL="403225" indent="-285750">
              <a:spcBef>
                <a:spcPts val="800"/>
              </a:spcBef>
            </a:pPr>
            <a:r>
              <a:rPr lang="en-US" altLang="en-US" sz="3200" dirty="0">
                <a:cs typeface="Calibri" panose="020F0502020204030204" pitchFamily="34" charset="0"/>
              </a:rPr>
              <a:t>复用与分用</a:t>
            </a:r>
          </a:p>
          <a:p>
            <a:pPr marL="403225" indent="-285750">
              <a:spcBef>
                <a:spcPts val="800"/>
              </a:spcBef>
            </a:pPr>
            <a:r>
              <a:rPr lang="en-US" altLang="en-US" sz="3200" dirty="0">
                <a:cs typeface="Calibri" panose="020F0502020204030204" pitchFamily="34" charset="0"/>
              </a:rPr>
              <a:t>无连接传输：UDP</a:t>
            </a:r>
          </a:p>
          <a:p>
            <a:pPr marL="403225" indent="-285750">
              <a:spcBef>
                <a:spcPts val="800"/>
              </a:spcBef>
            </a:pPr>
            <a:r>
              <a:rPr lang="en-US" altLang="en-US" sz="3200" dirty="0">
                <a:cs typeface="Calibri" panose="020F0502020204030204" pitchFamily="34" charset="0"/>
              </a:rPr>
              <a:t>可靠数据传输原理 </a:t>
            </a:r>
          </a:p>
          <a:p>
            <a:pPr marL="403225" indent="-285750">
              <a:spcBef>
                <a:spcPts val="800"/>
              </a:spcBef>
            </a:pPr>
            <a:r>
              <a:rPr lang="en-US" sz="3200" dirty="0"/>
              <a:t>面向连接的传输：TCP</a:t>
            </a:r>
          </a:p>
          <a:p>
            <a:pPr marL="403225" indent="-285750">
              <a:spcBef>
                <a:spcPts val="800"/>
              </a:spcBef>
            </a:pPr>
            <a:r>
              <a:rPr lang="en-US" sz="3200" dirty="0"/>
              <a:t>拥塞控制原理</a:t>
            </a:r>
          </a:p>
          <a:p>
            <a:pPr marL="403225" indent="-285750">
              <a:spcBef>
                <a:spcPts val="800"/>
              </a:spcBef>
            </a:pPr>
            <a:r>
              <a:rPr lang="en-US" sz="3200" dirty="0"/>
              <a:t>TCP 拥塞控制</a:t>
            </a:r>
          </a:p>
          <a:p>
            <a:pPr marL="403225" indent="-285750">
              <a:spcBef>
                <a:spcPts val="800"/>
              </a:spcBef>
            </a:pPr>
            <a:r>
              <a:rPr lang="en-US" sz="3200" dirty="0"/>
              <a:t>传输层功能的演进</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a:t>传输层：3-3</a:t>
            </a:r>
            <a:fld id="{C4204591-24BD-A542-B9D5-F8D8A88D2FEE}" type="slidenum">
              <a:rPr lang="en-US" smtClean="0"/>
              <a:pPr/>
              <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传输层服务与协议</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为运行在不同主机上的应用进程提供逻辑通信</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移动网络</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家庭网络</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企业</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网络层</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全国或全球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本地或区域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数据中心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网络层</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内容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提供商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网络层</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逻辑端到端传输</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端系统中的传输协议动作：</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发送方：把应用报文拆分为报文段，并交给网络层</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接收方：把报文段重组成报文，并交给应用层</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互联网应用可使用两种传输协议</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传输层：3-4</a:t>
            </a:r>
            <a:fld id="{C4204591-24BD-A542-B9D5-F8D8A88D2FEE}" type="slidenum">
              <a:rPr lang="en-US" smtClean="0"/>
              <a:pPr/>
              <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传输层与网络层的服务和协议</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家庭类比：</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a14="http://schemas.microsoft.com/office/drawing/2010/main" xmlns=""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Ann 家的 12 个孩子给 Bill 家的 12 个孩子写信：</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主机 = 房子</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进程 = 孩子</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应用报文 = 信封里的信</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传输协议 = Ann 和 Bill，负责把信分发给家里的兄弟姐妹</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网络层协议 = 邮政服务</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传输层：3-5</a:t>
            </a:r>
            <a:fld id="{C4204591-24BD-A542-B9D5-F8D8A88D2FEE}" type="slidenum">
              <a:rPr lang="en-US" smtClean="0"/>
              <a:pPr/>
              <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传输层与网络层的服务和协议</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02363" y="1523857"/>
            <a:ext cx="523091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网络层：主机之间的逻辑通信</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传输层：进程之间的逻辑通信 </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依赖并增强网络层服务</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家庭类比：</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a14="http://schemas.microsoft.com/office/drawing/2010/main" xmlns=""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Ann 家的 12 个孩子给 Bill 家的 12 个孩子写信：</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主机 = 房子</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进程 = 孩子</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应用报文 = 信封里的信</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传输协议 = Ann 和 Bill，负责把信分发给家里的兄弟姐妹</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网络层协议 = 邮政服务</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87844" y="4463368"/>
            <a:ext cx="5059089"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r>
              <a:rPr lang="en-US" dirty="0"/>
              <a:t>传输层：3-6</a:t>
            </a:r>
            <a:fld id="{C4204591-24BD-A542-B9D5-F8D8A88D2FEE}" type="slidenum">
              <a:rPr lang="en-US" smtClean="0"/>
              <a:pPr/>
              <a:t/>
            </a:fld>
            <a:endParaRPr lang="en-US" dirty="0"/>
          </a:p>
        </p:txBody>
      </p:sp>
    </p:spTree>
    <p:extLst>
      <p:ext uri="{BB962C8B-B14F-4D97-AF65-F5344CB8AC3E}">
        <p14:creationId xmlns:p14="http://schemas.microsoft.com/office/powerpoint/2010/main" val="2666551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17"/>
                                        </p:tgtEl>
                                        <p:attrNameLst>
                                          <p:attrName>style.visibility</p:attrName>
                                        </p:attrNameLst>
                                      </p:cBhvr>
                                      <p:to>
                                        <p:strVal val="visible"/>
                                      </p:to>
                                    </p:set>
                                    <p:animEffect transition="in" filter="dissolve">
                                      <p:cBhvr>
                                        <p:cTn id="11" dur="500"/>
                                        <p:tgtEl>
                                          <p:spTgt spid="5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传输层动作</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发送方：</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应用报文</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接收来自应用层的报文</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确定报文段首部字段的取值</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生成报文段</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把报文段交给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应用报文</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传输层：3-7</a:t>
            </a:r>
            <a:fld id="{C4204591-24BD-A542-B9D5-F8D8A88D2FEE}" type="slidenum">
              <a:rPr lang="en-US" smtClean="0"/>
              <a:pPr/>
              <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传输层动作</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接收方：</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应用报文</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提取应用层报文</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检查首部字段值</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从 IP 接收报文段</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应用报文</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通过套接字把报文分用给应用</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传输层：3-8</a:t>
            </a:r>
            <a:fld id="{C4204591-24BD-A542-B9D5-F8D8A88D2FEE}" type="slidenum">
              <a:rPr lang="en-US" smtClean="0"/>
              <a:pPr/>
              <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互联网的两个主要传输协议</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移动网络</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家庭网络</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企业</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网络层</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全国或全球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本地或区域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数据中心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网络层</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内容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提供商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网络层</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逻辑端到端传输</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TCP：传输控制协议</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可靠、按序交付</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拥塞控制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流量控制</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连接建立</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UDP：用户数据报协议</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不可靠、不按序交付</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对“尽力而为”IP 的简化扩展</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不提供的服务：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时延保证</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带宽保证</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传输层：3-9</a:t>
            </a:r>
            <a:fld id="{C4204591-24BD-A542-B9D5-F8D8A88D2FEE}" type="slidenum">
              <a:rPr lang="en-US" smtClean="0"/>
              <a:pPr/>
              <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第 3 章：路线图</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传输层服务</a:t>
            </a:r>
          </a:p>
          <a:p>
            <a:pPr marL="403225" indent="-285750">
              <a:spcBef>
                <a:spcPts val="800"/>
              </a:spcBef>
              <a:buClr>
                <a:srgbClr val="010086"/>
              </a:buClr>
            </a:pPr>
            <a:r>
              <a:rPr lang="en-US" altLang="en-US" sz="3200" dirty="0">
                <a:cs typeface="Calibri" panose="020F0502020204030204" pitchFamily="34" charset="0"/>
              </a:rPr>
              <a:t>复用与分用</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无连接传输：UDP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可靠数据传输原理 </a:t>
            </a:r>
          </a:p>
          <a:p>
            <a:pPr marL="403225" indent="-285750">
              <a:spcBef>
                <a:spcPts val="800"/>
              </a:spcBef>
              <a:buClr>
                <a:schemeClr val="bg1">
                  <a:lumMod val="75000"/>
                </a:schemeClr>
              </a:buClr>
            </a:pPr>
            <a:r>
              <a:rPr lang="en-US" sz="3200" dirty="0">
                <a:solidFill>
                  <a:schemeClr val="bg1">
                    <a:lumMod val="75000"/>
                  </a:schemeClr>
                </a:solidFill>
              </a:rPr>
              <a:t>面向连接的传输：TCP</a:t>
            </a:r>
          </a:p>
          <a:p>
            <a:pPr marL="403225" indent="-285750">
              <a:spcBef>
                <a:spcPts val="800"/>
              </a:spcBef>
              <a:buClr>
                <a:schemeClr val="bg1">
                  <a:lumMod val="75000"/>
                </a:schemeClr>
              </a:buClr>
            </a:pPr>
            <a:r>
              <a:rPr lang="en-US" sz="3200" dirty="0">
                <a:solidFill>
                  <a:schemeClr val="bg1">
                    <a:lumMod val="75000"/>
                  </a:schemeClr>
                </a:solidFill>
              </a:rPr>
              <a:t>拥塞控制原理</a:t>
            </a:r>
          </a:p>
          <a:p>
            <a:pPr marL="403225" indent="-285750">
              <a:spcBef>
                <a:spcPts val="800"/>
              </a:spcBef>
              <a:buClr>
                <a:schemeClr val="bg1">
                  <a:lumMod val="75000"/>
                </a:schemeClr>
              </a:buClr>
            </a:pPr>
            <a:r>
              <a:rPr lang="en-US" sz="3200" dirty="0">
                <a:solidFill>
                  <a:schemeClr val="bg1">
                    <a:lumMod val="75000"/>
                  </a:schemeClr>
                </a:solidFill>
              </a:rPr>
              <a:t>TCP 拥塞控制</a:t>
            </a:r>
          </a:p>
          <a:p>
            <a:pPr marL="403225" indent="-285750">
              <a:spcBef>
                <a:spcPts val="800"/>
              </a:spcBef>
              <a:buClr>
                <a:schemeClr val="bg1">
                  <a:lumMod val="75000"/>
                </a:schemeClr>
              </a:buClr>
            </a:pPr>
            <a:r>
              <a:rPr lang="en-US" sz="3200" dirty="0">
                <a:solidFill>
                  <a:schemeClr val="bg1">
                    <a:lumMod val="75000"/>
                  </a:schemeClr>
                </a:solidFill>
              </a:rPr>
              <a:t>传输层功能的演进</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a:t>传输层：3-10</a:t>
            </a:r>
            <a:fld id="{C4204591-24BD-A542-B9D5-F8D8A88D2FEE}" type="slidenum">
              <a:rPr lang="en-US" smtClean="0"/>
              <a:pPr/>
              <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服务器</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客户机</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报文</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传输层：3-11</a:t>
            </a:r>
            <a:fld id="{C4204591-24BD-A542-B9D5-F8D8A88D2FEE}" type="slidenum">
              <a:rPr lang="en-US" smtClean="0"/>
              <a:pPr/>
              <a:t/>
            </a:fld>
            <a:endParaRPr lang="en-US" dirty="0"/>
          </a:p>
        </p:txBody>
      </p:sp>
    </p:spTree>
    <p:extLst>
      <p:ext uri="{BB962C8B-B14F-4D97-AF65-F5344CB8AC3E}">
        <p14:creationId xmlns:p14="http://schemas.microsoft.com/office/powerpoint/2010/main" val="314053260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服务器</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客户机</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8837" y="2685375"/>
            <a:ext cx="1404036" cy="384588"/>
            <a:chOff x="8597346" y="692270"/>
            <a:chExt cx="1404036" cy="384588"/>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报文</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报文</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6" name="Slide Number Placeholder 2">
            <a:extLst>
              <a:ext uri="{FF2B5EF4-FFF2-40B4-BE49-F238E27FC236}">
                <a16:creationId xmlns:a16="http://schemas.microsoft.com/office/drawing/2014/main" id="{3651FB73-A1BA-B148-9B5B-B80094A91758}"/>
              </a:ext>
            </a:extLst>
          </p:cNvPr>
          <p:cNvSpPr>
            <a:spLocks noGrp="1"/>
          </p:cNvSpPr>
          <p:nvPr>
            <p:ph type="sldNum" sz="quarter" idx="4"/>
          </p:nvPr>
        </p:nvSpPr>
        <p:spPr>
          <a:xfrm>
            <a:off x="9219616" y="6443089"/>
            <a:ext cx="2743200" cy="365125"/>
          </a:xfrm>
        </p:spPr>
        <p:txBody>
          <a:bodyPr/>
          <a:lstStyle/>
          <a:p>
            <a:r>
              <a:rPr lang="en-US" dirty="0"/>
              <a:t>传输层：3-12</a:t>
            </a:r>
            <a:fld id="{C4204591-24BD-A542-B9D5-F8D8A88D2FEE}" type="slidenum">
              <a:rPr lang="en-US" smtClean="0"/>
              <a:pPr/>
              <a:t/>
            </a:fld>
            <a:endParaRPr lang="en-US" dirty="0"/>
          </a:p>
        </p:txBody>
      </p:sp>
    </p:spTree>
    <p:extLst>
      <p:ext uri="{BB962C8B-B14F-4D97-AF65-F5344CB8AC3E}">
        <p14:creationId xmlns:p14="http://schemas.microsoft.com/office/powerpoint/2010/main" val="2356625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服务器</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客户机</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报文</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7B18E3F3-40BD-0C49-8324-41152F4086DF}"/>
              </a:ext>
            </a:extLst>
          </p:cNvPr>
          <p:cNvGrpSpPr/>
          <p:nvPr/>
        </p:nvGrpSpPr>
        <p:grpSpPr>
          <a:xfrm>
            <a:off x="5272320" y="3145339"/>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报文</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报文</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r>
              <a:rPr lang="en-US" dirty="0"/>
              <a:t>传输层：3-13</a:t>
            </a:r>
            <a:fld id="{C4204591-24BD-A542-B9D5-F8D8A88D2FEE}" type="slidenum">
              <a:rPr lang="en-US" smtClean="0"/>
              <a:pPr/>
              <a:t/>
            </a:fld>
            <a:endParaRPr lang="en-US" dirty="0"/>
          </a:p>
        </p:txBody>
      </p:sp>
    </p:spTree>
    <p:extLst>
      <p:ext uri="{BB962C8B-B14F-4D97-AF65-F5344CB8AC3E}">
        <p14:creationId xmlns:p14="http://schemas.microsoft.com/office/powerpoint/2010/main" val="26643578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服务器</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客户机</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7B18E3F3-40BD-0C49-8324-41152F4086DF}"/>
              </a:ext>
            </a:extLst>
          </p:cNvPr>
          <p:cNvGrpSpPr/>
          <p:nvPr/>
        </p:nvGrpSpPr>
        <p:grpSpPr>
          <a:xfrm>
            <a:off x="4107096" y="5561831"/>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报文</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 name="Straight Arrow Connector 2">
            <a:extLst>
              <a:ext uri="{FF2B5EF4-FFF2-40B4-BE49-F238E27FC236}">
                <a16:creationId xmlns:a16="http://schemas.microsoft.com/office/drawing/2014/main" id="{1B834CFE-E231-7940-A2C6-E5A762AAF408}"/>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sp>
        <p:nvSpPr>
          <p:cNvPr id="98" name="Slide Number Placeholder 2">
            <a:extLst>
              <a:ext uri="{FF2B5EF4-FFF2-40B4-BE49-F238E27FC236}">
                <a16:creationId xmlns:a16="http://schemas.microsoft.com/office/drawing/2014/main" id="{9D27FD24-CD71-B149-A674-58F712CA9599}"/>
              </a:ext>
            </a:extLst>
          </p:cNvPr>
          <p:cNvSpPr>
            <a:spLocks noGrp="1"/>
          </p:cNvSpPr>
          <p:nvPr>
            <p:ph type="sldNum" sz="quarter" idx="4"/>
          </p:nvPr>
        </p:nvSpPr>
        <p:spPr>
          <a:xfrm>
            <a:off x="9219616" y="6443089"/>
            <a:ext cx="2743200" cy="365125"/>
          </a:xfrm>
        </p:spPr>
        <p:txBody>
          <a:bodyPr/>
          <a:lstStyle/>
          <a:p>
            <a:r>
              <a:rPr lang="en-US" dirty="0"/>
              <a:t>传输层：3-14</a:t>
            </a:r>
            <a:fld id="{C4204591-24BD-A542-B9D5-F8D8A88D2FEE}" type="slidenum">
              <a:rPr lang="en-US" smtClean="0"/>
              <a:pPr/>
              <a:t/>
            </a:fld>
            <a:endParaRPr lang="en-US" dirty="0"/>
          </a:p>
        </p:txBody>
      </p:sp>
    </p:spTree>
    <p:extLst>
      <p:ext uri="{BB962C8B-B14F-4D97-AF65-F5344CB8AC3E}">
        <p14:creationId xmlns:p14="http://schemas.microsoft.com/office/powerpoint/2010/main" val="1093382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wipe(right)">
                                      <p:cBhvr>
                                        <p:cTn id="7" dur="500"/>
                                        <p:tgtEl>
                                          <p:spTgt spid="9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服务器</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客户机 1</a:t>
              </a:r>
              <a:r>
                <a:rPr kumimoji="0" lang="en-US" sz="2800" b="0" i="0" u="none" strike="noStrike" kern="1200" cap="none" spc="0" normalizeH="0" baseline="-25000" noProof="0" dirty="0">
                  <a:ln>
                    <a:noFill/>
                  </a:ln>
                  <a:solidFill>
                    <a:prstClr val="black"/>
                  </a:solidFill>
                  <a:effectLst/>
                  <a:uLnTx/>
                  <a:uFillTx/>
                  <a:latin typeface="Calibri"/>
                  <a:ea typeface="+mn-ea"/>
                  <a:cs typeface="+mn-cs"/>
                </a:rPr>
                <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sp>
          <p:nvSpPr>
            <p:cNvPr id="106" name="TextBox 105">
              <a:extLst>
                <a:ext uri="{FF2B5EF4-FFF2-40B4-BE49-F238E27FC236}">
                  <a16:creationId xmlns:a16="http://schemas.microsoft.com/office/drawing/2014/main" id="{B0EE723F-4512-B04F-A1A8-CFC321B8BC75}"/>
                </a:ext>
              </a:extLst>
            </p:cNvPr>
            <p:cNvSpPr txBox="1"/>
            <p:nvPr/>
          </p:nvSpPr>
          <p:spPr>
            <a:xfrm>
              <a:off x="8196770" y="3636485"/>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客户机 2</a:t>
              </a:r>
              <a:r>
                <a:rPr kumimoji="0" lang="en-US" sz="2800" b="0" i="0" u="none" strike="noStrike" kern="1200" cap="none" spc="0" normalizeH="0" baseline="-25000" noProof="0" dirty="0">
                  <a:ln>
                    <a:noFill/>
                  </a:ln>
                  <a:solidFill>
                    <a:prstClr val="black"/>
                  </a:solidFill>
                  <a:effectLst/>
                  <a:uLnTx/>
                  <a:uFillTx/>
                  <a:latin typeface="Calibri"/>
                  <a:ea typeface="+mn-ea"/>
                  <a:cs typeface="+mn-cs"/>
                </a:rPr>
                <a:t/>
              </a:r>
            </a:p>
          </p:txBody>
        </p:sp>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9704593" y="3018504"/>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6146230" y="5329338"/>
            <a:ext cx="3558363"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7" name="Oval 128">
            <a:extLst>
              <a:ext uri="{FF2B5EF4-FFF2-40B4-BE49-F238E27FC236}">
                <a16:creationId xmlns:a16="http://schemas.microsoft.com/office/drawing/2014/main" id="{C9683072-CF4E-DB4A-85E4-079345D6F273}"/>
              </a:ext>
            </a:extLst>
          </p:cNvPr>
          <p:cNvSpPr>
            <a:spLocks noChangeArrowheads="1"/>
          </p:cNvSpPr>
          <p:nvPr/>
        </p:nvSpPr>
        <p:spPr bwMode="auto">
          <a:xfrm>
            <a:off x="4977190" y="1924156"/>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108" name="Oval 128">
            <a:extLst>
              <a:ext uri="{FF2B5EF4-FFF2-40B4-BE49-F238E27FC236}">
                <a16:creationId xmlns:a16="http://schemas.microsoft.com/office/drawing/2014/main" id="{12C63F66-A046-B04C-ABF5-DE764DC4A1CB}"/>
              </a:ext>
            </a:extLst>
          </p:cNvPr>
          <p:cNvSpPr>
            <a:spLocks noChangeArrowheads="1"/>
          </p:cNvSpPr>
          <p:nvPr/>
        </p:nvSpPr>
        <p:spPr bwMode="auto">
          <a:xfrm>
            <a:off x="6094177" y="1951196"/>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4" name="Freeform 3">
            <a:extLst>
              <a:ext uri="{FF2B5EF4-FFF2-40B4-BE49-F238E27FC236}">
                <a16:creationId xmlns:a16="http://schemas.microsoft.com/office/drawing/2014/main" id="{C06AE4EB-B6F7-D647-8126-954E43EA0CD4}"/>
              </a:ext>
            </a:extLst>
          </p:cNvPr>
          <p:cNvSpPr/>
          <p:nvPr/>
        </p:nvSpPr>
        <p:spPr>
          <a:xfrm>
            <a:off x="6149438" y="2346690"/>
            <a:ext cx="163654" cy="3001414"/>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4925">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26C1DF51-2C5A-3042-AF2B-8FAC17544498}"/>
              </a:ext>
            </a:extLst>
          </p:cNvPr>
          <p:cNvSpPr/>
          <p:nvPr/>
        </p:nvSpPr>
        <p:spPr>
          <a:xfrm flipH="1">
            <a:off x="5797083" y="2342230"/>
            <a:ext cx="163654" cy="3099711"/>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8100">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2" name="Straight Connector 111">
            <a:extLst>
              <a:ext uri="{FF2B5EF4-FFF2-40B4-BE49-F238E27FC236}">
                <a16:creationId xmlns:a16="http://schemas.microsoft.com/office/drawing/2014/main" id="{DF7169CD-8DF9-644A-84B2-14B8ED6F997C}"/>
              </a:ext>
            </a:extLst>
          </p:cNvPr>
          <p:cNvCxnSpPr>
            <a:cxnSpLocks/>
          </p:cNvCxnSpPr>
          <p:nvPr/>
        </p:nvCxnSpPr>
        <p:spPr>
          <a:xfrm>
            <a:off x="3218929" y="3094306"/>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1322F59-E51A-0245-A327-5845569D47A8}"/>
              </a:ext>
            </a:extLst>
          </p:cNvPr>
          <p:cNvCxnSpPr>
            <a:cxnSpLocks/>
          </p:cNvCxnSpPr>
          <p:nvPr/>
        </p:nvCxnSpPr>
        <p:spPr>
          <a:xfrm>
            <a:off x="3189176" y="5423906"/>
            <a:ext cx="2771561" cy="0"/>
          </a:xfrm>
          <a:prstGeom prst="line">
            <a:avLst/>
          </a:prstGeom>
          <a:ln w="44450"/>
        </p:spPr>
        <p:style>
          <a:lnRef idx="1">
            <a:schemeClr val="accent1"/>
          </a:lnRef>
          <a:fillRef idx="0">
            <a:schemeClr val="accent1"/>
          </a:fillRef>
          <a:effectRef idx="0">
            <a:schemeClr val="accent1"/>
          </a:effectRef>
          <a:fontRef idx="minor">
            <a:schemeClr val="tx1"/>
          </a:fontRef>
        </p:style>
      </p:cxnSp>
      <p:pic>
        <p:nvPicPr>
          <p:cNvPr id="115" name="Picture 8" descr="Image result for blue question mark icon">
            <a:extLst>
              <a:ext uri="{FF2B5EF4-FFF2-40B4-BE49-F238E27FC236}">
                <a16:creationId xmlns:a16="http://schemas.microsoft.com/office/drawing/2014/main" id="{9970C4B0-3E2B-3247-8288-8E86060683C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85255" y="752589"/>
            <a:ext cx="1624375" cy="1624375"/>
          </a:xfrm>
          <a:prstGeom prst="rect">
            <a:avLst/>
          </a:prstGeom>
          <a:noFill/>
          <a:extLst>
            <a:ext uri="{909E8E84-426E-40dd-AFC4-6F175D3DCCD1}">
              <a14:hiddenFill xmlns="" xmlns:a14="http://schemas.microsoft.com/office/drawing/2010/main">
                <a:solidFill>
                  <a:srgbClr val="FFFFFF"/>
                </a:solidFill>
              </a14:hiddenFill>
            </a:ext>
          </a:extLst>
        </p:spPr>
      </p:pic>
      <p:sp>
        <p:nvSpPr>
          <p:cNvPr id="95" name="Slide Number Placeholder 2">
            <a:extLst>
              <a:ext uri="{FF2B5EF4-FFF2-40B4-BE49-F238E27FC236}">
                <a16:creationId xmlns:a16="http://schemas.microsoft.com/office/drawing/2014/main" id="{FBAF143A-4EAF-324F-A6C2-31B9E7C4272D}"/>
              </a:ext>
            </a:extLst>
          </p:cNvPr>
          <p:cNvSpPr>
            <a:spLocks noGrp="1"/>
          </p:cNvSpPr>
          <p:nvPr>
            <p:ph type="sldNum" sz="quarter" idx="4"/>
          </p:nvPr>
        </p:nvSpPr>
        <p:spPr>
          <a:xfrm>
            <a:off x="9219616" y="6443089"/>
            <a:ext cx="2743200" cy="365125"/>
          </a:xfrm>
        </p:spPr>
        <p:txBody>
          <a:bodyPr/>
          <a:lstStyle/>
          <a:p>
            <a:r>
              <a:rPr lang="en-US" dirty="0"/>
              <a:t>传输层：3-15</a:t>
            </a:r>
            <a:fld id="{C4204591-24BD-A542-B9D5-F8D8A88D2FEE}" type="slidenum">
              <a:rPr lang="en-US" smtClean="0"/>
              <a:pPr/>
              <a:t/>
            </a:fld>
            <a:endParaRPr lang="en-US" dirty="0"/>
          </a:p>
        </p:txBody>
      </p:sp>
    </p:spTree>
    <p:extLst>
      <p:ext uri="{BB962C8B-B14F-4D97-AF65-F5344CB8AC3E}">
        <p14:creationId xmlns:p14="http://schemas.microsoft.com/office/powerpoint/2010/main" val="2656764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10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复用/分用</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进程</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套接字</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3" cy="1639889"/>
            <a:chOff x="7016607" y="1655043"/>
            <a:chExt cx="4836313"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0" y="1655043"/>
              <a:ext cx="4679950"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使用首部信息把</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收到的报文段交付给正确的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套接字</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接收方分用：</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处理来自多个</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套接字的数据，添加传输层首部（稍后用于分用）</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发送方复用：</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r>
              <a:rPr lang="en-US" dirty="0"/>
              <a:t>传输层：3-16</a:t>
            </a:r>
            <a:fld id="{C4204591-24BD-A542-B9D5-F8D8A88D2FEE}" type="slidenum">
              <a:rPr lang="en-US" smtClean="0"/>
              <a:pPr/>
              <a:t/>
            </a:fld>
            <a:endParaRPr lang="en-US" dirty="0"/>
          </a:p>
        </p:txBody>
      </p:sp>
    </p:spTree>
    <p:extLst>
      <p:ext uri="{BB962C8B-B14F-4D97-AF65-F5344CB8AC3E}">
        <p14:creationId xmlns:p14="http://schemas.microsoft.com/office/powerpoint/2010/main" val="2972402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分用如何工作</a:t>
            </a:r>
            <a:r>
              <a:rPr lang="en-US" dirty="0"/>
              <a:t/>
            </a:r>
            <a:r>
              <a:rPr lang="en-US" sz="4400" dirty="0"/>
              <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主机接收 IP 数据报</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每个数据报都有源 IP 地址和目的 IP 地址</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每个数据报携带一个传输层报文段</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每个报文段都有源端口号和目的端口号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主机使用 IP 地址和端口号把报文段送到合适的套接字</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源端口号</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目的端口号</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32 比特</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应用层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数据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（载荷）</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其他首部字段</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TCP/UDP 报文段格式</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传输层：3-17</a:t>
            </a:r>
            <a:fld id="{C4204591-24BD-A542-B9D5-F8D8A88D2FEE}" type="slidenum">
              <a:rPr lang="en-US" smtClean="0"/>
              <a:pPr/>
              <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无连接分用</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回顾：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创建套接字时，必须指定主机本地端口号：</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DatagramSocket</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mySocket1        = new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DatagramSocket</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当接收主机收到 UDP 报文段时：</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检查报文段中的目的端口号</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把 UDP 报文段送到该端口号对应的套接字</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创建要发送到 UDP 套接字的数据报时，必须指定</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目的 IP 地址</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目的端口号</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具有相同目的端口号、但源 IP 地址和/或源端口号不同的 IP/UDP 数据报，会被接收主机送到同一个套接字</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传输层：3-18</a:t>
            </a:r>
            <a:fld id="{C4204591-24BD-A542-B9D5-F8D8A88D2FEE}" type="slidenum">
              <a:rPr lang="en-US" smtClean="0"/>
              <a:pPr/>
              <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无连接分用：示例</a:t>
            </a:r>
          </a:p>
        </p:txBody>
      </p:sp>
      <p:sp>
        <p:nvSpPr>
          <p:cNvPr id="138" name="Rectangle 44">
            <a:extLst>
              <a:ext uri="{FF2B5EF4-FFF2-40B4-BE49-F238E27FC236}">
                <a16:creationId xmlns:a16="http://schemas.microsoft.com/office/drawing/2014/main" id="{E4FB09F6-4D90-9944-956D-25B59CB77E40}"/>
              </a:ext>
            </a:extLst>
          </p:cNvPr>
          <p:cNvSpPr txBox="1">
            <a:spLocks noChangeArrowheads="1"/>
          </p:cNvSpPr>
          <p:nvPr/>
        </p:nvSpPr>
        <p:spPr bwMode="auto">
          <a:xfrm>
            <a:off x="4598987" y="1387147"/>
            <a:ext cx="4217987" cy="7254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32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8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a:t>
            </a: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serverSocket</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 new </a:t>
            </a: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DatagramSocket</a:t>
            </a:r>
            <a:endPar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endParaRPr>
          </a:p>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a:t>
            </a:r>
            <a:r>
              <a:rPr kumimoji="0" lang="en-US" sz="2000" b="1" i="0" u="none" strike="noStrike" kern="0" cap="none" spc="0" normalizeH="0" baseline="0" noProof="0" dirty="0">
                <a:ln>
                  <a:noFill/>
                </a:ln>
                <a:solidFill>
                  <a:srgbClr val="CC0000"/>
                </a:solidFill>
                <a:effectLst/>
                <a:uLnTx/>
                <a:uFillTx/>
                <a:latin typeface="Courier New" charset="0"/>
                <a:ea typeface="ＭＳ Ｐゴシック" charset="0"/>
                <a:cs typeface="+mn-cs"/>
              </a:rPr>
              <a:t>6428</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a:t>
            </a:r>
          </a:p>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40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15331" y="2807714"/>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Rectangle 23">
            <a:extLst>
              <a:ext uri="{FF2B5EF4-FFF2-40B4-BE49-F238E27FC236}">
                <a16:creationId xmlns:a16="http://schemas.microsoft.com/office/drawing/2014/main" id="{17E6F561-D2E2-784F-818C-D83319DE8316}"/>
              </a:ext>
            </a:extLst>
          </p:cNvPr>
          <p:cNvSpPr>
            <a:spLocks noChangeArrowheads="1"/>
          </p:cNvSpPr>
          <p:nvPr/>
        </p:nvSpPr>
        <p:spPr bwMode="auto">
          <a:xfrm>
            <a:off x="2520156" y="2774376"/>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8" name="Rectangle 23">
            <a:extLst>
              <a:ext uri="{FF2B5EF4-FFF2-40B4-BE49-F238E27FC236}">
                <a16:creationId xmlns:a16="http://schemas.microsoft.com/office/drawing/2014/main" id="{4CF23822-9D9B-0E42-93CC-6BA8EA8935C9}"/>
              </a:ext>
            </a:extLst>
          </p:cNvPr>
          <p:cNvSpPr>
            <a:spLocks noChangeArrowheads="1"/>
          </p:cNvSpPr>
          <p:nvPr/>
        </p:nvSpPr>
        <p:spPr bwMode="auto">
          <a:xfrm>
            <a:off x="5347493" y="254101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23">
            <a:extLst>
              <a:ext uri="{FF2B5EF4-FFF2-40B4-BE49-F238E27FC236}">
                <a16:creationId xmlns:a16="http://schemas.microsoft.com/office/drawing/2014/main" id="{5DBC5F7E-FBFE-9545-9C61-2B1EE876BE58}"/>
              </a:ext>
            </a:extLst>
          </p:cNvPr>
          <p:cNvSpPr>
            <a:spLocks noChangeArrowheads="1"/>
          </p:cNvSpPr>
          <p:nvPr/>
        </p:nvSpPr>
        <p:spPr bwMode="auto">
          <a:xfrm>
            <a:off x="8354218" y="276643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P4</a:t>
            </a: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613106" y="2787076"/>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3" name="Rectangle 173">
            <a:extLst>
              <a:ext uri="{FF2B5EF4-FFF2-40B4-BE49-F238E27FC236}">
                <a16:creationId xmlns:a16="http://schemas.microsoft.com/office/drawing/2014/main" id="{ACF402A0-C6AF-8D4B-9459-C028398F8678}"/>
              </a:ext>
            </a:extLst>
          </p:cNvPr>
          <p:cNvSpPr>
            <a:spLocks noChangeArrowheads="1"/>
          </p:cNvSpPr>
          <p:nvPr/>
        </p:nvSpPr>
        <p:spPr bwMode="auto">
          <a:xfrm>
            <a:off x="7968800" y="2094763"/>
            <a:ext cx="4189623" cy="655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mySocket1 = new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a:ln>
                  <a:noFill/>
                </a:ln>
                <a:solidFill>
                  <a:srgbClr val="CC0000"/>
                </a:solidFill>
                <a:effectLst/>
                <a:uLnTx/>
                <a:uFillTx/>
                <a:latin typeface="Courier New" charset="0"/>
                <a:ea typeface="ＭＳ Ｐゴシック" charset="0"/>
                <a:cs typeface="+mn-cs"/>
              </a:rPr>
              <a:t>5775</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496329" y="2088579"/>
            <a:ext cx="3755375" cy="655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mySocket2 = new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endPar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a:ln>
                  <a:noFill/>
                </a:ln>
                <a:solidFill>
                  <a:srgbClr val="CC0000"/>
                </a:solidFill>
                <a:effectLst/>
                <a:uLnTx/>
                <a:uFillTx/>
                <a:latin typeface="Courier New" charset="0"/>
                <a:ea typeface="ＭＳ Ｐゴシック" charset="0"/>
                <a:cs typeface="+mn-cs"/>
              </a:rPr>
              <a:t>9157</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40818" y="5790626"/>
            <a:ext cx="1644650" cy="652463"/>
            <a:chOff x="1318" y="3697"/>
            <a:chExt cx="1036" cy="411"/>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18" y="3822"/>
              <a:ext cx="994"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源端口：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目的端口：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3" y="4914326"/>
            <a:ext cx="1692275" cy="652463"/>
            <a:chOff x="2741" y="3750"/>
            <a:chExt cx="1066" cy="411"/>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994"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源端口：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目的端口：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源端口：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目的端口：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源端口：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目的端口：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7" name="Slide Number Placeholder 2">
            <a:extLst>
              <a:ext uri="{FF2B5EF4-FFF2-40B4-BE49-F238E27FC236}">
                <a16:creationId xmlns:a16="http://schemas.microsoft.com/office/drawing/2014/main" id="{7A20C98F-8CB3-904A-A136-78573229D8FE}"/>
              </a:ext>
            </a:extLst>
          </p:cNvPr>
          <p:cNvSpPr>
            <a:spLocks noGrp="1"/>
          </p:cNvSpPr>
          <p:nvPr>
            <p:ph type="sldNum" sz="quarter" idx="4"/>
          </p:nvPr>
        </p:nvSpPr>
        <p:spPr>
          <a:xfrm>
            <a:off x="9219616" y="6443089"/>
            <a:ext cx="2743200" cy="365125"/>
          </a:xfrm>
        </p:spPr>
        <p:txBody>
          <a:bodyPr/>
          <a:lstStyle/>
          <a:p>
            <a:r>
              <a:rPr lang="en-US" dirty="0"/>
              <a:t>传输层：3-19</a:t>
            </a:r>
            <a:fld id="{C4204591-24BD-A542-B9D5-F8D8A88D2FEE}" type="slidenum">
              <a:rPr lang="en-US" smtClean="0"/>
              <a:pPr/>
              <a:t/>
            </a:fld>
            <a:endParaRPr lang="en-US" dirty="0"/>
          </a:p>
        </p:txBody>
      </p:sp>
    </p:spTree>
    <p:extLst>
      <p:ext uri="{BB962C8B-B14F-4D97-AF65-F5344CB8AC3E}">
        <p14:creationId xmlns:p14="http://schemas.microsoft.com/office/powerpoint/2010/main" val="271510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nodeType="withEffect">
                                  <p:stCondLst>
                                    <p:cond delay="0"/>
                                  </p:stCondLst>
                                  <p:childTnLst>
                                    <p:set>
                                      <p:cBhvr>
                                        <p:cTn id="17" dur="1" fill="hold">
                                          <p:stCondLst>
                                            <p:cond delay="0"/>
                                          </p:stCondLst>
                                        </p:cTn>
                                        <p:tgtEl>
                                          <p:spTgt spid="193">
                                            <p:txEl>
                                              <p:pRg st="0" end="0"/>
                                            </p:txEl>
                                          </p:spTgt>
                                        </p:tgtEl>
                                        <p:attrNameLst>
                                          <p:attrName>style.visibility</p:attrName>
                                        </p:attrNameLst>
                                      </p:cBhvr>
                                      <p:to>
                                        <p:strVal val="visible"/>
                                      </p:to>
                                    </p:set>
                                    <p:animEffect transition="in" filter="dissolve">
                                      <p:cBhvr>
                                        <p:cTn id="18" dur="500"/>
                                        <p:tgtEl>
                                          <p:spTgt spid="193">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1" presetClass="entr" presetSubtype="0" fill="hold" grpId="0" nodeType="withEffect">
                                  <p:stCondLst>
                                    <p:cond delay="0"/>
                                  </p:stCondLst>
                                  <p:childTnLst>
                                    <p:set>
                                      <p:cBhvr>
                                        <p:cTn id="25" dur="1" fill="hold">
                                          <p:stCondLst>
                                            <p:cond delay="0"/>
                                          </p:stCondLst>
                                        </p:cTn>
                                        <p:tgtEl>
                                          <p:spTgt spid="138">
                                            <p:txEl>
                                              <p:pRg st="0" end="0"/>
                                            </p:txEl>
                                          </p:spTgt>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138">
                                            <p:txEl>
                                              <p:pRg st="1" end="1"/>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95"/>
                                        </p:tgtEl>
                                        <p:attrNameLst>
                                          <p:attrName>style.visibility</p:attrName>
                                        </p:attrNameLst>
                                      </p:cBhvr>
                                      <p:to>
                                        <p:strVal val="visible"/>
                                      </p:to>
                                    </p:set>
                                    <p:animEffect transition="in" filter="wipe(up)">
                                      <p:cBhvr>
                                        <p:cTn id="32" dur="500"/>
                                        <p:tgtEl>
                                          <p:spTgt spid="195"/>
                                        </p:tgtEl>
                                      </p:cBhvr>
                                    </p:animEffect>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197"/>
                                        </p:tgtEl>
                                        <p:attrNameLst>
                                          <p:attrName>style.visibility</p:attrName>
                                        </p:attrNameLst>
                                      </p:cBhvr>
                                      <p:to>
                                        <p:strVal val="visible"/>
                                      </p:to>
                                    </p:set>
                                    <p:animEffect transition="in" filter="wipe(left)">
                                      <p:cBhvr>
                                        <p:cTn id="36" dur="500"/>
                                        <p:tgtEl>
                                          <p:spTgt spid="197"/>
                                        </p:tgtEl>
                                      </p:cBhvr>
                                    </p:animEffect>
                                  </p:childTnLst>
                                </p:cTn>
                              </p:par>
                              <p:par>
                                <p:cTn id="37" presetID="22" presetClass="entr" presetSubtype="8" fill="hold" nodeType="withEffect">
                                  <p:stCondLst>
                                    <p:cond delay="0"/>
                                  </p:stCondLst>
                                  <p:childTnLst>
                                    <p:set>
                                      <p:cBhvr>
                                        <p:cTn id="38" dur="1" fill="hold">
                                          <p:stCondLst>
                                            <p:cond delay="0"/>
                                          </p:stCondLst>
                                        </p:cTn>
                                        <p:tgtEl>
                                          <p:spTgt spid="207"/>
                                        </p:tgtEl>
                                        <p:attrNameLst>
                                          <p:attrName>style.visibility</p:attrName>
                                        </p:attrNameLst>
                                      </p:cBhvr>
                                      <p:to>
                                        <p:strVal val="visible"/>
                                      </p:to>
                                    </p:set>
                                    <p:animEffect transition="in" filter="wipe(left)">
                                      <p:cBhvr>
                                        <p:cTn id="39" dur="500"/>
                                        <p:tgtEl>
                                          <p:spTgt spid="207"/>
                                        </p:tgtEl>
                                      </p:cBhvr>
                                    </p:animEffect>
                                  </p:childTnLst>
                                </p:cTn>
                              </p:par>
                            </p:childTnLst>
                          </p:cTn>
                        </p:par>
                        <p:par>
                          <p:cTn id="40" fill="hold">
                            <p:stCondLst>
                              <p:cond delay="1000"/>
                            </p:stCondLst>
                            <p:childTnLst>
                              <p:par>
                                <p:cTn id="41" presetID="22" presetClass="entr" presetSubtype="4" fill="hold" nodeType="afterEffect">
                                  <p:stCondLst>
                                    <p:cond delay="0"/>
                                  </p:stCondLst>
                                  <p:childTnLst>
                                    <p:set>
                                      <p:cBhvr>
                                        <p:cTn id="42" dur="1" fill="hold">
                                          <p:stCondLst>
                                            <p:cond delay="0"/>
                                          </p:stCondLst>
                                        </p:cTn>
                                        <p:tgtEl>
                                          <p:spTgt spid="196"/>
                                        </p:tgtEl>
                                        <p:attrNameLst>
                                          <p:attrName>style.visibility</p:attrName>
                                        </p:attrNameLst>
                                      </p:cBhvr>
                                      <p:to>
                                        <p:strVal val="visible"/>
                                      </p:to>
                                    </p:set>
                                    <p:animEffect transition="in" filter="wipe(down)">
                                      <p:cBhvr>
                                        <p:cTn id="43" dur="500"/>
                                        <p:tgtEl>
                                          <p:spTgt spid="19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198"/>
                                        </p:tgtEl>
                                        <p:attrNameLst>
                                          <p:attrName>style.visibility</p:attrName>
                                        </p:attrNameLst>
                                      </p:cBhvr>
                                      <p:to>
                                        <p:strVal val="visible"/>
                                      </p:to>
                                    </p:set>
                                    <p:animEffect transition="in" filter="wipe(up)">
                                      <p:cBhvr>
                                        <p:cTn id="48" dur="500"/>
                                        <p:tgtEl>
                                          <p:spTgt spid="198"/>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199"/>
                                        </p:tgtEl>
                                        <p:attrNameLst>
                                          <p:attrName>style.visibility</p:attrName>
                                        </p:attrNameLst>
                                      </p:cBhvr>
                                      <p:to>
                                        <p:strVal val="visible"/>
                                      </p:to>
                                    </p:set>
                                    <p:animEffect transition="in" filter="wipe(right)">
                                      <p:cBhvr>
                                        <p:cTn id="52" dur="500"/>
                                        <p:tgtEl>
                                          <p:spTgt spid="199"/>
                                        </p:tgtEl>
                                      </p:cBhvr>
                                    </p:animEffect>
                                  </p:childTnLst>
                                </p:cTn>
                              </p:par>
                              <p:par>
                                <p:cTn id="53" presetID="22" presetClass="entr" presetSubtype="2" fill="hold" nodeType="withEffect">
                                  <p:stCondLst>
                                    <p:cond delay="0"/>
                                  </p:stCondLst>
                                  <p:childTnLst>
                                    <p:set>
                                      <p:cBhvr>
                                        <p:cTn id="54" dur="1" fill="hold">
                                          <p:stCondLst>
                                            <p:cond delay="0"/>
                                          </p:stCondLst>
                                        </p:cTn>
                                        <p:tgtEl>
                                          <p:spTgt spid="211"/>
                                        </p:tgtEl>
                                        <p:attrNameLst>
                                          <p:attrName>style.visibility</p:attrName>
                                        </p:attrNameLst>
                                      </p:cBhvr>
                                      <p:to>
                                        <p:strVal val="visible"/>
                                      </p:to>
                                    </p:set>
                                    <p:animEffect transition="in" filter="wipe(right)">
                                      <p:cBhvr>
                                        <p:cTn id="55" dur="500"/>
                                        <p:tgtEl>
                                          <p:spTgt spid="211"/>
                                        </p:tgtEl>
                                      </p:cBhvr>
                                    </p:animEffect>
                                  </p:childTnLst>
                                </p:cTn>
                              </p:par>
                            </p:childTnLst>
                          </p:cTn>
                        </p:par>
                        <p:par>
                          <p:cTn id="56" fill="hold">
                            <p:stCondLst>
                              <p:cond delay="1000"/>
                            </p:stCondLst>
                            <p:childTnLst>
                              <p:par>
                                <p:cTn id="57" presetID="22" presetClass="entr" presetSubtype="4" fill="hold" nodeType="afterEffect">
                                  <p:stCondLst>
                                    <p:cond delay="0"/>
                                  </p:stCondLst>
                                  <p:childTnLst>
                                    <p:set>
                                      <p:cBhvr>
                                        <p:cTn id="58" dur="1" fill="hold">
                                          <p:stCondLst>
                                            <p:cond delay="0"/>
                                          </p:stCondLst>
                                        </p:cTn>
                                        <p:tgtEl>
                                          <p:spTgt spid="200"/>
                                        </p:tgtEl>
                                        <p:attrNameLst>
                                          <p:attrName>style.visibility</p:attrName>
                                        </p:attrNameLst>
                                      </p:cBhvr>
                                      <p:to>
                                        <p:strVal val="visible"/>
                                      </p:to>
                                    </p:set>
                                    <p:animEffect transition="in" filter="wipe(down)">
                                      <p:cBhvr>
                                        <p:cTn id="59" dur="500"/>
                                        <p:tgtEl>
                                          <p:spTgt spid="200"/>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1" fill="hold" nodeType="clickEffect">
                                  <p:stCondLst>
                                    <p:cond delay="0"/>
                                  </p:stCondLst>
                                  <p:childTnLst>
                                    <p:set>
                                      <p:cBhvr>
                                        <p:cTn id="63" dur="1" fill="hold">
                                          <p:stCondLst>
                                            <p:cond delay="0"/>
                                          </p:stCondLst>
                                        </p:cTn>
                                        <p:tgtEl>
                                          <p:spTgt spid="204"/>
                                        </p:tgtEl>
                                        <p:attrNameLst>
                                          <p:attrName>style.visibility</p:attrName>
                                        </p:attrNameLst>
                                      </p:cBhvr>
                                      <p:to>
                                        <p:strVal val="visible"/>
                                      </p:to>
                                    </p:set>
                                    <p:animEffect transition="in" filter="wipe(up)">
                                      <p:cBhvr>
                                        <p:cTn id="64" dur="500"/>
                                        <p:tgtEl>
                                          <p:spTgt spid="204"/>
                                        </p:tgtEl>
                                      </p:cBhvr>
                                    </p:animEffect>
                                  </p:childTnLst>
                                </p:cTn>
                              </p:par>
                            </p:childTnLst>
                          </p:cTn>
                        </p:par>
                        <p:par>
                          <p:cTn id="65" fill="hold">
                            <p:stCondLst>
                              <p:cond delay="500"/>
                            </p:stCondLst>
                            <p:childTnLst>
                              <p:par>
                                <p:cTn id="66" presetID="22" presetClass="entr" presetSubtype="8" fill="hold" nodeType="afterEffect">
                                  <p:stCondLst>
                                    <p:cond delay="0"/>
                                  </p:stCondLst>
                                  <p:childTnLst>
                                    <p:set>
                                      <p:cBhvr>
                                        <p:cTn id="67" dur="1" fill="hold">
                                          <p:stCondLst>
                                            <p:cond delay="0"/>
                                          </p:stCondLst>
                                        </p:cTn>
                                        <p:tgtEl>
                                          <p:spTgt spid="206"/>
                                        </p:tgtEl>
                                        <p:attrNameLst>
                                          <p:attrName>style.visibility</p:attrName>
                                        </p:attrNameLst>
                                      </p:cBhvr>
                                      <p:to>
                                        <p:strVal val="visible"/>
                                      </p:to>
                                    </p:set>
                                    <p:animEffect transition="in" filter="wipe(left)">
                                      <p:cBhvr>
                                        <p:cTn id="68" dur="500"/>
                                        <p:tgtEl>
                                          <p:spTgt spid="206"/>
                                        </p:tgtEl>
                                      </p:cBhvr>
                                    </p:animEffect>
                                  </p:childTnLst>
                                </p:cTn>
                              </p:par>
                              <p:par>
                                <p:cTn id="69" presetID="22" presetClass="entr" presetSubtype="8" fill="hold" nodeType="withEffect">
                                  <p:stCondLst>
                                    <p:cond delay="0"/>
                                  </p:stCondLst>
                                  <p:childTnLst>
                                    <p:set>
                                      <p:cBhvr>
                                        <p:cTn id="70" dur="1" fill="hold">
                                          <p:stCondLst>
                                            <p:cond delay="0"/>
                                          </p:stCondLst>
                                        </p:cTn>
                                        <p:tgtEl>
                                          <p:spTgt spid="215"/>
                                        </p:tgtEl>
                                        <p:attrNameLst>
                                          <p:attrName>style.visibility</p:attrName>
                                        </p:attrNameLst>
                                      </p:cBhvr>
                                      <p:to>
                                        <p:strVal val="visible"/>
                                      </p:to>
                                    </p:set>
                                    <p:animEffect transition="in" filter="wipe(left)">
                                      <p:cBhvr>
                                        <p:cTn id="71" dur="500"/>
                                        <p:tgtEl>
                                          <p:spTgt spid="215"/>
                                        </p:tgtEl>
                                      </p:cBhvr>
                                    </p:animEffect>
                                  </p:childTnLst>
                                </p:cTn>
                              </p:par>
                            </p:childTnLst>
                          </p:cTn>
                        </p:par>
                        <p:par>
                          <p:cTn id="72" fill="hold">
                            <p:stCondLst>
                              <p:cond delay="1000"/>
                            </p:stCondLst>
                            <p:childTnLst>
                              <p:par>
                                <p:cTn id="73" presetID="22" presetClass="entr" presetSubtype="4" fill="hold" nodeType="afterEffect">
                                  <p:stCondLst>
                                    <p:cond delay="0"/>
                                  </p:stCondLst>
                                  <p:childTnLst>
                                    <p:set>
                                      <p:cBhvr>
                                        <p:cTn id="74" dur="1" fill="hold">
                                          <p:stCondLst>
                                            <p:cond delay="0"/>
                                          </p:stCondLst>
                                        </p:cTn>
                                        <p:tgtEl>
                                          <p:spTgt spid="202"/>
                                        </p:tgtEl>
                                        <p:attrNameLst>
                                          <p:attrName>style.visibility</p:attrName>
                                        </p:attrNameLst>
                                      </p:cBhvr>
                                      <p:to>
                                        <p:strVal val="visible"/>
                                      </p:to>
                                    </p:set>
                                    <p:animEffect transition="in" filter="wipe(down)">
                                      <p:cBhvr>
                                        <p:cTn id="75" dur="500"/>
                                        <p:tgtEl>
                                          <p:spTgt spid="202"/>
                                        </p:tgtEl>
                                      </p:cBhvr>
                                    </p:animEffect>
                                  </p:childTnLst>
                                </p:cTn>
                              </p:par>
                            </p:childTnLst>
                          </p:cTn>
                        </p:par>
                        <p:par>
                          <p:cTn id="76" fill="hold">
                            <p:stCondLst>
                              <p:cond delay="1500"/>
                            </p:stCondLst>
                            <p:childTnLst>
                              <p:par>
                                <p:cTn id="77" presetID="22" presetClass="entr" presetSubtype="1" fill="hold" nodeType="afterEffect">
                                  <p:stCondLst>
                                    <p:cond delay="0"/>
                                  </p:stCondLst>
                                  <p:childTnLst>
                                    <p:set>
                                      <p:cBhvr>
                                        <p:cTn id="78" dur="1" fill="hold">
                                          <p:stCondLst>
                                            <p:cond delay="0"/>
                                          </p:stCondLst>
                                        </p:cTn>
                                        <p:tgtEl>
                                          <p:spTgt spid="201"/>
                                        </p:tgtEl>
                                        <p:attrNameLst>
                                          <p:attrName>style.visibility</p:attrName>
                                        </p:attrNameLst>
                                      </p:cBhvr>
                                      <p:to>
                                        <p:strVal val="visible"/>
                                      </p:to>
                                    </p:set>
                                    <p:animEffect transition="in" filter="wipe(up)">
                                      <p:cBhvr>
                                        <p:cTn id="79" dur="500"/>
                                        <p:tgtEl>
                                          <p:spTgt spid="201"/>
                                        </p:tgtEl>
                                      </p:cBhvr>
                                    </p:animEffect>
                                  </p:childTnLst>
                                </p:cTn>
                              </p:par>
                            </p:childTnLst>
                          </p:cTn>
                        </p:par>
                        <p:par>
                          <p:cTn id="80" fill="hold">
                            <p:stCondLst>
                              <p:cond delay="2000"/>
                            </p:stCondLst>
                            <p:childTnLst>
                              <p:par>
                                <p:cTn id="81" presetID="22" presetClass="entr" presetSubtype="2" fill="hold" nodeType="afterEffect">
                                  <p:stCondLst>
                                    <p:cond delay="0"/>
                                  </p:stCondLst>
                                  <p:childTnLst>
                                    <p:set>
                                      <p:cBhvr>
                                        <p:cTn id="82" dur="1" fill="hold">
                                          <p:stCondLst>
                                            <p:cond delay="0"/>
                                          </p:stCondLst>
                                        </p:cTn>
                                        <p:tgtEl>
                                          <p:spTgt spid="205"/>
                                        </p:tgtEl>
                                        <p:attrNameLst>
                                          <p:attrName>style.visibility</p:attrName>
                                        </p:attrNameLst>
                                      </p:cBhvr>
                                      <p:to>
                                        <p:strVal val="visible"/>
                                      </p:to>
                                    </p:set>
                                    <p:animEffect transition="in" filter="wipe(right)">
                                      <p:cBhvr>
                                        <p:cTn id="83" dur="500"/>
                                        <p:tgtEl>
                                          <p:spTgt spid="205"/>
                                        </p:tgtEl>
                                      </p:cBhvr>
                                    </p:animEffect>
                                  </p:childTnLst>
                                </p:cTn>
                              </p:par>
                              <p:par>
                                <p:cTn id="84" presetID="22" presetClass="entr" presetSubtype="2" fill="hold" nodeType="withEffect">
                                  <p:stCondLst>
                                    <p:cond delay="0"/>
                                  </p:stCondLst>
                                  <p:childTnLst>
                                    <p:set>
                                      <p:cBhvr>
                                        <p:cTn id="85" dur="1" fill="hold">
                                          <p:stCondLst>
                                            <p:cond delay="0"/>
                                          </p:stCondLst>
                                        </p:cTn>
                                        <p:tgtEl>
                                          <p:spTgt spid="219"/>
                                        </p:tgtEl>
                                        <p:attrNameLst>
                                          <p:attrName>style.visibility</p:attrName>
                                        </p:attrNameLst>
                                      </p:cBhvr>
                                      <p:to>
                                        <p:strVal val="visible"/>
                                      </p:to>
                                    </p:set>
                                    <p:animEffect transition="in" filter="wipe(right)">
                                      <p:cBhvr>
                                        <p:cTn id="86" dur="500"/>
                                        <p:tgtEl>
                                          <p:spTgt spid="219"/>
                                        </p:tgtEl>
                                      </p:cBhvr>
                                    </p:animEffect>
                                  </p:childTnLst>
                                </p:cTn>
                              </p:par>
                            </p:childTnLst>
                          </p:cTn>
                        </p:par>
                        <p:par>
                          <p:cTn id="87" fill="hold">
                            <p:stCondLst>
                              <p:cond delay="2500"/>
                            </p:stCondLst>
                            <p:childTnLst>
                              <p:par>
                                <p:cTn id="88" presetID="22" presetClass="entr" presetSubtype="4" fill="hold" nodeType="afterEffect">
                                  <p:stCondLst>
                                    <p:cond delay="0"/>
                                  </p:stCondLst>
                                  <p:childTnLst>
                                    <p:set>
                                      <p:cBhvr>
                                        <p:cTn id="89" dur="1" fill="hold">
                                          <p:stCondLst>
                                            <p:cond delay="0"/>
                                          </p:stCondLst>
                                        </p:cTn>
                                        <p:tgtEl>
                                          <p:spTgt spid="203"/>
                                        </p:tgtEl>
                                        <p:attrNameLst>
                                          <p:attrName>style.visibility</p:attrName>
                                        </p:attrNameLst>
                                      </p:cBhvr>
                                      <p:to>
                                        <p:strVal val="visible"/>
                                      </p:to>
                                    </p:set>
                                    <p:animEffect transition="in" filter="wipe(down)">
                                      <p:cBhvr>
                                        <p:cTn id="90"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build="p"/>
      <p:bldP spid="19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面向连接的分用</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套接字由四元组标识：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源 IP 地址</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源端口号</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目的 IP 地址</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目的端口号</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服务器可以同时支持许多 TCP 套接字：</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每个套接字由自己的四元组标识</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每个套接字关联一个不同的连接客户机</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分用：接收方使用四个值（四元组）把报文段送到合适的套接字</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传输层：3-20</a:t>
            </a:r>
            <a:fld id="{C4204591-24BD-A542-B9D5-F8D8A88D2FEE}" type="slidenum">
              <a:rPr lang="en-US" smtClean="0"/>
              <a:pPr/>
              <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面向连接的分用：示例</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P1</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网络层</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源 IP,port： A,9157</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目的 IP, port： B,80</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源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目的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源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目的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源 IP,port： C,9157</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目的 IP,port： B,80</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三个报文段，目的 IP 地址均为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目的端口 80 的报文段被分用到不同套接字</a:t>
            </a:r>
            <a:r>
              <a:rPr kumimoji="0" lang="en-US" sz="24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 xmlns:a14="http://schemas.microsoft.com/office/drawing/2010/main">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传输层：3-21</a:t>
            </a:r>
            <a:fld id="{C4204591-24BD-A542-B9D5-F8D8A88D2FEE}" type="slidenum">
              <a:rPr lang="en-US" smtClean="0"/>
              <a:pPr/>
              <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小结</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复用与分用：基于报文段/数据报首部字段值</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UDP：仅使用目的端口号进行分用</a:t>
            </a:r>
            <a:r>
              <a:rPr kumimoji="0" lang="en-US" sz="3200" b="0" i="0" u="none" strike="noStrike" kern="1200" cap="none" spc="0" normalizeH="0" baseline="0" noProof="0" dirty="0">
                <a:ln>
                  <a:noFill/>
                </a:ln>
                <a:solidFill>
                  <a:prstClr val="black"/>
                </a:solidFill>
                <a:effectLst/>
                <a:uLnTx/>
                <a:uFillTx/>
                <a:latin typeface="Calibri"/>
                <a:ea typeface="+mn-ea"/>
                <a:cs typeface="+mn-cs"/>
              </a:rPr>
              <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TCP：使用四元组进行分用：源/目的 IP 地址和端口号</a:t>
            </a:r>
            <a:r>
              <a:rPr kumimoji="0" lang="en-US" sz="3200" b="0" i="0" u="none" strike="noStrike" kern="1200" cap="none" spc="0" normalizeH="0" baseline="0" noProof="0" dirty="0">
                <a:ln>
                  <a:noFill/>
                </a:ln>
                <a:solidFill>
                  <a:prstClr val="black"/>
                </a:solidFill>
                <a:effectLst/>
                <a:uLnTx/>
                <a:uFillTx/>
                <a:latin typeface="Calibri"/>
                <a:ea typeface="+mn-ea"/>
                <a:cs typeface="+mn-cs"/>
              </a:rPr>
              <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复用/分用发生在所有层次</a:t>
            </a:r>
            <a:r>
              <a:rPr kumimoji="0" lang="en-US" sz="3200" b="0" i="1" u="none" strike="noStrike" kern="1200" cap="none" spc="0" normalizeH="0" baseline="0" noProof="0" dirty="0">
                <a:ln>
                  <a:noFill/>
                </a:ln>
                <a:solidFill>
                  <a:prstClr val="black"/>
                </a:solidFill>
                <a:effectLst/>
                <a:uLnTx/>
                <a:uFillTx/>
                <a:latin typeface="Calibri"/>
                <a:ea typeface="+mn-ea"/>
                <a:cs typeface="+mn-cs"/>
              </a:rPr>
              <a:t/>
            </a:r>
            <a:r>
              <a:rPr kumimoji="0" lang="en-US" sz="3200" b="0" i="0" u="none" strike="noStrike" kern="1200" cap="none" spc="0" normalizeH="0" baseline="0" noProof="0" dirty="0">
                <a:ln>
                  <a:noFill/>
                </a:ln>
                <a:solidFill>
                  <a:prstClr val="black"/>
                </a:solidFill>
                <a:effectLst/>
                <a:uLnTx/>
                <a:uFillTx/>
                <a:latin typeface="Calibri"/>
                <a:ea typeface="+mn-ea"/>
                <a:cs typeface="+mn-cs"/>
              </a:rPr>
              <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传输层：3-22</a:t>
            </a:r>
            <a:fld id="{C4204591-24BD-A542-B9D5-F8D8A88D2FEE}" type="slidenum">
              <a:rPr lang="en-US" smtClean="0"/>
              <a:pPr/>
              <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第 3 章：路线图</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传输层服务</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复用与分用</a:t>
            </a:r>
          </a:p>
          <a:p>
            <a:pPr marL="403225" indent="-285750">
              <a:spcBef>
                <a:spcPts val="800"/>
              </a:spcBef>
            </a:pPr>
            <a:r>
              <a:rPr lang="en-US" altLang="en-US" sz="3200" dirty="0">
                <a:cs typeface="Calibri" panose="020F0502020204030204" pitchFamily="34" charset="0"/>
              </a:rPr>
              <a:t>无连接传输：UDP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可靠数据传输原理 </a:t>
            </a:r>
          </a:p>
          <a:p>
            <a:pPr marL="403225" indent="-285750">
              <a:spcBef>
                <a:spcPts val="800"/>
              </a:spcBef>
              <a:buClr>
                <a:schemeClr val="bg1">
                  <a:lumMod val="75000"/>
                </a:schemeClr>
              </a:buClr>
            </a:pPr>
            <a:r>
              <a:rPr lang="en-US" sz="3200" dirty="0">
                <a:solidFill>
                  <a:schemeClr val="bg1">
                    <a:lumMod val="75000"/>
                  </a:schemeClr>
                </a:solidFill>
              </a:rPr>
              <a:t>面向连接的传输：TCP</a:t>
            </a:r>
          </a:p>
          <a:p>
            <a:pPr marL="403225" indent="-285750">
              <a:spcBef>
                <a:spcPts val="800"/>
              </a:spcBef>
              <a:buClr>
                <a:schemeClr val="bg1">
                  <a:lumMod val="75000"/>
                </a:schemeClr>
              </a:buClr>
            </a:pPr>
            <a:r>
              <a:rPr lang="en-US" sz="3200" dirty="0">
                <a:solidFill>
                  <a:schemeClr val="bg1">
                    <a:lumMod val="75000"/>
                  </a:schemeClr>
                </a:solidFill>
              </a:rPr>
              <a:t>拥塞控制原理</a:t>
            </a:r>
          </a:p>
          <a:p>
            <a:pPr marL="403225" indent="-285750">
              <a:spcBef>
                <a:spcPts val="800"/>
              </a:spcBef>
              <a:buClr>
                <a:schemeClr val="bg1">
                  <a:lumMod val="75000"/>
                </a:schemeClr>
              </a:buClr>
            </a:pPr>
            <a:r>
              <a:rPr lang="en-US" sz="3200" dirty="0">
                <a:solidFill>
                  <a:schemeClr val="bg1">
                    <a:lumMod val="75000"/>
                  </a:schemeClr>
                </a:solidFill>
              </a:rPr>
              <a:t>TCP 拥塞控制</a:t>
            </a:r>
          </a:p>
          <a:p>
            <a:pPr marL="403225" indent="-285750">
              <a:spcBef>
                <a:spcPts val="800"/>
              </a:spcBef>
              <a:buClr>
                <a:schemeClr val="bg1">
                  <a:lumMod val="75000"/>
                </a:schemeClr>
              </a:buClr>
            </a:pPr>
            <a:r>
              <a:rPr lang="en-US" sz="3200" dirty="0">
                <a:solidFill>
                  <a:schemeClr val="bg1">
                    <a:lumMod val="75000"/>
                  </a:schemeClr>
                </a:solidFill>
              </a:rPr>
              <a:t>传输层功能的演进</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a:t>传输层：3-23</a:t>
            </a:r>
            <a:fld id="{C4204591-24BD-A542-B9D5-F8D8A88D2FEE}" type="slidenum">
              <a:rPr lang="en-US" smtClean="0"/>
              <a:pPr/>
              <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UDP：用户数据报协议</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“无附加功能”的极简互联网传输协议</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“尽力而为”服务，UDP 报文段可能：</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丢失</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乱序交付给应用</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无需建立连接（否则会增加 RTT 时延）</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简单：发送方和接收方都不维护连接状态</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首部开销小</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没有拥塞控制</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可以按应用希望的速度尽快发送！</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即使存在拥塞也能继续工作</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为什么需要 UDP？</a:t>
              </a:r>
              <a:r>
                <a:rPr kumimoji="0" lang="en-US" sz="3200" b="0" i="0" u="none" strike="noStrike" kern="0" cap="none" spc="0" normalizeH="0" baseline="0" noProof="0" dirty="0" err="1">
                  <a:ln>
                    <a:noFill/>
                  </a:ln>
                  <a:solidFill>
                    <a:srgbClr val="CC0000"/>
                  </a:solidFill>
                  <a:effectLst/>
                  <a:uLnTx/>
                  <a:uFillTx/>
                  <a:latin typeface="Calibri" panose="020F0502020204030204"/>
                  <a:ea typeface="ＭＳ Ｐゴシック" charset="0"/>
                  <a:cs typeface="+mn-cs"/>
                </a:rPr>
                <a:t/>
              </a: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无连接：</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发送方和接收方之间没有握手</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每个 UDP 报文段都独立处理</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a:t>传输层：3-24</a:t>
            </a:r>
            <a:fld id="{C4204591-24BD-A542-B9D5-F8D8A88D2FEE}" type="slidenum">
              <a:rPr lang="en-US" smtClean="0"/>
              <a:pPr/>
              <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UDP：用户数据报协议</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的用途：</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流媒体多媒体应用（容忍丢失、对速率敏感）</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如果需要在 UDP 上实现可靠传输（例如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在应用层添加所需的可靠性</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在应用层添加拥塞控制</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a:t>传输层：3-25</a:t>
            </a:r>
            <a:fld id="{C4204591-24BD-A542-B9D5-F8D8A88D2FEE}" type="slidenum">
              <a:rPr lang="en-US" smtClean="0"/>
              <a:pPr/>
              <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UDP：用户数据报协议 [RFC 768]</a:t>
            </a:r>
            <a:r>
              <a:rPr lang="en-US" sz="3600" dirty="0"/>
              <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a:t>传输层：3-26</a:t>
            </a:r>
            <a:fld id="{C4204591-24BD-A542-B9D5-F8D8A88D2FEE}" type="slidenum">
              <a:rPr lang="en-US" smtClean="0"/>
              <a:pPr/>
              <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服务器</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客户机</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UDP：传输层动作</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a:t>传输层：3-27</a:t>
            </a:r>
            <a:fld id="{C4204591-24BD-A542-B9D5-F8D8A88D2FEE}" type="slidenum">
              <a:rPr lang="en-US" smtClean="0"/>
              <a:pPr/>
              <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服务器</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客户机</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UDP：传输层动作</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发送方动作：</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报文</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接收来自应用层的报文</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确定 UDP 报文段首部字段的取值</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生成 UDP 报文段</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把报文段交给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报文</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a:t>传输层：3-28</a:t>
            </a:r>
            <a:fld id="{C4204591-24BD-A542-B9D5-F8D8A88D2FEE}" type="slidenum">
              <a:rPr lang="en-US" smtClean="0"/>
              <a:pPr/>
              <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服务器</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客户机</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传输层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物理层</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网络层（IP）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应用层</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UDP：传输层动作</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接收方动作：</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报文</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提取应用层报文</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检查 UDP 校验和首部字段值</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从 IP 接收报文段</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报文</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通过套接字把报文分用给应用</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a:t>传输层：3-29</a:t>
            </a:r>
            <a:fld id="{C4204591-24BD-A542-B9D5-F8D8A88D2FEE}" type="slidenum">
              <a:rPr lang="en-US" smtClean="0"/>
              <a:pPr/>
              <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报文段首部</a:t>
            </a:r>
            <a:r>
              <a:rPr lang="en-US" dirty="0"/>
              <a:t/>
            </a:r>
            <a:r>
              <a:rPr lang="en-US" sz="4400" dirty="0"/>
              <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源端口号</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目的端口号</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32 比特</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应用层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数据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（载荷）</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UDP 报文段格式</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长度</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校验和</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UDP 报文段长度（字节），包括首部</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来自/送往应用层的数据</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a:t>传输层：3-30</a:t>
            </a:r>
            <a:fld id="{C4204591-24BD-A542-B9D5-F8D8A88D2FEE}" type="slidenum">
              <a:rPr lang="en-US" smtClean="0"/>
              <a:pPr/>
              <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校验和</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目标：检测传输报文段中的错误（即比特翻转）</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接收方：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第 1 个数</a:t>
              </a:r>
              <a:r>
                <a:rPr kumimoji="0" lang="en-US" sz="1800" b="0" i="0" u="none" strike="noStrike" kern="1200" cap="none" spc="0" normalizeH="0" baseline="30000" noProof="0" dirty="0">
                  <a:ln>
                    <a:noFill/>
                  </a:ln>
                  <a:solidFill>
                    <a:prstClr val="black"/>
                  </a:solidFill>
                  <a:effectLst/>
                  <a:uLnTx/>
                  <a:uFillTx/>
                  <a:latin typeface="Calibri"/>
                  <a:ea typeface="+mn-ea"/>
                  <a:cs typeface="+mn-cs"/>
                </a:rPr>
                <a:t/>
              </a:r>
              <a:r>
                <a:rPr kumimoji="0" lang="en-US" sz="1800" b="0" i="0" u="none" strike="noStrike" kern="1200" cap="none" spc="0" normalizeH="0" baseline="0" noProof="0" dirty="0">
                  <a:ln>
                    <a:noFill/>
                  </a:ln>
                  <a:solidFill>
                    <a:prstClr val="black"/>
                  </a:solidFill>
                  <a:effectLst/>
                  <a:uLnTx/>
                  <a:uFillTx/>
                  <a:latin typeface="Calibri"/>
                  <a:ea typeface="+mn-ea"/>
                  <a:cs typeface="+mn-cs"/>
                </a:rPr>
                <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第 2 个数</a:t>
              </a:r>
              <a:r>
                <a:rPr kumimoji="0" lang="en-US" sz="1800" b="0" i="0" u="none" strike="noStrike" kern="1200" cap="none" spc="0" normalizeH="0" baseline="30000" noProof="0" dirty="0">
                  <a:ln>
                    <a:noFill/>
                  </a:ln>
                  <a:solidFill>
                    <a:prstClr val="black"/>
                  </a:solidFill>
                  <a:effectLst/>
                  <a:uLnTx/>
                  <a:uFillTx/>
                  <a:latin typeface="Calibri"/>
                  <a:ea typeface="+mn-ea"/>
                  <a:cs typeface="+mn-cs"/>
                </a:rPr>
                <a:t/>
              </a:r>
              <a:r>
                <a:rPr kumimoji="0" lang="en-US" sz="1800" b="0" i="0" u="none" strike="noStrike" kern="1200" cap="none" spc="0" normalizeH="0" baseline="0" noProof="0" dirty="0">
                  <a:ln>
                    <a:noFill/>
                  </a:ln>
                  <a:solidFill>
                    <a:prstClr val="black"/>
                  </a:solidFill>
                  <a:effectLst/>
                  <a:uLnTx/>
                  <a:uFillTx/>
                  <a:latin typeface="Calibri"/>
                  <a:ea typeface="+mn-ea"/>
                  <a:cs typeface="+mn-cs"/>
                </a:rPr>
                <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和</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接收方计算得到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校验和</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发送方计算得到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收到的校验和</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a:t>传输层：3-31</a:t>
            </a:r>
            <a:fld id="{C4204591-24BD-A542-B9D5-F8D8A88D2FEE}" type="slidenum">
              <a:rPr lang="en-US" smtClean="0"/>
              <a:pPr/>
              <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校验和</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发送方：</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把 UDP 报文段内容（包括 UDP 首部字段和 IP 地址）看作 16 位整数序列</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校验和：对报文段内容做加法（反码和）</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把校验和值放入 UDP 校验和字段</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接收方：</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计算收到报文段的校验和</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检查计算出的校验和是否等于校验和字段值：</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不相等：检测到错误</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相等：未检测到错误。但仍可能存在错误，后面再说……</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目标：检测传输报文段中的错误（即比特翻转）</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a:t>传输层：3-32</a:t>
            </a:r>
            <a:fld id="{C4204591-24BD-A542-B9D5-F8D8A88D2FEE}" type="slidenum">
              <a:rPr lang="en-US" smtClean="0"/>
              <a:pPr/>
              <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互联网校验和：示例</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示例：两个 16 位整数相加</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和</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校验和</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注意：相加时，最高位产生的进位需要回卷加到结果中</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回卷</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a:t>传输层：3-33</a:t>
            </a:r>
            <a:fld id="{C4204591-24BD-A542-B9D5-F8D8A88D2FEE}" type="slidenum">
              <a:rPr lang="en-US" smtClean="0"/>
              <a:pPr/>
              <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互联网校验和：保护能力较弱！</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示例：两个 16 位整数相加</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和</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校验和</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回卷</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即使数值已改变（发生比特翻转），校验和也可能不变！</a:t>
              </a:r>
              <a:r>
                <a:rPr kumimoji="0" lang="en-US" sz="2400" b="0" i="1" u="none" strike="noStrike" kern="1200" cap="none" spc="0" normalizeH="0" baseline="0" noProof="0" dirty="0">
                  <a:ln>
                    <a:noFill/>
                  </a:ln>
                  <a:solidFill>
                    <a:srgbClr val="C00000"/>
                  </a:solidFill>
                  <a:effectLst/>
                  <a:uLnTx/>
                  <a:uFillTx/>
                  <a:latin typeface="Calibri"/>
                  <a:ea typeface="+mn-ea"/>
                  <a:cs typeface="+mn-cs"/>
                </a:rPr>
                <a:t/>
              </a:r>
              <a:r>
                <a:rPr kumimoji="0" lang="en-US" sz="2400" b="0" i="0" u="none" strike="noStrike" kern="1200" cap="none" spc="0" normalizeH="0" baseline="0" noProof="0" dirty="0">
                  <a:ln>
                    <a:noFill/>
                  </a:ln>
                  <a:solidFill>
                    <a:prstClr val="black"/>
                  </a:solidFill>
                  <a:effectLst/>
                  <a:uLnTx/>
                  <a:uFillTx/>
                  <a:latin typeface="Calibri"/>
                  <a:ea typeface="+mn-ea"/>
                  <a:cs typeface="+mn-cs"/>
                </a:rPr>
                <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a:t>传输层：3-34</a:t>
            </a:r>
            <a:fld id="{C4204591-24BD-A542-B9D5-F8D8A88D2FEE}" type="slidenum">
              <a:rPr lang="en-US" smtClean="0"/>
              <a:pPr/>
              <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小结：UDP</a:t>
            </a:r>
            <a:r>
              <a:rPr lang="en-US" sz="4800" b="0" dirty="0"/>
              <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“极简”协议：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报文段可能丢失，也可能乱序交付</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尽力而为服务：“发送出去，然后期待最好结果”</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也有优点：</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无需建立连接/握手（不产生 RTT 开销）</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网络服务受损时仍可工作</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有助于可靠性（校验和）</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可在应用层基于 UDP 构建额外功能（例如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第 3 章：路线图</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传输层服务</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复用与分用</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无连接传输：UDP</a:t>
            </a:r>
          </a:p>
          <a:p>
            <a:pPr marL="403225" indent="-285750">
              <a:spcBef>
                <a:spcPts val="800"/>
              </a:spcBef>
              <a:buClr>
                <a:srgbClr val="010086"/>
              </a:buClr>
            </a:pPr>
            <a:r>
              <a:rPr lang="en-US" altLang="en-US" sz="3200" dirty="0">
                <a:cs typeface="Calibri" panose="020F0502020204030204" pitchFamily="34" charset="0"/>
              </a:rPr>
              <a:t>可靠数据传输原理 </a:t>
            </a:r>
          </a:p>
          <a:p>
            <a:pPr marL="403225" indent="-285750">
              <a:spcBef>
                <a:spcPts val="800"/>
              </a:spcBef>
              <a:buClr>
                <a:schemeClr val="bg1">
                  <a:lumMod val="75000"/>
                </a:schemeClr>
              </a:buClr>
            </a:pPr>
            <a:r>
              <a:rPr lang="en-US" sz="3200" dirty="0">
                <a:solidFill>
                  <a:schemeClr val="bg1">
                    <a:lumMod val="75000"/>
                  </a:schemeClr>
                </a:solidFill>
              </a:rPr>
              <a:t>面向连接的传输：TCP</a:t>
            </a:r>
          </a:p>
          <a:p>
            <a:pPr marL="403225" indent="-285750">
              <a:spcBef>
                <a:spcPts val="800"/>
              </a:spcBef>
              <a:buClr>
                <a:schemeClr val="bg1">
                  <a:lumMod val="75000"/>
                </a:schemeClr>
              </a:buClr>
            </a:pPr>
            <a:r>
              <a:rPr lang="en-US" sz="3200" dirty="0">
                <a:solidFill>
                  <a:schemeClr val="bg1">
                    <a:lumMod val="75000"/>
                  </a:schemeClr>
                </a:solidFill>
              </a:rPr>
              <a:t>拥塞控制原理</a:t>
            </a:r>
          </a:p>
          <a:p>
            <a:pPr marL="403225" indent="-285750">
              <a:spcBef>
                <a:spcPts val="800"/>
              </a:spcBef>
              <a:buClr>
                <a:schemeClr val="bg1">
                  <a:lumMod val="75000"/>
                </a:schemeClr>
              </a:buClr>
            </a:pPr>
            <a:r>
              <a:rPr lang="en-US" sz="3200" dirty="0">
                <a:solidFill>
                  <a:schemeClr val="bg1">
                    <a:lumMod val="75000"/>
                  </a:schemeClr>
                </a:solidFill>
              </a:rPr>
              <a:t>TCP 拥塞控制</a:t>
            </a:r>
          </a:p>
          <a:p>
            <a:pPr marL="403225" indent="-285750">
              <a:spcBef>
                <a:spcPts val="800"/>
              </a:spcBef>
              <a:buClr>
                <a:schemeClr val="bg1">
                  <a:lumMod val="75000"/>
                </a:schemeClr>
              </a:buClr>
            </a:pPr>
            <a:r>
              <a:rPr lang="en-US" sz="3200" dirty="0">
                <a:solidFill>
                  <a:schemeClr val="bg1">
                    <a:lumMod val="75000"/>
                  </a:schemeClr>
                </a:solidFill>
              </a:rPr>
              <a:t>传输层功能的演进</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传输层：3-36</a:t>
            </a:r>
            <a:fld id="{C4204591-24BD-A542-B9D5-F8D8A88D2FEE}" type="slidenum">
              <a:rPr lang="en-US" smtClean="0"/>
              <a:pPr/>
              <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可靠数据传输原理 </a:t>
            </a:r>
            <a:r>
              <a:rPr lang="en-US" dirty="0"/>
              <a:t/>
            </a:r>
            <a:r>
              <a:rPr lang="en-US" sz="4400" dirty="0"/>
              <a:t/>
            </a:r>
            <a:r>
              <a:rPr lang="en-US" dirty="0"/>
              <a:t/>
            </a:r>
            <a:r>
              <a:rPr lang="en-US" sz="4400" dirty="0"/>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发送进程</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接收进程</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可靠信道</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应用层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传输层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可靠服务抽象</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传输层：3-37</a:t>
            </a:r>
            <a:fld id="{C4204591-24BD-A542-B9D5-F8D8A88D2FEE}" type="slidenum">
              <a:rPr lang="en-US" smtClean="0"/>
              <a:pPr/>
              <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可靠数据传输原理 </a:t>
            </a:r>
            <a:r>
              <a:rPr lang="en-US" dirty="0"/>
              <a:t/>
            </a:r>
            <a:r>
              <a:rPr lang="en-US" sz="4400" dirty="0"/>
              <a:t/>
            </a:r>
            <a:r>
              <a:rPr lang="en-US" dirty="0"/>
              <a:t/>
            </a:r>
            <a:r>
              <a:rPr lang="en-US" sz="4400" dirty="0"/>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发送进程</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接收进程</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应用层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传输层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可靠服务实现</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不可靠信道</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网络层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传输层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发送方侧</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可靠数据传输协议</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接收方侧</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可靠数据传输协议</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发送进程</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接收进程</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可靠信道</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应用层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传输层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可靠服务抽象</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传输层：3-38</a:t>
            </a:r>
            <a:fld id="{C4204591-24BD-A542-B9D5-F8D8A88D2FEE}" type="slidenum">
              <a:rPr lang="en-US" smtClean="0"/>
              <a:pPr/>
              <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可靠数据传输原理 </a:t>
            </a:r>
            <a:r>
              <a:rPr lang="en-US" dirty="0"/>
              <a:t/>
            </a:r>
            <a:r>
              <a:rPr lang="en-US" sz="4400" dirty="0"/>
              <a:t/>
            </a:r>
            <a:r>
              <a:rPr lang="en-US" dirty="0"/>
              <a:t/>
            </a:r>
            <a:r>
              <a:rPr lang="en-US" sz="4400" dirty="0"/>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发送进程</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接收进程</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应用层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传输层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可靠服务实现</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不可靠信道</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网络层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传输层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发送方侧</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可靠数据传输协议</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接收方侧</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可靠数据传输协议</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可靠数据传输协议的复杂性将（强烈）取决于不可靠信道的特性（会丢失、损坏、重排数据吗？）</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传输层：3-39</a:t>
            </a:r>
            <a:fld id="{C4204591-24BD-A542-B9D5-F8D8A88D2FEE}" type="slidenum">
              <a:rPr lang="en-US" smtClean="0"/>
              <a:pPr/>
              <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可靠数据传输原理 </a:t>
            </a:r>
            <a:r>
              <a:rPr lang="en-US" dirty="0"/>
              <a:t/>
            </a:r>
            <a:r>
              <a:rPr lang="en-US" sz="4400" dirty="0"/>
              <a:t/>
            </a:r>
            <a:r>
              <a:rPr lang="en-US" dirty="0"/>
              <a:t/>
            </a:r>
            <a:r>
              <a:rPr lang="en-US" sz="4400" dirty="0"/>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发送进程</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接收进程</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应用层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传输层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可靠服务实现</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不可靠信道</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网络层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传输层</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发送方侧</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可靠数据传输协议</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接收方侧</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可靠数据传输协议</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发送方和接收方并不知道彼此的“状态”，例如某个报文是否已经收到？</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除非通过报文告知</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传输层：3-40</a:t>
            </a:r>
            <a:fld id="{C4204591-24BD-A542-B9D5-F8D8A88D2FEE}" type="slidenum">
              <a:rPr lang="en-US" smtClean="0"/>
              <a:pPr/>
              <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可靠数据传输协议（rdt）：接口</a:t>
            </a:r>
            <a:r>
              <a:rPr lang="en-US" sz="4400" dirty="0" err="1"/>
              <a:t/>
            </a:r>
            <a:r>
              <a:rPr lang="en-US" sz="4400" dirty="0"/>
              <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发送进程</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接收进程</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不可靠信道</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发送方侧</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rdt 可靠数据传输协议的实现</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接收方侧</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rdt 可靠数据传输协议的实现</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udt_send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rdt_rcv</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deliver_data</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首部</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数据</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首部</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rdt_send()：由上层调用（例如应用）。传入要交付给接收方上层的数据</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udt_send()：由 rdt 调用</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
              </a:r>
              <a:endPar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用于在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不可靠信道上把分组传给接收方</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rdt_rcv()：当分组到达信道接收方侧时调用</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deliver_data()：由 rdt 调用，将数据交付给上层</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在不可靠信道上的双向通信</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数据</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分组</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传输层：3-41</a:t>
            </a:r>
            <a:fld id="{C4204591-24BD-A542-B9D5-F8D8A88D2FEE}" type="slidenum">
              <a:rPr lang="en-US" smtClean="0"/>
              <a:pPr/>
              <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可靠数据传输：从这里开始</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a14="http://schemas.microsoft.com/office/drawing/2010/main" xmlns=""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我们将：</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逐步开发可靠数据传输协议（rdt）的发送方和接收方</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a:r>
            <a:r>
              <a:rPr kumimoji="0" lang="en-US" altLang="en-US" sz="2800" b="0" i="0" u="none" strike="noStrike" kern="0" cap="none" spc="0" normalizeH="0" baseline="0" noProof="0" dirty="0" err="1">
                <a:ln>
                  <a:noFill/>
                </a:ln>
                <a:solidFill>
                  <a:prstClr val="black"/>
                </a:solidFill>
                <a:effectLst/>
                <a:uLnTx/>
                <a:uFillTx/>
                <a:latin typeface="Courier" pitchFamily="2" charset="0"/>
                <a:ea typeface="ＭＳ Ｐゴシック" panose="020B0600070205080204" pitchFamily="34" charset="-128"/>
              </a:rPr>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只考虑单向数据传输</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但控制信息会双向流动！</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a14="http://schemas.microsoft.com/office/drawing/2010/main" xmlns="" w="19050">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状态</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a14="http://schemas.microsoft.com/office/drawing/2010/main" xmlns="" w="19050">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状态</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触发状态转换的事件</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状态转换时采取的动作</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状态：处于该“状态”时，下一个事件唯一决定下一状态</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事件</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动作</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a14="http://schemas.microsoft.com/office/drawing/2010/main" xmlns=""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使用有限状态机（FSM）描述发送方和接收方</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传输层：3-42</a:t>
            </a:r>
            <a:fld id="{C4204591-24BD-A542-B9D5-F8D8A88D2FEE}" type="slidenum">
              <a:rPr lang="en-US" smtClean="0"/>
              <a:pPr/>
              <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rdt1.0：在可靠信道上的可靠传输</a:t>
            </a:r>
            <a:r>
              <a:rPr lang="en-US" sz="4400" dirty="0"/>
              <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底层信道完全可靠</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无比特错误</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无分组丢失</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packet,data</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Arial" charset="0"/>
                  <a:ea typeface="ＭＳ Ｐゴシック" charset="0"/>
                  <a:cs typeface="+mn-cs"/>
                </a:rPr>
                <a:t>rdt_rcv</a:t>
              </a: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等待下层调用</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接收方</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发送方和接收方分别使用 FSM：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发送方把数据送入底层信道</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接收方从底层信道读取数据</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发送方</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等待上层调用</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传输层：3-43</a:t>
            </a:r>
            <a:fld id="{C4204591-24BD-A542-B9D5-F8D8A88D2FEE}" type="slidenum">
              <a:rPr lang="en-US" smtClean="0"/>
              <a:pPr/>
              <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rdt2.0：存在比特错误的信道</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底层信道可能翻转分组中的比特</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用校验和（例如互联网校验和）检测比特错误</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问题：如何从错误中恢复？</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人在交谈中如何从“错误”恢复？</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传输层：3-44</a:t>
            </a:r>
            <a:fld id="{C4204591-24BD-A542-B9D5-F8D8A88D2FEE}" type="slidenum">
              <a:rPr lang="en-US" smtClean="0"/>
              <a:pPr/>
              <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rdt2.0：存在比特错误的信道</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底层信道可能翻转分组中的比特</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用校验和检测比特错误</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问题：如何从错误中恢复？</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确认（ACK）：接收方明确告诉发送方分组已正确收到</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否定确认（NAK）：接收方明确告诉发送方分组存在错误</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发送方收到 NAK 后重传分组</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停等</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CC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发送方发送一个分组，然后等待接收方响应</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传输层：3-45</a:t>
            </a:r>
            <a:fld id="{C4204591-24BD-A542-B9D5-F8D8A88D2FEE}" type="slidenum">
              <a:rPr lang="en-US" smtClean="0"/>
              <a:pPr/>
              <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rdt2.0：FSM 规范</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等待上层调用</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 ACK 或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等待下层调用</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发送方</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接收方</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传输层：3-46</a:t>
            </a:r>
            <a:fld id="{C4204591-24BD-A542-B9D5-F8D8A88D2FEE}" type="slidenum">
              <a:rPr lang="en-US" smtClean="0"/>
              <a:pPr/>
              <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rdt2.0：FSM 规范</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等待上层调用</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 ACK 或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等待下层调用</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发送方</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接收方</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注意：接收方的“状态”（接收方是否正确收到我的报文？）发送方并不知道，除非接收方以某种方式告知发送方</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这就是为什么需要协议！</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传输层：3-47</a:t>
            </a:r>
            <a:fld id="{C4204591-24BD-A542-B9D5-F8D8A88D2FEE}" type="slidenum">
              <a:rPr lang="en-US" smtClean="0"/>
              <a:pPr/>
              <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rdt2.0：无错误时的运行</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等待上层调用</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 ACK 或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等待下层调用</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发送方</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接收方</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传输层：3-48</a:t>
            </a:r>
            <a:fld id="{C4204591-24BD-A542-B9D5-F8D8A88D2FEE}" type="slidenum">
              <a:rPr lang="en-US" smtClean="0"/>
              <a:pPr/>
              <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rdt2.0：分组损坏场景</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等待上层调用</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ACK 或 NAK</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等待下层调用</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发送方</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接收方</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传输层：3-49</a:t>
            </a:r>
            <a:fld id="{C4204591-24BD-A542-B9D5-F8D8A88D2FEE}" type="slidenum">
              <a:rPr lang="en-US" smtClean="0"/>
              <a:pPr/>
              <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有一个致命缺陷！</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如果 ACK/NAK 损坏会怎样？</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发送方不知道接收方发生了什么！</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不能简单重传：可能造成重复</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处理重复分组： </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如果 ACK/NAK 损坏，发送方重传当前分组</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发送方给每个分组添加序号</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接收方丢弃（不向上交付）重复分组</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停等</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CC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发送方发送一个分组，然后等待接收方响应</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传输层：3-50</a:t>
            </a:r>
            <a:fld id="{C4204591-24BD-A542-B9D5-F8D8A88D2FEE}" type="slidenum">
              <a:rPr lang="en-US" smtClean="0"/>
              <a:pPr/>
              <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rdt2.1：发送方处理损坏的 ACK/NAK</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等待上层调用 0</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上层调用 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传输层：3-51</a:t>
            </a:r>
            <a:fld id="{C4204591-24BD-A542-B9D5-F8D8A88D2FEE}" type="slidenum">
              <a:rPr lang="en-US" smtClean="0"/>
              <a:pPr/>
              <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rdt2.1：接收方处理损坏的 ACK/NAK</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下层 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下层 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chksum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传输层：3-52</a:t>
            </a:r>
            <a:fld id="{C4204591-24BD-A542-B9D5-F8D8A88D2FEE}" type="slidenum">
              <a:rPr lang="en-US" smtClean="0"/>
              <a:pPr/>
              <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rdt2.1：讨论</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发送方：</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给分组添加序号</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两个序号（0、1）就足够。为什么？</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必须检查收到的 ACK/NAK 是否损坏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状态数量翻倍</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状态必须“记住”当前“期望”的分组序号应为 0 还是 1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接收方：</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必须检查收到的分组是否重复</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状态指明期望分组序号是 0 还是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注意：接收方无法知道自己上一个 ACK/NAK 是否被发送方正确收到</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传输层：3-53</a:t>
            </a:r>
            <a:fld id="{C4204591-24BD-A542-B9D5-F8D8A88D2FEE}" type="slidenum">
              <a:rPr lang="en-US" smtClean="0"/>
              <a:pPr/>
              <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rdt2.2：无 NAK 协议</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功能与 rdt2.1 相同，但只使用 ACK</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接收方不发送 NAK，而是对最后一个正确收到的分组发送 ACK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接收方必须明确包含被确认分组的序号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发送方收到重复 ACK 时采取与 NAK 相同的动作：重传当前分组</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后面会看到，TCP 使用这种方式避免 NAK</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传输层：3-54</a:t>
            </a:r>
            <a:fld id="{C4204591-24BD-A542-B9D5-F8D8A88D2FEE}" type="slidenum">
              <a:rPr lang="en-US" smtClean="0"/>
              <a:pPr/>
              <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rdt2.2：发送方和接收方片段</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等待上层调用 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发送方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片段</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下层 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rgbClr val="FF0000"/>
                    </a:solidFill>
                    <a:prstDash val="dash"/>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接收方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片段</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传输层：3-55</a:t>
            </a:r>
            <a:fld id="{C4204591-24BD-A542-B9D5-F8D8A88D2FEE}" type="slidenum">
              <a:rPr lang="en-US" smtClean="0"/>
              <a:pPr/>
              <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rdt3.0：存在错误和丢失的信道</a:t>
            </a:r>
            <a:r>
              <a:rPr lang="en-US" i="1" dirty="0"/>
              <a:t/>
            </a:r>
            <a:r>
              <a:rPr lang="en-US" dirty="0"/>
              <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新的信道假设：底层信道还可能丢失分组（数据分组或 ACK）</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校验和、序号、ACK 和重传都会有所帮助，但还不完全够</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问：人在交谈中如何处理发送方到接收方丢失的话语？</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传输层：3-56</a:t>
            </a:r>
            <a:fld id="{C4204591-24BD-A542-B9D5-F8D8A88D2FEE}" type="slidenum">
              <a:rPr lang="en-US" smtClean="0"/>
              <a:pPr/>
              <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rdt3.0：存在错误和丢失的信道</a:t>
            </a:r>
            <a:r>
              <a:rPr lang="en-US" i="1" dirty="0"/>
              <a:t/>
            </a:r>
            <a:r>
              <a:rPr lang="en-US" dirty="0"/>
              <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方法：发送方等待一个“合理”的时间以收到 ACK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如果这段时间内没有收到 ACK，则重传</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如果分组（或 ACK）只是延迟而非丢失：</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重传会造成重复，但序号已经能处理这种情况！</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接收方必须指明被确认分组的序号</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超时</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使用倒计时定时器，在“合理”时间后中断等待</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传输层：3-57</a:t>
            </a:r>
            <a:fld id="{C4204591-24BD-A542-B9D5-F8D8A88D2FEE}" type="slidenum">
              <a:rPr lang="en-US" smtClean="0"/>
              <a:pPr/>
              <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发送方</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等待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上层调用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等待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上层调用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传输层：3-58</a:t>
            </a:r>
            <a:fld id="{C4204591-24BD-A542-B9D5-F8D8A88D2FEE}" type="slidenum">
              <a:rPr lang="en-US" smtClean="0"/>
              <a:pPr/>
              <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发送方</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上层调用 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超时</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等待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上层调用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等待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超时</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传输层：3-59</a:t>
            </a:r>
            <a:fld id="{C4204591-24BD-A542-B9D5-F8D8A88D2FEE}" type="slidenum">
              <a:rPr lang="en-US" smtClean="0"/>
              <a:pPr/>
              <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运行过程</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发送方</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接收方</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 无丢失</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发送方</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接收方</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分组丢失</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丢失</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超时</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re发送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传输层：3-60</a:t>
            </a:r>
            <a:fld id="{C4204591-24BD-A542-B9D5-F8D8A88D2FEE}" type="slidenum">
              <a:rPr lang="en-US" smtClean="0"/>
              <a:pPr/>
              <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运行过程</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（检测到重复）</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发送方</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接收方</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(c) ACK 丢失</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丢失</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超时</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re发送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（检测到重复）</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发送方</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接收方</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发送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过早超时/延迟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超时</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re发送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（忽略）</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传输层：3-61</a:t>
            </a:r>
            <a:fld id="{C4204591-24BD-A542-B9D5-F8D8A88D2FEE}" type="slidenum">
              <a:rPr lang="en-US" smtClean="0"/>
              <a:pPr/>
              <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性能（停等）</a:t>
            </a:r>
            <a:r>
              <a:rPr lang="en-US" sz="3200" dirty="0"/>
              <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示例：1 Gbps 链路、15 ms 传播时延、8000 bit 分组</a:t>
            </a: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发送方：利用率，即发送方忙于发送的时间占比</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比特</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10^9 比特/秒</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8 微秒</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把分组发送进信道所需时间：</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传输层：3-62</a:t>
            </a:r>
            <a:fld id="{C4204591-24BD-A542-B9D5-F8D8A88D2FEE}" type="slidenum">
              <a:rPr lang="en-US" smtClean="0"/>
              <a:pPr/>
              <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rdt3.0：停等运行方式</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第一个分组比特开始发送，t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发送方</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接收方</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第一个分组比特到达</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最后一个分组比特到达，发送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到达，发送下一个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分组，t = RTT + L/R</a:t>
              </a: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传输层：3-63</a:t>
            </a:r>
            <a:fld id="{C4204591-24BD-A542-B9D5-F8D8A88D2FEE}" type="slidenum">
              <a:rPr lang="en-US" smtClean="0"/>
              <a:pPr/>
              <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rdt3.0：停等运行方式</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发送方</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接收方</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U发送方</a:t>
              </a:r>
              <a:r>
                <a:rPr kumimoji="0" lang="en-US" sz="2800" b="0" i="0" u="none" strike="noStrike" kern="1200" cap="none" spc="0" normalizeH="0" baseline="-25000" noProof="0" dirty="0" err="1">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rdt3.0 协议性能很差！</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协议限制了底层基础设施（信道）的性能</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传输层：3-64</a:t>
            </a:r>
            <a:fld id="{C4204591-24BD-A542-B9D5-F8D8A88D2FEE}" type="slidenum">
              <a:rPr lang="en-US" smtClean="0"/>
              <a:pPr/>
              <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rdt3.0：流水线协议运行方式</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流水线：发送方允许多个“在途”、尚未确认的分组同时存在</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必须扩大序号范围</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发送方和/或接收方需要缓冲</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传输层：3-65</a:t>
            </a:r>
            <a:fld id="{C4204591-24BD-A542-B9D5-F8D8A88D2FEE}" type="slidenum">
              <a:rPr lang="en-US" smtClean="0"/>
              <a:pPr/>
              <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流水线：提高利用率</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第一个分组比特开始发送，t = 0</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发送方</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接收方</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最后一个比特发送完成，t = L/R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第一个分组比特到达</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最后一个分组比特到达，发送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到达，发送下一个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分组，t = RTT + L/R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第 2 个分组的最后一个比特到达，发送 ACK</a:t>
                </a:r>
                <a:r>
                  <a:rPr kumimoji="0" lang="en-US" altLang="en-US" sz="1600" b="0" i="0" u="none" strike="noStrike" kern="1200" cap="none" spc="0" normalizeH="0" baseline="30000" noProof="0">
                    <a:ln>
                      <a:noFill/>
                    </a:ln>
                    <a:solidFill>
                      <a:srgbClr val="0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第 3 个分组的最后一个比特到达，发送 ACK</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 个分组的流水线提高了</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利用率提高 3 倍！</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spid="_x0000_s49161" name="Picture" r:id="rId4" imgW="2578100" imgH="355600" progId="Word.Picture.8">
                  <p:embed/>
                </p:oleObj>
              </mc:Choice>
              <mc:Fallback>
                <p:oleObj name="Picture" r:id="rId4"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传输层：3-66</a:t>
            </a:r>
            <a:fld id="{C4204591-24BD-A542-B9D5-F8D8A88D2FEE}" type="slidenum">
              <a:rPr lang="en-US" smtClean="0"/>
              <a:pPr/>
              <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Go-Back-N：发送方</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发送方：“窗口”中最多有 N 个连续的已发送但未确认分组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分组首部中有 k bit 序号</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累计 ACK：ACK(n) 确认直到并包括序号 n 在内的所有分组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收到 ACK(n) 后：把窗口向前移动到从 n+1 开始</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为最早的在途分组设置定时器</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timeout(n)：重传分组 n 以及窗口中所有更高序号分组</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传输层：3-67</a:t>
            </a:r>
            <a:fld id="{C4204591-24BD-A542-B9D5-F8D8A88D2FEE}" type="slidenum">
              <a:rPr lang="en-US" smtClean="0"/>
              <a:pPr/>
              <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Go-Back-N：接收方</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仅 ACK：总是对目前按序正确收到的最高序号分组发送 ACK</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可能产生重复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只需记住 rcv_base</a:t>
            </a:r>
            <a:r>
              <a:rPr kumimoji="0" lang="en-US" altLang="en-US" sz="24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收到乱序分组时：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可以丢弃（不缓冲），也可以缓冲：这是实现选择</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重新 ACK 最高的按序分组序号</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已收到且已 ACK</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乱序：已收到但未 ACK</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未收到</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接收方视角下的序号空间：</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传输层：3-68</a:t>
            </a:r>
            <a:fld id="{C4204591-24BD-A542-B9D5-F8D8A88D2FEE}" type="slidenum">
              <a:rPr lang="en-US" smtClean="0"/>
              <a:pPr/>
              <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运行过程</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（等待）</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发送方</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接收方</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pkt0，发送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pkt1，发送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pkt3，丢弃，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（重新）发送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丢失</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pkt2 超时</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pkt4，丢弃，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（重新）发送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pkt5，丢弃，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（重新）发送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 pkt2, deliver, 发送 ack2</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 pkt3, deliver, 发送 ack3</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 pkt4, deliver, 发送 ack4</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 pkt5, deliver, 发送 ack5</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发送方 窗口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 ack0, 发送 pkt4</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 ack1, 发送 pkt5</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传输层：3-69</a:t>
            </a:r>
            <a:fld id="{C4204591-24BD-A542-B9D5-F8D8A88D2FEE}" type="slidenum">
              <a:rPr lang="en-US" smtClean="0"/>
              <a:pPr/>
              <a:t/>
            </a:fld>
            <a:endParaRPr lang="en-US" dirty="0"/>
          </a:p>
        </p:txBody>
      </p:sp>
    </p:spTree>
    <p:extLst>
      <p:ext uri="{BB962C8B-B14F-4D97-AF65-F5344CB8AC3E}">
        <p14:creationId xmlns:p14="http://schemas.microsoft.com/office/powerpoint/2010/main" val="3290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选择重传</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733374" y="1489418"/>
            <a:ext cx="1110062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接收方分别确认所有正确收到的分组</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按需缓冲分组，最终按序交付给上层</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发送方对未确认分组分别超时/重传</a:t>
            </a:r>
            <a:r>
              <a:rPr kumimoji="0" lang="en-US" altLang="en-US" sz="32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747713" marR="0" lvl="1" indent="-2270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发送方为每个未确认分组维护定时器</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 窗口</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 个连续序号</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限制已发送但未确认分组的序号范围</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r>
              <a:rPr lang="en-US" dirty="0"/>
              <a:t>传输层：3-70</a:t>
            </a:r>
            <a:fld id="{C4204591-24BD-A542-B9D5-F8D8A88D2FEE}" type="slidenum">
              <a:rPr lang="en-US" smtClean="0"/>
              <a:pPr/>
              <a:t/>
            </a:fld>
            <a:endParaRPr lang="en-US" dirty="0"/>
          </a:p>
        </p:txBody>
      </p:sp>
    </p:spTree>
    <p:extLst>
      <p:ext uri="{BB962C8B-B14F-4D97-AF65-F5344CB8AC3E}">
        <p14:creationId xmlns:p14="http://schemas.microsoft.com/office/powerpoint/2010/main" val="250150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2">
                                            <p:txEl>
                                              <p:pRg st="1" end="1"/>
                                            </p:txEl>
                                          </p:spTgt>
                                        </p:tgtEl>
                                        <p:attrNameLst>
                                          <p:attrName>style.visibility</p:attrName>
                                        </p:attrNameLst>
                                      </p:cBhvr>
                                      <p:to>
                                        <p:strVal val="visible"/>
                                      </p:to>
                                    </p:set>
                                    <p:animEffect transition="in" filter="dissolve">
                                      <p:cBhvr>
                                        <p:cTn id="10" dur="500"/>
                                        <p:tgtEl>
                                          <p:spTgt spid="72">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72">
                                            <p:txEl>
                                              <p:pRg st="3" end="3"/>
                                            </p:txEl>
                                          </p:spTgt>
                                        </p:tgtEl>
                                        <p:attrNameLst>
                                          <p:attrName>style.visibility</p:attrName>
                                        </p:attrNameLst>
                                      </p:cBhvr>
                                      <p:to>
                                        <p:strVal val="visible"/>
                                      </p:to>
                                    </p:set>
                                    <p:animEffect transition="in" filter="dissolve">
                                      <p:cBhvr>
                                        <p:cTn id="18" dur="500"/>
                                        <p:tgtEl>
                                          <p:spTgt spid="7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选择重传：发送方和接收方窗口</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传输层：3-71</a:t>
            </a:r>
            <a:fld id="{C4204591-24BD-A542-B9D5-F8D8A88D2FEE}" type="slidenum">
              <a:rPr lang="en-US" smtClean="0"/>
              <a:pPr/>
              <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选择重传：发送方和接收方</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来自上层的数据：</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如果下一个可用序号在窗口内，则发送分组</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timeout(n)：</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重发分组 n，并重启定时器</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ACK(n) 位于 [sendbase, sendbase+N]：</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标记分组 n 已收到</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如果 n 是最小的未确认分组，则把窗口基序号推进到下一个未确认序号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发送方</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分组 n 位于 [rcvbase, rcvbase+N-1]</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乱序：缓冲</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按序：交付该分组（同时交付已缓冲且按序的分组），将窗口推进到下一个尚未收到的分组</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否则： </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忽略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接收方</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传输层：3-72</a:t>
            </a:r>
            <a:fld id="{C4204591-24BD-A542-B9D5-F8D8A88D2FEE}" type="slidenum">
              <a:rPr lang="en-US" smtClean="0"/>
              <a:pPr/>
              <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选择重传运行过程</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（等待）</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发送方</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接收方</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发送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（但不发送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丢失</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pkt2 超时</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发送方 窗口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 ack0, 发送 pkt4</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 ack1, 发送 pkt5</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pkt0，发送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pkt1，发送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pkt3，缓冲，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发送 ack3</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记录 ack3 已到达</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pkt4，缓冲，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发送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收到 pkt5，缓冲，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发送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问：当 ack2 到达时会发生什么？</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传输层：3-73</a:t>
            </a:r>
            <a:fld id="{C4204591-24BD-A542-B9D5-F8D8A88D2FEE}" type="slidenum">
              <a:rPr lang="en-US" smtClean="0"/>
              <a:pPr/>
              <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选择重传：一个两难问题！</a:t>
            </a:r>
            <a:br>
              <a:rPr lang="en-US" sz="4800" dirty="0"/>
            </a:br>
            <a:r>
              <a:rPr lang="en-US" sz="4800" dirty="0"/>
              <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超时</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重传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会接受分组</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序号为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糟糕！</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接收窗口</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（收到之后）</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发送方 窗口</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（收到之后）</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会接受分组</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序号为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没问题</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示例：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窗口大小 = 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传输层：3-74</a:t>
            </a:r>
            <a:fld id="{C4204591-24BD-A542-B9D5-F8D8A88D2FEE}" type="slidenum">
              <a:rPr lang="en-US" smtClean="0"/>
              <a:pPr/>
              <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选择重传：一个两难问题！</a:t>
            </a:r>
            <a:br>
              <a:rPr lang="en-US" sz="4800" dirty="0"/>
            </a:br>
            <a:r>
              <a:rPr lang="en-US" sz="4800" dirty="0"/>
              <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问：为了避免场景 (b) 的问题，序号空间大小与窗口大小之间需要什么关系？</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超时</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重传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会接受分组</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序号为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糟糕！</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接收窗口</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（收到之后）</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发送方 窗口</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（收到之后）</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会接受分组</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序号为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没问题</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示例：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窗口大小 = 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接收方看不到发送方侧</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接收方在两种情况下的行为完全相同！</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出现了（非常）严重的问题！</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传输层：3-75</a:t>
            </a:r>
            <a:fld id="{C4204591-24BD-A542-B9D5-F8D8A88D2FEE}" type="slidenum">
              <a:rPr lang="en-US" smtClean="0"/>
              <a:pPr/>
              <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第 3 章：路线图</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传输层服务</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复用与分用</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无连接传输：UDP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可靠数据传输原理 </a:t>
            </a:r>
          </a:p>
          <a:p>
            <a:pPr marL="403225" indent="-285750">
              <a:spcBef>
                <a:spcPts val="800"/>
              </a:spcBef>
            </a:pPr>
            <a:r>
              <a:rPr lang="en-US" sz="3200" dirty="0"/>
              <a:t>面向连接的传输：TCP</a:t>
            </a:r>
          </a:p>
          <a:p>
            <a:pPr marL="746125" lvl="1" indent="-288925">
              <a:buFont typeface="Arial"/>
              <a:buChar char="•"/>
              <a:defRPr/>
            </a:pPr>
            <a:r>
              <a:rPr lang="en-US" dirty="0"/>
              <a:t>报文段结构</a:t>
            </a:r>
          </a:p>
          <a:p>
            <a:pPr marL="746125" lvl="1" indent="-288925">
              <a:buFont typeface="Arial"/>
              <a:buChar char="•"/>
              <a:defRPr/>
            </a:pPr>
            <a:r>
              <a:rPr lang="en-US" dirty="0"/>
              <a:t>可靠数据传输</a:t>
            </a:r>
          </a:p>
          <a:p>
            <a:pPr marL="746125" lvl="1" indent="-288925">
              <a:buFont typeface="Arial"/>
              <a:buChar char="•"/>
              <a:defRPr/>
            </a:pPr>
            <a:r>
              <a:rPr lang="en-US" dirty="0"/>
              <a:t>流量控制</a:t>
            </a:r>
          </a:p>
          <a:p>
            <a:pPr marL="746125" lvl="1" indent="-288925">
              <a:buFont typeface="Arial"/>
              <a:buChar char="•"/>
              <a:defRPr/>
            </a:pPr>
            <a:r>
              <a:rPr lang="en-US" dirty="0"/>
              <a:t>连接管理</a:t>
            </a:r>
            <a:endParaRPr lang="en-US" sz="3200" dirty="0"/>
          </a:p>
          <a:p>
            <a:pPr marL="403225" indent="-285750">
              <a:spcBef>
                <a:spcPts val="800"/>
              </a:spcBef>
              <a:buClr>
                <a:schemeClr val="bg1">
                  <a:lumMod val="75000"/>
                </a:schemeClr>
              </a:buClr>
            </a:pPr>
            <a:r>
              <a:rPr lang="en-US" sz="3200" dirty="0">
                <a:solidFill>
                  <a:schemeClr val="bg1">
                    <a:lumMod val="75000"/>
                  </a:schemeClr>
                </a:solidFill>
              </a:rPr>
              <a:t>拥塞控制原理</a:t>
            </a:r>
          </a:p>
          <a:p>
            <a:pPr marL="403225" indent="-285750">
              <a:spcBef>
                <a:spcPts val="800"/>
              </a:spcBef>
              <a:buClr>
                <a:schemeClr val="bg1">
                  <a:lumMod val="75000"/>
                </a:schemeClr>
              </a:buClr>
            </a:pPr>
            <a:r>
              <a:rPr lang="en-US" sz="3200" dirty="0">
                <a:solidFill>
                  <a:schemeClr val="bg1">
                    <a:lumMod val="75000"/>
                  </a:schemeClr>
                </a:solidFill>
              </a:rPr>
              <a:t>TCP 拥塞控制</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a:t>传输层：3-76</a:t>
            </a:r>
            <a:fld id="{C4204591-24BD-A542-B9D5-F8D8A88D2FEE}" type="slidenum">
              <a:rPr lang="en-US" smtClean="0"/>
              <a:pPr/>
              <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TCP：概览 RFC：793、1122、2018、5681、7323</a:t>
            </a:r>
            <a:r>
              <a:rPr lang="en-US" sz="3200" b="0" dirty="0"/>
              <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累计 ACK</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流水线：</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拥塞控制和流量控制决定窗口大小</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面向连接：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在数据交换前通过握手（交换控制报文）初始化发送方和接收方状态</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受流量控制：</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发送方不会压垮接收方</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点到点：</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一个发送方、一个接收方 </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可靠、按序的字节流：</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没有“报文边界”</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全双工数据：</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同一连接中的双向数据流</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a:t>传输层：3-77</a:t>
            </a:r>
            <a:fld id="{C4204591-24BD-A542-B9D5-F8D8A88D2FEE}" type="slidenum">
              <a:rPr lang="en-US" smtClean="0"/>
              <a:pPr/>
              <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报文段结构</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源端口号</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rial" charset="0"/>
                  <a:ea typeface="ＭＳ Ｐゴシック" charset="0"/>
                  <a:cs typeface="+mn-cs"/>
                </a:rPr>
                <a:t>目的端口号</a:t>
              </a: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32 比特</a:t>
              </a: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未</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使用</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接收窗口</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流量控制：接收方愿意接收的字节数</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序号</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报文段序号：按字节流中的数据字节计数（不是按报文段计数！）</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0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应用层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数据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（可变长度）</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应用送入 TCP 套接字的数据</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确认号</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选项（可变长度）</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选项</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头部</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err="1">
                  <a:ln>
                    <a:noFill/>
                  </a:ln>
                  <a:solidFill>
                    <a:srgbClr val="000000"/>
                  </a:solidFill>
                  <a:effectLst/>
                  <a:uLnTx/>
                  <a:uFillTx/>
                  <a:latin typeface="Calibri"/>
                  <a:ea typeface="ＭＳ Ｐゴシック" charset="0"/>
                  <a:cs typeface="+mn-cs"/>
                </a:rPr>
                <a:t>长度</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长度（TCP 首部）</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校验和</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互联网校验和</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prstClr val="white">
                      <a:lumMod val="75000"/>
                    </a:prstClr>
                  </a:solidFill>
                  <a:effectLst/>
                  <a:uLnTx/>
                  <a:uFillTx/>
                  <a:latin typeface="Arial" charset="0"/>
                  <a:ea typeface="ＭＳ Ｐゴシック" charset="0"/>
                  <a:cs typeface="+mn-cs"/>
                </a:rPr>
                <a:t>紧急数据指针</a:t>
              </a: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C、E：拥塞通知</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a:t>传输层：3-78</a:t>
            </a:r>
            <a:fld id="{C4204591-24BD-A542-B9D5-F8D8A88D2FEE}" type="slidenum">
              <a:rPr lang="en-US" smtClean="0"/>
              <a:pPr/>
              <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序号与 ACK</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序号：</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报文段数据中第一个字节在字节流中的“编号”</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源端口号</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目的端口号</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序号</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确认号</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校验和</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紧急指针</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接收方发出的报文段</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已发送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已 ACK</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已发送，尚未 ACK</a:t>
            </a:r>
            <a:r>
              <a:rPr kumimoji="0" lang="en-US" altLang="en-US" sz="14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
            </a:r>
            <a:endPar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（“在途”）</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可用</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但不是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尚未发送</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未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可用</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窗口大小</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发送方序号空间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源端口号</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目的端口号</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FFFFFF"/>
                    </a:solidFill>
                    <a:effectLst/>
                    <a:uLnTx/>
                    <a:uFillTx/>
                    <a:latin typeface="Arial" charset="0"/>
                    <a:ea typeface="ＭＳ Ｐゴシック" charset="0"/>
                    <a:cs typeface="+mn-cs"/>
                  </a:rPr>
                  <a:t>序号</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确认号</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校验和</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紧急指针</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发送方发出的报文段</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期望从对方收到的下一个字节序号</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累计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问：接收方如何处理乱序报文段</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答：TCP 规范没有规定，由实现者决定</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a:t>传输层：3-79</a:t>
            </a:r>
            <a:fld id="{C4204591-24BD-A542-B9D5-F8D8A88D2FEE}" type="slidenum">
              <a:rPr lang="en-US" smtClean="0"/>
              <a:pPr/>
              <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序号与 ACK</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主机确认收到回显的“C”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主机确认收到“C”，并回显“C”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简单 telnet 场景</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主机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主机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用户输入“C”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a:t>传输层：3-80</a:t>
            </a:r>
            <a:fld id="{C4204591-24BD-A542-B9D5-F8D8A88D2FEE}" type="slidenum">
              <a:rPr lang="en-US" smtClean="0"/>
              <a:pPr/>
              <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往返时间与超时</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问：如何设置 TCP 超时值？</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应长于 RTT，但 RTT 会变化！</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太短：过早超时，导致不必要重传</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太长：对报文段丢失反应太慢</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问：如何估计 RTT？</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err="1">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SampleRTT：从报文段发送到收到 ACK 的测量时间</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忽略重传样本</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err="1">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 会变化，希望估计 RTT 更“平滑”</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对最近多次测量取平均，而不是只看当前 SampleRTT</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err="1">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r>
            <a:endPar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endParaRP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a:t>传输层：3-81</a:t>
            </a:r>
            <a:fld id="{C4204591-24BD-A542-B9D5-F8D8A88D2FEE}" type="slidenum">
              <a:rPr lang="en-US" smtClean="0"/>
              <a:pPr/>
              <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往返时间与超时</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SampleRTT</a:t>
            </a:r>
            <a:endPar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指数加权移动平均（EWMA）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过去样本的影响会指数式快速衰减</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典型取值：α = 0.125</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RTT（毫秒）</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RTT：从 gaia.cs.umass.edu 到 fantasia.eurecom.fr</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时间（秒）</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a:t>传输层：3-82</a:t>
            </a:r>
            <a:fld id="{C4204591-24BD-A542-B9D5-F8D8A88D2FEE}" type="slidenum">
              <a:rPr lang="en-US" smtClean="0"/>
              <a:pPr/>
              <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往返时间与超时</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超时间隔：EstimatedRTT 加上“安全余量”</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EstimatedRTT 变化大时，需要更大的安全余量</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TimeoutInterval</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+ 4*</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DevRTT</a:t>
              </a:r>
              <a:endPar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endParaRP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99"/>
                  </a:solidFill>
                  <a:effectLst/>
                  <a:uLnTx/>
                  <a:uFillTx/>
                  <a:latin typeface="Tahoma" charset="0"/>
                  <a:ea typeface="ＭＳ Ｐゴシック" charset="0"/>
                  <a:cs typeface="+mn-cs"/>
                </a:rPr>
                <a:t>估计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“安全余量”</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DevRTT</a:t>
              </a: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DevRTT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SampleRTT-EstimatedRTT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DevRTT：SampleRTT 偏离 EstimatedRTT 的 EWMA：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a:t>传输层：3-83</a:t>
            </a:r>
            <a:fld id="{C4204591-24BD-A542-B9D5-F8D8A88D2FEE}" type="slidenum">
              <a:rPr lang="en-US" smtClean="0"/>
              <a:pPr/>
              <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发送方（简化）</a:t>
            </a:r>
            <a:r>
              <a:rPr lang="en-US" sz="3600" dirty="0"/>
              <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事件：从应用收到数据</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创建带序号的报文段</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序号是报文段中第一个数据字节在字节流中的编号</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如果定时器尚未运行，则启动定时器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可把定时器看作针对最早的未确认报文段</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到期间隔：TimeOutInterval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事件：超时</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重传导致超时的报文段</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重启定时器</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事件：收到 ACK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如果 ACK 确认了之前未确认的报文段</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更新已知被确认的数据</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如果仍有未确认报文段，则启动定时器</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a:t>传输层：3-84</a:t>
            </a:r>
            <a:fld id="{C4204591-24BD-A542-B9D5-F8D8A88D2FEE}" type="slidenum">
              <a:rPr lang="en-US" smtClean="0"/>
              <a:pPr/>
              <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接收方：ACK 生成 [RFC 5681]</a:t>
            </a:r>
            <a:r>
              <a:rPr lang="en-US" sz="2400" b="0" dirty="0"/>
              <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接收方事件</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收到按序报文段，且</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序号为期望值。此前所有数据直到</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期望序号之前都已 ACK</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收到按序报文段，且</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序号为期望值。另一个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报文段已有待发送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收到乱序报文段</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序号高于期望值。</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检测到缺口</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收到一个报文段，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部分或完全填补缺口</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接收方动作</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延迟 ACK。最多等待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等待下一个报文段。如果没有下一个报文段，</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立即发送一个累计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ACK，确认两个按序报文段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立即发送重复 ACK，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指出下一个期望字节的序号</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立即发送 ACK，前提是</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该报文段从缺口低端开始</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a:t>传输层：3-85</a:t>
            </a:r>
            <a:fld id="{C4204591-24BD-A542-B9D5-F8D8A88D2FEE}" type="slidenum">
              <a:rPr lang="en-US" smtClean="0"/>
              <a:pPr/>
              <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TCP：重传场景</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ACK 丢失场景</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主机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主机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超时</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过早超时</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主机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主机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字节数据</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超时</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发送累计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a:t>传输层：3-86</a:t>
            </a:r>
            <a:fld id="{C4204591-24BD-A542-B9D5-F8D8A88D2FEE}" type="slidenum">
              <a:rPr lang="en-US" smtClean="0"/>
              <a:pPr/>
              <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TCP：重传场景</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累计 ACK 可以弥补较早丢失的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主机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主机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a:t>传输层：3-87</a:t>
            </a:r>
            <a:fld id="{C4204591-24BD-A542-B9D5-F8D8A88D2FEE}" type="slidenum">
              <a:rPr lang="en-US" smtClean="0"/>
              <a:pPr/>
              <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快速重传</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主机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主机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超时</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收到三个重复 ACK 表明，在缺失报文段之后又收到了 3 个报文段，因此该报文段很可能丢失。于是重传！</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如果发送方针对同一数据又收到 3 个 ACK（“三重重复 ACK”），则重发序号最小的未确认报文段</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该未确认报文段很可能已丢失，因此不要等到超时</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CC0000"/>
                  </a:solidFill>
                  <a:effectLst/>
                  <a:uLnTx/>
                  <a:uFillTx/>
                  <a:latin typeface="Tahoma" charset="0"/>
                  <a:ea typeface="ＭＳ Ｐゴシック" charset="0"/>
                  <a:cs typeface="+mn-cs"/>
                </a:rPr>
                <a:t>TCP 快速重传</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a:t>传输层：3-88</a:t>
            </a:r>
            <a:fld id="{C4204591-24BD-A542-B9D5-F8D8A88D2FEE}" type="slidenum">
              <a:rPr lang="en-US" smtClean="0"/>
              <a:pPr/>
              <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第 3 章：路线图</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传输层服务</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复用与分用</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无连接传输：UDP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可靠数据传输原理 </a:t>
            </a:r>
          </a:p>
          <a:p>
            <a:pPr marL="403225" indent="-285750">
              <a:spcBef>
                <a:spcPts val="800"/>
              </a:spcBef>
            </a:pPr>
            <a:r>
              <a:rPr lang="en-US" sz="3200" dirty="0"/>
              <a:t>面向连接的传输：TCP</a:t>
            </a:r>
          </a:p>
          <a:p>
            <a:pPr marL="746125" lvl="1" indent="-288925">
              <a:buClr>
                <a:schemeClr val="bg1">
                  <a:lumMod val="75000"/>
                </a:schemeClr>
              </a:buClr>
              <a:buFont typeface="Arial"/>
              <a:buChar char="•"/>
              <a:defRPr/>
            </a:pPr>
            <a:r>
              <a:rPr lang="en-US" dirty="0">
                <a:solidFill>
                  <a:schemeClr val="bg1">
                    <a:lumMod val="75000"/>
                  </a:schemeClr>
                </a:solidFill>
              </a:rPr>
              <a:t>报文段结构</a:t>
            </a:r>
          </a:p>
          <a:p>
            <a:pPr marL="746125" lvl="1" indent="-288925">
              <a:buClr>
                <a:schemeClr val="bg1">
                  <a:lumMod val="75000"/>
                </a:schemeClr>
              </a:buClr>
              <a:buFont typeface="Arial"/>
              <a:buChar char="•"/>
              <a:defRPr/>
            </a:pPr>
            <a:r>
              <a:rPr lang="en-US" dirty="0">
                <a:solidFill>
                  <a:schemeClr val="bg1">
                    <a:lumMod val="75000"/>
                  </a:schemeClr>
                </a:solidFill>
              </a:rPr>
              <a:t>可靠数据传输</a:t>
            </a:r>
          </a:p>
          <a:p>
            <a:pPr marL="746125" lvl="1" indent="-288925">
              <a:buFont typeface="Arial"/>
              <a:buChar char="•"/>
              <a:defRPr/>
            </a:pPr>
            <a:r>
              <a:rPr lang="en-US" dirty="0"/>
              <a:t>流量控制</a:t>
            </a:r>
          </a:p>
          <a:p>
            <a:pPr marL="746125" lvl="1" indent="-288925">
              <a:buFont typeface="Arial"/>
              <a:buChar char="•"/>
              <a:defRPr/>
            </a:pPr>
            <a:r>
              <a:rPr lang="en-US" dirty="0"/>
              <a:t>连接管理</a:t>
            </a:r>
            <a:endParaRPr lang="en-US" sz="3200" dirty="0"/>
          </a:p>
          <a:p>
            <a:pPr marL="403225" indent="-285750">
              <a:spcBef>
                <a:spcPts val="800"/>
              </a:spcBef>
              <a:buClr>
                <a:schemeClr val="bg1">
                  <a:lumMod val="75000"/>
                </a:schemeClr>
              </a:buClr>
            </a:pPr>
            <a:r>
              <a:rPr lang="en-US" sz="3200" dirty="0">
                <a:solidFill>
                  <a:schemeClr val="bg1">
                    <a:lumMod val="75000"/>
                  </a:schemeClr>
                </a:solidFill>
              </a:rPr>
              <a:t>拥塞控制原理</a:t>
            </a:r>
          </a:p>
          <a:p>
            <a:pPr marL="403225" indent="-285750">
              <a:spcBef>
                <a:spcPts val="800"/>
              </a:spcBef>
              <a:buClr>
                <a:schemeClr val="bg1">
                  <a:lumMod val="75000"/>
                </a:schemeClr>
              </a:buClr>
            </a:pPr>
            <a:r>
              <a:rPr lang="en-US" sz="3200" dirty="0">
                <a:solidFill>
                  <a:schemeClr val="bg1">
                    <a:lumMod val="75000"/>
                  </a:schemeClr>
                </a:solidFill>
              </a:rPr>
              <a:t>TCP 拥塞控制</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传输层：3-89</a:t>
            </a:r>
            <a:fld id="{C4204591-24BD-A542-B9D5-F8D8A88D2FEE}" type="slidenum">
              <a:rPr lang="en-US" smtClean="0"/>
              <a:pPr/>
              <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流量控制</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应用层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进程</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接收方 缓冲区s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代码</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代码</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接收方协议栈</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问：如果网络层交付数据的速度快于应用层从套接字缓冲区取走数据的速度，会发生什么？</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网络层把 IP 数据报载荷交付到 TCP 套接字缓冲区</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来自发送方</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应用从 TCP 套接字缓冲区取走数据</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传输层：3-90</a:t>
            </a:r>
            <a:fld id="{C4204591-24BD-A542-B9D5-F8D8A88D2FEE}" type="slidenum">
              <a:rPr lang="en-US" smtClean="0"/>
              <a:pPr/>
              <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流量控制</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应用层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进程</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接收方 缓冲区s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代码</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代码</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接收方协议栈</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问：如果网络层交付数据的速度快于应用层从套接字缓冲区取走数据的速度，会发生什么？</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网络层把 IP 数据报载荷交付到 TCP 套接字缓冲区</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来自发送方</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应用从 TCP 套接字缓冲区取走数据</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传输层：3-91</a:t>
            </a:r>
            <a:fld id="{C4204591-24BD-A542-B9D5-F8D8A88D2FEE}" type="slidenum">
              <a:rPr lang="en-US" smtClean="0"/>
              <a:pPr/>
              <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流量控制</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应用层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进程</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接收方 缓冲区s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代码</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代码</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接收方协议栈</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问：如果网络层交付数据的速度快于应用层从套接字缓冲区取走数据的速度，会发生什么？</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来自发送方</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应用从 TCP 套接字缓冲区取走数据</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接收窗口</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流量控制：接收方愿意接收的字节数</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传输层：3-92</a:t>
            </a:r>
            <a:fld id="{C4204591-24BD-A542-B9D5-F8D8A88D2FEE}" type="slidenum">
              <a:rPr lang="en-US" smtClean="0"/>
              <a:pPr/>
              <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流量控制</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应用层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进程</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接收方 缓冲区s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代码</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代码</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接收方协议栈</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问：如果网络层交付数据的速度快于应用层从套接字缓冲区取走数据的速度，会发生什么？</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接收方控制发送方，因此发送方不会因发送过多、过快而使接收方缓冲区溢出</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流量控制</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来自发送方</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应用从 TCP 套接字缓冲区取走数据</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传输层：3-93</a:t>
            </a:r>
            <a:fld id="{C4204591-24BD-A542-B9D5-F8D8A88D2FEE}" type="slidenum">
              <a:rPr lang="en-US" smtClean="0"/>
              <a:pPr/>
              <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流量控制</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接收方在 TCP 首部 rwnd 字段中“通告”空闲缓冲区空间</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大小通过套接字选项设置（典型默认值为 4096 字节）</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许多操作系统会自动调整 RcvBuffer</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发送方把未确认（“在途”）数据量限制在收到的 rwnd 以内</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
            </a:r>
            <a:endPar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保证接收缓冲区不会溢出</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已缓冲数据</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空闲缓冲区空间</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报文段载荷</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交给应用进程</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接收方侧缓冲</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传输层：3-94</a:t>
            </a:r>
            <a:fld id="{C4204591-24BD-A542-B9D5-F8D8A88D2FEE}" type="slidenum">
              <a:rPr lang="en-US" smtClean="0"/>
              <a:pPr/>
              <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流量控制</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接收方在 TCP 首部 rwnd 字段中“通告”空闲缓冲区空间</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大小通过套接字选项设置（典型默认值为 4096 字节）</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许多操作系统会自动调整 RcvBuffer</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发送方把未确认（“在途”）数据量限制在收到的 rwnd 以内</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
            </a:r>
            <a:endPar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保证接收缓冲区不会溢出</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流量控制：接收方愿意接收的字节数</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接收窗口</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报文段格式</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传输层：3-95</a:t>
            </a:r>
            <a:fld id="{C4204591-24BD-A542-B9D5-F8D8A88D2FEE}" type="slidenum">
              <a:rPr lang="en-US" smtClean="0"/>
              <a:pPr/>
              <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连接管理</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交换数据前，发送方/接收方进行“握手”：</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同意建立连接（双方都知道对方愿意建立连接）</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协商连接参数（例如初始序号）</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连接状态：ESTAB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连接变量：</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客户机到服务器的序号</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服务器到客户机</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 大小</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在服务器、客户机处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应用层</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网络层</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连接状态：ESTAB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连接变量：</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客户机到服务器的序号</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服务器到客户机</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 大小</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在服务器、客户机处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应用层</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网络层</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clientSocket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newSocket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hostname","port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connectionSocket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welcomeSocket.accept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传输层：3-96</a:t>
            </a:r>
            <a:fld id="{C4204591-24BD-A542-B9D5-F8D8A88D2FEE}" type="slidenum">
              <a:rPr lang="en-US" smtClean="0"/>
              <a:pPr/>
              <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同意建立连接</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问：二次握手在网络中总能工作吗？</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可变时延</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由于报文丢失而重传的报文（例如 req_conn(x)）</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报文重排</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无法“看见”对方</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
            </a:r>
            <a:r>
              <a:rPr kumimoji="0" lang="en-US" altLang="ja-JP"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二次握手：</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我们通信吧</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选择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传输层：3-97</a:t>
            </a:r>
            <a:fld id="{C4204591-24BD-A542-B9D5-F8D8A88D2FEE}" type="slidenum">
              <a:rPr lang="en-US" smtClean="0"/>
              <a:pPr/>
              <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二次握手场景</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连接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完成</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选择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接受</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没有问题！</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传输层：3-98</a:t>
            </a:r>
            <a:fld id="{C4204591-24BD-A542-B9D5-F8D8A88D2FEE}" type="slidenum">
              <a:rPr lang="en-US" smtClean="0"/>
              <a:pPr/>
              <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二次握手场景</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重传</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客户机终止</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服务器</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忘记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连接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完成</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选择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问题：半开连接！（没有客户机）</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传输层：3-99</a:t>
            </a:r>
            <a:fld id="{C4204591-24BD-A542-B9D5-F8D8A88D2FEE}" type="slidenum">
              <a:rPr lang="en-US" smtClean="0"/>
              <a:pPr/>
              <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二次握手场景</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客户机终止</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选择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接受</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连接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完成</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服务器</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忘记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问题：重复数据</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已接受！</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重传</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接受</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重传</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req_conn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三次握手</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选择初始序号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发送 TCP SYN 报文</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选择初始序号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发送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报文，确认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收到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表示服务器在线；</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为 SYNACK 发送 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该报文段可以包含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客户机到服务器的数据</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表示客户机在线</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客户机状态</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服务器状态</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addr</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serverSocket.accept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serverName,serverPort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传输层：3-101</a:t>
            </a:r>
            <a:fld id="{C4204591-24BD-A542-B9D5-F8D8A88D2FEE}" type="slidenum">
              <a:rPr lang="en-US" smtClean="0"/>
              <a:pPr/>
              <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一个人类三次握手协议</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保护准备好了吗？</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保护已准备。</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开始攀登。</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传输层：3-102</a:t>
            </a:r>
            <a:fld id="{C4204591-24BD-A542-B9D5-F8D8A88D2FEE}" type="slidenum">
              <a:rPr lang="en-US" smtClean="0"/>
              <a:pPr/>
              <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关闭 TCP 连接</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客户机和服务器分别关闭自己一侧的连接</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发送 FIN 位为 1 的 TCP 报文段</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对收到的 FIN 用 ACK 响应</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收到 FIN 后，ACK 可以与自己的 FIN 合并发送</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可以处理双方同时交换 FIN 的情况</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传输层：3-103</a:t>
            </a:r>
            <a:fld id="{C4204591-24BD-A542-B9D5-F8D8A88D2FEE}" type="slidenum">
              <a:rPr lang="en-US" smtClean="0"/>
              <a:pPr/>
              <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第 3 章：路线图</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传输层服务</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复用与分用</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无连接传输：UDP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可靠数据传输原理 </a:t>
            </a:r>
          </a:p>
          <a:p>
            <a:pPr marL="403225" indent="-285750">
              <a:spcBef>
                <a:spcPts val="800"/>
              </a:spcBef>
              <a:buClr>
                <a:schemeClr val="bg1">
                  <a:lumMod val="75000"/>
                </a:schemeClr>
              </a:buClr>
            </a:pPr>
            <a:r>
              <a:rPr lang="en-US" sz="3200" dirty="0">
                <a:solidFill>
                  <a:schemeClr val="bg1">
                    <a:lumMod val="75000"/>
                  </a:schemeClr>
                </a:solidFill>
              </a:rPr>
              <a:t>面向连接的传输：TCP</a:t>
            </a:r>
          </a:p>
          <a:p>
            <a:pPr marL="403225" indent="-285750">
              <a:spcBef>
                <a:spcPts val="800"/>
              </a:spcBef>
            </a:pPr>
            <a:r>
              <a:rPr lang="en-US" sz="3200" dirty="0"/>
              <a:t>拥塞控制原理</a:t>
            </a:r>
          </a:p>
          <a:p>
            <a:pPr marL="403225" indent="-285750">
              <a:spcBef>
                <a:spcPts val="800"/>
              </a:spcBef>
              <a:buClr>
                <a:schemeClr val="bg1">
                  <a:lumMod val="75000"/>
                </a:schemeClr>
              </a:buClr>
            </a:pPr>
            <a:r>
              <a:rPr lang="en-US" sz="3200" dirty="0">
                <a:solidFill>
                  <a:schemeClr val="bg1">
                    <a:lumMod val="75000"/>
                  </a:schemeClr>
                </a:solidFill>
              </a:rPr>
              <a:t>TCP 拥塞控制</a:t>
            </a:r>
          </a:p>
          <a:p>
            <a:pPr marL="403225" indent="-285750">
              <a:spcBef>
                <a:spcPts val="800"/>
              </a:spcBef>
              <a:buClr>
                <a:schemeClr val="bg1">
                  <a:lumMod val="75000"/>
                </a:schemeClr>
              </a:buClr>
            </a:pPr>
            <a:r>
              <a:rPr lang="en-US" sz="3200" dirty="0">
                <a:solidFill>
                  <a:schemeClr val="bg1">
                    <a:lumMod val="75000"/>
                  </a:schemeClr>
                </a:solidFill>
              </a:rPr>
              <a:t>传输层功能的演进</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传输层：3-104</a:t>
            </a:r>
            <a:fld id="{C4204591-24BD-A542-B9D5-F8D8A88D2FEE}" type="slidenum">
              <a:rPr lang="en-US" smtClean="0"/>
              <a:pPr/>
              <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拥塞：</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非正式地说：“太多源主机发送太多数据，速度超过网络处理能力”</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表现：</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长时延（在路由器缓冲区中排队）</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分组丢失（路由器缓冲区溢出）</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不同于流量控制！</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拥塞控制原理</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拥塞控制：发送方太多，发送太快</a:t>
              </a:r>
              <a:r>
                <a:rPr kumimoji="0" lang="en-US" sz="1800" b="0" i="0" u="none" strike="noStrike" kern="1200" cap="none" spc="0" normalizeH="0" baseline="0" noProof="0" dirty="0">
                  <a:ln>
                    <a:noFill/>
                  </a:ln>
                  <a:solidFill>
                    <a:prstClr val="black"/>
                  </a:solidFill>
                  <a:effectLst/>
                  <a:uLnTx/>
                  <a:uFillTx/>
                  <a:latin typeface="Calibri"/>
                  <a:ea typeface="+mn-ea"/>
                  <a:cs typeface="+mn-cs"/>
                </a:rPr>
                <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流量控制：一个发送方对一个接收方发送太快</a:t>
              </a:r>
              <a:r>
                <a:rPr kumimoji="0" lang="en-US" sz="1800" b="0" i="0" u="none" strike="noStrike" kern="1200" cap="none" spc="0" normalizeH="0" baseline="0" noProof="0" dirty="0">
                  <a:ln>
                    <a:noFill/>
                  </a:ln>
                  <a:solidFill>
                    <a:prstClr val="black"/>
                  </a:solidFill>
                  <a:effectLst/>
                  <a:uLnTx/>
                  <a:uFillTx/>
                  <a:latin typeface="Calibri"/>
                  <a:ea typeface="+mn-ea"/>
                  <a:cs typeface="+mn-cs"/>
                </a:rPr>
                <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十大核心问题之一！</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传输层：3-105</a:t>
            </a:r>
            <a:fld id="{C4204591-24BD-A542-B9D5-F8D8A88D2FEE}" type="slidenum">
              <a:rPr lang="en-US" smtClean="0"/>
              <a:pPr/>
              <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最简单场景：</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每条连接的最大吞吐量：R/2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主机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主机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吞吐量： lout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当到达率 lin 接近容量时，时延显著增大</a:t>
            </a:r>
            <a:r>
              <a:rPr kumimoji="0" lang="en-US" sz="1800" b="0" i="0" u="none" strike="noStrike" kern="1200" cap="none" spc="0" normalizeH="0" baseline="0" noProof="0" dirty="0" err="1">
                <a:ln>
                  <a:noFill/>
                </a:ln>
                <a:solidFill>
                  <a:srgbClr val="000000"/>
                </a:solidFill>
                <a:effectLst/>
                <a:uLnTx/>
                <a:uFillTx/>
                <a:latin typeface="Symbol" charset="0"/>
                <a:ea typeface="ＭＳ Ｐゴシック" charset="0"/>
                <a:cs typeface="+mn-cs"/>
              </a:rPr>
              <a:t/>
            </a:r>
            <a:r>
              <a:rPr kumimoji="0" lang="en-US" sz="1800" b="0" i="0" u="none" strike="noStrike" kern="1200" cap="none" spc="0" normalizeH="0" baseline="-25000" noProof="0" dirty="0" err="1">
                <a:ln>
                  <a:noFill/>
                </a:ln>
                <a:solidFill>
                  <a:srgbClr val="000000"/>
                </a:solidFill>
                <a:effectLst/>
                <a:uLnTx/>
                <a:uFillTx/>
                <a:latin typeface="Gill Sans MT" charset="0"/>
                <a:ea typeface="ＭＳ Ｐゴシック" charset="0"/>
                <a:cs typeface="+mn-cs"/>
              </a:rPr>
              <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问：当到达率 lin 接近 R/2 时会发生什么？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err="1">
                <a:ln>
                  <a:noFill/>
                </a:ln>
                <a:solidFill>
                  <a:srgbClr val="C00000"/>
                </a:solidFill>
                <a:effectLst/>
                <a:uLnTx/>
                <a:uFillTx/>
                <a:latin typeface="Symbol" charset="0"/>
                <a:ea typeface="ＭＳ Ｐゴシック" charset="0"/>
                <a:cs typeface="+mn-cs"/>
              </a:rPr>
              <a:t/>
            </a:r>
            <a:r>
              <a:rPr kumimoji="0" lang="en-US" sz="2800" b="0" i="0" u="none" strike="noStrike" kern="1200" cap="none" spc="0" normalizeH="0" baseline="-25000" noProof="0" dirty="0" err="1">
                <a:ln>
                  <a:noFill/>
                </a:ln>
                <a:solidFill>
                  <a:srgbClr val="C00000"/>
                </a:solidFill>
                <a:effectLst/>
                <a:uLnTx/>
                <a:uFillTx/>
                <a:latin typeface="Calibri"/>
                <a:ea typeface="ＭＳ Ｐゴシック" charset="0"/>
                <a:cs typeface="+mn-cs"/>
              </a:rPr>
              <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原始数据：lin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
              </a:r>
              <a:r>
                <a:rPr kumimoji="0" lang="en-US" altLang="en-US" sz="2400" b="0" i="0" u="none" strike="noStrike" kern="1200" cap="none" spc="0" normalizeH="0" baseline="-2500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两条流</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一个路由器，无限缓冲区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输入、输出链路容量：R</a:t>
            </a:r>
            <a:r>
              <a:rPr kumimoji="0" lang="en-US" sz="2400" b="0" i="0" u="none" strike="noStrike" kern="0" cap="none" spc="0" normalizeH="0" baseline="0" noProof="0" dirty="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无限共享输出链路缓冲区</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无需重传</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时延</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吞吐量：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传输层：3-106</a:t>
            </a:r>
            <a:fld id="{C4204591-24BD-A542-B9D5-F8D8A88D2FEE}" type="slidenum">
              <a:rPr lang="en-US" smtClean="0"/>
              <a:pPr/>
              <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一个路由器，有限缓冲区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主机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主机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l'in：原始数据加重传数据</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有限共享输出链路缓冲区</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发送方重传丢失并超时的分组</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应用层输入 = 应用层输出：lin = lout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传输层输入包含重传：l’in ≥ lin</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传输层：3-107</a:t>
            </a:r>
            <a:fld id="{C4204591-24BD-A542-B9D5-F8D8A88D2FEE}" type="slidenum">
              <a:rPr lang="en-US" smtClean="0"/>
              <a:pPr/>
              <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主机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主机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l'in：原始数据加重传数据</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有限共享输出链路缓冲区</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副本</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有空闲缓冲区空间！</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理想化：完全知道缓冲区状态</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发送方只在路由器有可用缓冲区时发送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吞吐量：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传输层：3-108</a:t>
            </a:r>
            <a:fld id="{C4204591-24BD-A542-B9D5-F8D8A88D2FEE}" type="slidenum">
              <a:rPr lang="en-US" smtClean="0"/>
              <a:pPr/>
              <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主机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主机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l'in：原始数据加重传数据</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有限共享输出链路缓冲区</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副本</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没有缓冲区空间！</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理想化：部分完全信息</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缓冲区满时，分组可能丢失（在路由器被丢弃）</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发送方知道分组何时被丢弃：只有确定分组丢失时才重发</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传输层：3-109</a:t>
            </a:r>
            <a:fld id="{C4204591-24BD-A542-B9D5-F8D8A88D2FEE}" type="slidenum">
              <a:rPr lang="en-US" smtClean="0"/>
              <a:pPr/>
              <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主机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主机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l'in：原始数据加重传数据</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有限共享输出链路缓冲区</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有空闲缓冲区空间！</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理想化：部分完全信息</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缓冲区满时，分组可能丢失（在路由器被丢弃）</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发送方知道分组何时被丢弃：只有确定分组丢失时才重发</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当以 R/2 发送时，一些分组是必要重传</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吞吐量：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重传导致容量被“浪费”</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传输层：3-110</a:t>
            </a:r>
            <a:fld id="{C4204591-24BD-A542-B9D5-F8D8A88D2FEE}" type="slidenum">
              <a:rPr lang="en-US" smtClean="0"/>
              <a:pPr/>
              <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主机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主机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l'in：原始数据加重传数据</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有限共享输出链路缓冲区</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副本</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超时</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现实场景：不必要的重复分组</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缓冲区满时，分组可能丢失并在路由器被丢弃，因此需要重传</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但发送方定时器可能过早超时，发送两个副本，而二者都被交付</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有空闲缓冲区空间！</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当以 R/2 发送时，一些已交付分组是重传，包括必要和不必要的重复！</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不必要重传导致容量被“浪费”</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吞吐量：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传输层：3-111</a:t>
            </a:r>
            <a:fld id="{C4204591-24BD-A542-B9D5-F8D8A88D2FEE}" type="slidenum">
              <a:rPr lang="en-US" smtClean="0"/>
              <a:pPr/>
              <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拥塞的“代价”：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为了得到给定接收方吞吐量，需要做更多工作（重传）</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不必要重传：链路承载同一分组的多个副本</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降低可达到的最大吞吐量</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现实场景：不必要的重复分组</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缓冲区满时，分组可能丢失并在路由器被丢弃，因此需要重传</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但发送方定时器可能过早超时，发送两个副本，而二者都被交付</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当以 R/2 发送时，一些已交付分组是重传，包括必要和不必要的重复！</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不必要重传导致容量被“浪费”</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吞吐量：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传输层：3-112</a:t>
            </a:r>
            <a:fld id="{C4204591-24BD-A542-B9D5-F8D8A88D2FEE}" type="slidenum">
              <a:rPr lang="en-US" smtClean="0"/>
              <a:pPr/>
              <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四个发送方</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多跳路径</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超时/重传</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问：当 lin 和 lin’ 增大时会怎样？</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答：随着红色 lin’ 增大，上方队列中到达的所有蓝色分组都会被丢弃，蓝色吞吐量趋近 0</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有限共享输出链路缓冲区</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主机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主机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主机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主机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l'in：原始数据加重传数据</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传输层：3-113</a:t>
            </a:r>
            <a:fld id="{C4204591-24BD-A542-B9D5-F8D8A88D2FEE}" type="slidenum">
              <a:rPr lang="en-US" smtClean="0"/>
              <a:pPr/>
              <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拥塞的原因/代价：场景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拥塞的另一个“代价”：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分组被丢弃时，该分组此前消耗的所有上游传输容量和缓冲都被浪费了！</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传输层：3-114</a:t>
            </a:r>
            <a:fld id="{C4204591-24BD-A542-B9D5-F8D8A88D2FEE}" type="slidenum">
              <a:rPr lang="en-US" smtClean="0"/>
              <a:pPr/>
              <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拥塞原因/代价：启示</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下游丢失的分组会浪费上游传输容量/缓冲</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越接近容量，时延越大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不必要的重复分组进一步降低有效吞吐量</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丢失/重传降低有效吞吐量</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吞吐量永远不可能超过容量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传输层：3-115</a:t>
            </a:r>
            <a:fld id="{C4204591-24BD-A542-B9D5-F8D8A88D2FEE}" type="slidenum">
              <a:rPr lang="en-US" smtClean="0"/>
              <a:pPr/>
              <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端到端拥塞控制：</a:t>
            </a:r>
            <a:r>
              <a:rPr lang="en-US" sz="3200" dirty="0">
                <a:solidFill>
                  <a:srgbClr val="C00000"/>
                </a:solidFill>
                <a:cs typeface="+mn-cs"/>
              </a:rPr>
              <a:t/>
            </a:r>
          </a:p>
          <a:p>
            <a:pPr marL="466725" indent="-336550">
              <a:defRPr/>
            </a:pPr>
            <a:r>
              <a:rPr lang="en-US" sz="3200" dirty="0"/>
              <a:t>网络不提供显式反馈</a:t>
            </a:r>
          </a:p>
          <a:p>
            <a:pPr marL="466725" indent="-336550">
              <a:defRPr/>
            </a:pPr>
            <a:r>
              <a:rPr lang="en-US" sz="3200" dirty="0"/>
              <a:t>根据观察到的丢失和时延推断拥塞</a:t>
            </a:r>
            <a:r>
              <a:rPr lang="en-US" sz="3200" i="1" dirty="0">
                <a:solidFill>
                  <a:srgbClr val="C00000"/>
                </a:solidFill>
              </a:rPr>
              <a:t/>
            </a:r>
            <a:r>
              <a:rPr lang="en-US" sz="3200" dirty="0"/>
              <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拥塞控制方法</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数据</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数据</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TCP 采用的方法</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传输层：3-116</a:t>
            </a:r>
            <a:fld id="{C4204591-24BD-A542-B9D5-F8D8A88D2FEE}" type="slidenum">
              <a:rPr lang="en-US" smtClean="0"/>
              <a:pPr/>
              <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ECN、ATM、DECbit 协议</a:t>
            </a:r>
            <a:r>
              <a:rPr lang="en-US" sz="3000" dirty="0" err="1"/>
              <a:t/>
            </a:r>
            <a:r>
              <a:rPr lang="en-US" sz="3000" dirty="0"/>
              <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拥塞控制方法</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数据</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数据</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显式拥塞信息</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网络辅助拥塞控制：</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路由器向流经拥塞路由器的发送/接收主机提供直接反馈</a:t>
            </a:r>
            <a:r>
              <a:rPr kumimoji="0" lang="en-US" sz="3000" b="0" i="1" u="none" strike="noStrike" kern="1200" cap="none" spc="0" normalizeH="0" baseline="0" noProof="0" dirty="0">
                <a:ln>
                  <a:noFill/>
                </a:ln>
                <a:solidFill>
                  <a:srgbClr val="C00000"/>
                </a:solidFill>
                <a:effectLst/>
                <a:uLnTx/>
                <a:uFillTx/>
                <a:latin typeface="Calibri"/>
                <a:ea typeface="+mn-ea"/>
                <a:cs typeface="+mn-cs"/>
              </a:rPr>
              <a:t/>
            </a:r>
            <a:r>
              <a:rPr kumimoji="0" lang="en-US" sz="3000" b="0" i="0" u="none" strike="noStrike" kern="1200" cap="none" spc="0" normalizeH="0" baseline="0" noProof="0" dirty="0">
                <a:ln>
                  <a:noFill/>
                </a:ln>
                <a:solidFill>
                  <a:prstClr val="black"/>
                </a:solidFill>
                <a:effectLst/>
                <a:uLnTx/>
                <a:uFillTx/>
                <a:latin typeface="Calibri"/>
                <a:ea typeface="+mn-ea"/>
                <a:cs typeface="+mn-cs"/>
              </a:rPr>
              <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可以指示拥塞程度，或显式设置发送速率</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传输层：3-117</a:t>
            </a:r>
            <a:fld id="{C4204591-24BD-A542-B9D5-F8D8A88D2FEE}" type="slidenum">
              <a:rPr lang="en-US" smtClean="0"/>
              <a:pPr/>
              <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第 3 章：路线图</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传输层服务</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复用与分用</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无连接传输：UDP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可靠数据传输原理 </a:t>
            </a:r>
          </a:p>
          <a:p>
            <a:pPr marL="403225" indent="-285750">
              <a:spcBef>
                <a:spcPts val="800"/>
              </a:spcBef>
              <a:buClr>
                <a:schemeClr val="bg1">
                  <a:lumMod val="75000"/>
                </a:schemeClr>
              </a:buClr>
            </a:pPr>
            <a:r>
              <a:rPr lang="en-US" sz="3200" dirty="0">
                <a:solidFill>
                  <a:schemeClr val="bg1">
                    <a:lumMod val="75000"/>
                  </a:schemeClr>
                </a:solidFill>
              </a:rPr>
              <a:t>面向连接的传输：TCP</a:t>
            </a:r>
          </a:p>
          <a:p>
            <a:pPr marL="403225" indent="-285750">
              <a:spcBef>
                <a:spcPts val="800"/>
              </a:spcBef>
              <a:buClr>
                <a:schemeClr val="bg1">
                  <a:lumMod val="75000"/>
                </a:schemeClr>
              </a:buClr>
            </a:pPr>
            <a:r>
              <a:rPr lang="en-US" sz="3200" dirty="0">
                <a:solidFill>
                  <a:schemeClr val="bg1">
                    <a:lumMod val="75000"/>
                  </a:schemeClr>
                </a:solidFill>
              </a:rPr>
              <a:t>拥塞控制原理</a:t>
            </a:r>
          </a:p>
          <a:p>
            <a:pPr marL="403225" indent="-285750">
              <a:spcBef>
                <a:spcPts val="800"/>
              </a:spcBef>
            </a:pPr>
            <a:r>
              <a:rPr lang="en-US" sz="3200" dirty="0"/>
              <a:t>TCP 拥塞控制</a:t>
            </a:r>
          </a:p>
          <a:p>
            <a:pPr marL="403225" indent="-285750">
              <a:spcBef>
                <a:spcPts val="800"/>
              </a:spcBef>
            </a:pPr>
            <a:r>
              <a:rPr lang="en-US" sz="3200" dirty="0">
                <a:solidFill>
                  <a:schemeClr val="bg1">
                    <a:lumMod val="75000"/>
                  </a:schemeClr>
                </a:solidFill>
              </a:rPr>
              <a:t>传输层功能的演进</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传输层：3-118</a:t>
            </a:r>
            <a:fld id="{C4204591-24BD-A542-B9D5-F8D8A88D2FEE}" type="slidenum">
              <a:rPr lang="en-US" smtClean="0"/>
              <a:pPr/>
              <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拥塞控制：AIMD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方法：发送方可增加发送速率直到发生分组丢失（拥塞），随后在丢失事件发生时降低发送速率</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 锯齿形变化</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行为：探测</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带宽</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发送方 发送速率</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时间</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每个 RTT 将发送速率增加 1 个最大报文段大小，直到检测到丢失</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加性增</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每次丢失事件将发送速率减半</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乘性减</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传输层：3-119</a:t>
            </a:r>
            <a:fld id="{C4204591-24BD-A542-B9D5-F8D8A88D2FEE}" type="slidenum">
              <a:rPr lang="en-US" smtClean="0"/>
              <a:pPr/>
              <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AIMD：更多细节</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乘性减细节：发送速率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通过三重重复 ACK 检测到丢失时减半（TCP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通过超时检测到丢失时降到 1 MSS（最大报文段大小）（TCP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为什么是 AIMD？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作为一种分布式、异步算法，已被证明能够：</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在全网范围内优化拥塞流的速率！</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具有良好的稳定性</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传输层：3-120</a:t>
            </a:r>
            <a:fld id="{C4204591-24BD-A542-B9D5-F8D8A88D2FEE}" type="slidenum">
              <a:rPr lang="en-US" smtClean="0"/>
              <a:pPr/>
              <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拥塞控制：细节</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发送方限制传输：</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cwnd 会根据观察到的网络拥塞动态调整（实现 TCP 拥塞控制）</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LastByteSent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cwnd</a:t>
                  </a:r>
                  <a:endPar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最后一个字节</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Calibri" panose="020F0502020204030204"/>
                  <a:ea typeface="ＭＳ Ｐゴシック" charset="0"/>
                  <a:cs typeface="+mn-cs"/>
                </a:rPr>
                <a:t>已 ACK</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最后已发送字节</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发送方序号空间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可用但未使用</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发送行为：</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粗略地说：发送 cwnd 字节，等待一个 RTT 收到 ACK，然后再发送更多字节</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a:r>
              <a:r>
                <a:rPr kumimoji="0" lang="en-US" sz="28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速率</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cwnd</a:t>
                    </a:r>
                    <a:endPar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endParaRP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字节/秒</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已发送但尚未 ACK </a:t>
              </a:r>
              <a:r>
                <a:rPr kumimoji="0" lang="en-US" altLang="en-US" sz="1800" b="0" i="0" u="none" strike="noStrike" kern="0" cap="none" spc="0" normalizeH="0" baseline="0" noProof="0" dirty="0" err="1">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1800" b="0" i="0" u="none" strike="noStrike" kern="0" cap="none" spc="0" normalizeH="0" baseline="0" noProof="0" dirty="0" err="1">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（“在途”）</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传输层：3-121</a:t>
            </a:r>
            <a:fld id="{C4204591-24BD-A542-B9D5-F8D8A88D2FEE}" type="slidenum">
              <a:rPr lang="en-US" smtClean="0"/>
              <a:pPr/>
              <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慢启动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连接开始时，指数式增加速率，直到第一次丢失事件：</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初始 cwnd = 1 MSS</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每个 RTT 将 cwnd 翻倍</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通过每收到一个 ACK 就增加 cwnd 来实现</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主机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一个报文段</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主机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rial" charset="0"/>
                  <a:ea typeface="ＭＳ Ｐゴシック" charset="0"/>
                  <a:cs typeface="+mn-cs"/>
                </a:rPr>
                <a:t>时间</a:t>
              </a:r>
              <a:endPar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两个报文段</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四个报文段</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82588"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小结：初始速率较慢，但会指数式快速爬升</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传输层：3-122</a:t>
            </a:r>
            <a:fld id="{C4204591-24BD-A542-B9D5-F8D8A88D2FEE}" type="slidenum">
              <a:rPr lang="en-US" smtClean="0"/>
              <a:pPr/>
              <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TCP：从慢启动到拥塞避免</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问：何时应从指数增长切换为线性增长？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答：当 cwnd 达到超时前取值的一半时。</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实现：</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变量 ssthresh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发生丢失事件时，将 ssthresh 设置为丢失事件前 cwnd 的一半</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传输层：3-123</a:t>
            </a:r>
            <a:fld id="{C4204591-24BD-A542-B9D5-F8D8A88D2FEE}" type="slidenum">
              <a:rPr lang="en-US" smtClean="0"/>
              <a:pPr/>
              <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小结：TCP 拥塞控制</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超时</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a:ln>
                      <a:noFill/>
                    </a:ln>
                    <a:solidFill>
                      <a:srgbClr val="000099"/>
                    </a:solidFill>
                    <a:effectLst/>
                    <a:uLnTx/>
                    <a:uFillTx/>
                    <a:latin typeface="Arial" charset="0"/>
                    <a:ea typeface="ＭＳ Ｐゴシック" charset="0"/>
                    <a:cs typeface="+mn-cs"/>
                  </a:rPr>
                  <a:t>重传缺失报文段 </a:t>
                </a: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拥塞</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避免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MSS    (MSS/</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dupACKcount</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在允许范围内发送新报文段</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新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重复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快速</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恢复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在允许范围内发送新报文段</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重复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重传缺失报文段</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超时</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重传缺失报文段 </a:t>
                </a: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重传缺失报文段</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dupACKcount</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新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慢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开始</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超时</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重传缺失报文段 </a:t>
                </a: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在允许范围内发送新报文段</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新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重复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新建</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新建</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新建</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传输层：3-124</a:t>
            </a:r>
            <a:fld id="{C4204591-24BD-A542-B9D5-F8D8A88D2FEE}" type="slidenum">
              <a:rPr lang="en-US" smtClean="0"/>
              <a:pPr/>
              <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是否存在比 AIMD 更好的方式来“探测”可用带宽？</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err="1">
                  <a:ln>
                    <a:noFill/>
                  </a:ln>
                  <a:solidFill>
                    <a:prstClr val="black"/>
                  </a:solidFill>
                  <a:effectLst/>
                  <a:uLnTx/>
                  <a:uFillTx/>
                  <a:latin typeface="Tahoma" charset="0"/>
                  <a:ea typeface="ＭＳ Ｐゴシック" charset="0"/>
                  <a:cs typeface="+mn-cs"/>
                </a:rPr>
                <a:t>max</a:t>
              </a:r>
              <a:endPar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endParaRP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err="1">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经典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CUBIC：在该示例中吞吐量更高</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洞察/直觉：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Wmax：检测到拥塞丢失时的发送速率</a:t>
            </a:r>
            <a:r>
              <a:rPr kumimoji="0" lang="en-US" altLang="en-US" sz="2400" b="0" i="0"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瓶颈链路的拥塞状态可能（？）变化不大</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丢失后将速率/窗口减半，随后先更快爬升到 Wmax 附近，再更慢地接近 Wmax</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传输层：3-125</a:t>
            </a:r>
            <a:fld id="{C4204591-24BD-A542-B9D5-F8D8A88D2FEE}" type="slidenum">
              <a:rPr lang="en-US" smtClean="0"/>
              <a:pPr/>
              <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K：TCP 窗口大小将达到 Wmax 的时间点</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本身可调</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离 K 越远，增长越大</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越接近 K，增长越小（更谨慎）</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发送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速率</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时间</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err="1">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4" y="3941197"/>
            <a:ext cx="3455844"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是 Linux 默认实现，也是常见 Web 服务器中最流行的 TCP</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按当前时间与 K 之间距离的三次函数增加 W</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传输层：3-126</a:t>
            </a:r>
            <a:fld id="{C4204591-24BD-A542-B9D5-F8D8A88D2FEE}" type="slidenum">
              <a:rPr lang="en-US" smtClean="0"/>
              <a:pPr/>
              <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Freeform 92">
              <a:extLst>
                <a:ext uri="{FF2B5EF4-FFF2-40B4-BE49-F238E27FC236}">
                  <a16:creationId xmlns:a16="http://schemas.microsoft.com/office/drawing/2014/main" id="{413D91FB-83FD-B343-90EB-BB6C16387196}"/>
                </a:ext>
              </a:extLst>
            </p:cNvPr>
            <p:cNvSpPr>
              <a:spLocks/>
            </p:cNvSpPr>
            <p:nvPr/>
          </p:nvSpPr>
          <p:spPr bwMode="auto">
            <a:xfrm>
              <a:off x="5532311" y="5746564"/>
              <a:ext cx="336683" cy="244860"/>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与拥塞的“瓶颈链路”</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TCP（经典 TCP、CUBIC）会增加 TCP 发送速率，直到某个路由器输出处发生分组丢失：这就是瓶颈链路</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源主机</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应用层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网络层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链路层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物理层</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目的主机</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应用层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网络层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链路层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物理层</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瓶颈链路（几乎总是忙碌）</a:t>
            </a:r>
            <a:r>
              <a:rPr kumimoji="0" lang="en-US" sz="1600" b="0" i="0" u="none" strike="noStrike" kern="1200" cap="none" spc="0" normalizeH="0" baseline="0" noProof="0" dirty="0" err="1">
                <a:ln>
                  <a:noFill/>
                </a:ln>
                <a:solidFill>
                  <a:srgbClr val="C00000"/>
                </a:solidFill>
                <a:effectLst/>
                <a:uLnTx/>
                <a:uFillTx/>
                <a:latin typeface="Calibri" panose="020F0502020204030204"/>
                <a:ea typeface="+mn-ea"/>
                <a:cs typeface="+mn-cs"/>
              </a:rPr>
              <a:t/>
            </a: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分组队列几乎从不为空，有时会溢出分组（丢失）</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传输层：3-127</a:t>
            </a:r>
            <a:fld id="{C4204591-24BD-A542-B9D5-F8D8A88D2FEE}" type="slidenum">
              <a:rPr lang="en-US" smtClean="0"/>
              <a:pPr/>
              <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与拥塞的“瓶颈链路”</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TCP（经典 TCP、CUBIC）会增加 TCP 发送速率，直到某个路由器输出处发生分组丢失：这就是瓶颈链路</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源主机</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应用层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网络层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链路层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物理层</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目的主机</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应用层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网络层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链路层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物理层</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理解拥塞：关注拥塞瓶颈链路很有用</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330565"/>
            <a:ext cx="4288552" cy="1038257"/>
            <a:chOff x="3613959" y="3330565"/>
            <a:chExt cx="4288552" cy="1038257"/>
          </a:xfrm>
        </p:grpSpPr>
        <p:sp>
          <p:nvSpPr>
            <p:cNvPr id="18" name="TextBox 17">
              <a:extLst>
                <a:ext uri="{FF2B5EF4-FFF2-40B4-BE49-F238E27FC236}">
                  <a16:creationId xmlns:a16="http://schemas.microsoft.com/office/drawing/2014/main" id="{72BF638B-27BF-9A44-BC9B-E5A7126F9971}"/>
                </a:ext>
              </a:extLst>
            </p:cNvPr>
            <p:cNvSpPr txBox="1"/>
            <p:nvPr/>
          </p:nvSpPr>
          <p:spPr>
            <a:xfrm>
              <a:off x="3932559" y="3330565"/>
              <a:ext cx="3969952" cy="840230"/>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启示：存在拥塞瓶颈时，提高 TCP 发送速率不会增加端到端吞吐量</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477143" y="5329279"/>
            <a:ext cx="4243986" cy="840230"/>
            <a:chOff x="477143" y="5329279"/>
            <a:chExt cx="4243986" cy="840230"/>
          </a:xfrm>
        </p:grpSpPr>
        <p:sp>
          <p:nvSpPr>
            <p:cNvPr id="110" name="TextBox 109">
              <a:extLst>
                <a:ext uri="{FF2B5EF4-FFF2-40B4-BE49-F238E27FC236}">
                  <a16:creationId xmlns:a16="http://schemas.microsoft.com/office/drawing/2014/main" id="{67AC24E6-353D-7641-8425-F6A26F20ABC7}"/>
                </a:ext>
              </a:extLst>
            </p:cNvPr>
            <p:cNvSpPr txBox="1"/>
            <p:nvPr/>
          </p:nvSpPr>
          <p:spPr>
            <a:xfrm>
              <a:off x="477143" y="5329279"/>
              <a:ext cx="2818708" cy="840230"/>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启示：提高 TCP 发送速率会增加测得 RTT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D625C25C-416C-5C4E-AFF1-F6889ED15803}"/>
              </a:ext>
            </a:extLst>
          </p:cNvPr>
          <p:cNvCxnSpPr/>
          <p:nvPr/>
        </p:nvCxnSpPr>
        <p:spPr>
          <a:xfrm>
            <a:off x="3375025" y="6443089"/>
            <a:ext cx="5028511" cy="0"/>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sp>
        <p:nvSpPr>
          <p:cNvPr id="31" name="TextBox 30">
            <a:extLst>
              <a:ext uri="{FF2B5EF4-FFF2-40B4-BE49-F238E27FC236}">
                <a16:creationId xmlns:a16="http://schemas.microsoft.com/office/drawing/2014/main" id="{AB18F1EA-ED80-CE47-9C3C-647F034AB95E}"/>
              </a:ext>
            </a:extLst>
          </p:cNvPr>
          <p:cNvSpPr txBox="1"/>
          <p:nvPr/>
        </p:nvSpPr>
        <p:spPr>
          <a:xfrm>
            <a:off x="5618466" y="5874964"/>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目标：“让端到端管道刚好充满，但不要更满”</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传输层：3-128</a:t>
            </a:r>
            <a:fld id="{C4204591-24BD-A542-B9D5-F8D8A88D2FEE}" type="slidenum">
              <a:rPr lang="en-US" smtClean="0"/>
              <a:pPr/>
              <a:t/>
            </a:fld>
            <a:endParaRPr lang="en-US" dirty="0"/>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基于时延的 TCP 拥塞控制</a:t>
            </a:r>
            <a:r>
              <a:rPr lang="en-US" dirty="0"/>
              <a:t/>
            </a:r>
            <a:r>
              <a:rPr lang="en-US" sz="4400" dirty="0"/>
              <a:t/>
            </a:r>
            <a:r>
              <a:rPr lang="en-US" dirty="0"/>
              <a:t/>
            </a:r>
            <a:r>
              <a:rPr lang="en-US" sz="4400" dirty="0"/>
              <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让发送方到接收方的管道“刚好足够满，但不要更满”：保持瓶颈链路忙于传输，同时避免高时延/缓冲</a:t>
            </a:r>
          </a:p>
        </p:txBody>
      </p:sp>
      <p:grpSp>
        <p:nvGrpSpPr>
          <p:cNvPr id="23" name="Group 22">
            <a:extLst>
              <a:ext uri="{FF2B5EF4-FFF2-40B4-BE49-F238E27FC236}">
                <a16:creationId xmlns:a16="http://schemas.microsoft.com/office/drawing/2014/main" id="{136B4431-4002-B74D-B3BA-B0C220251CB6}"/>
              </a:ext>
            </a:extLst>
          </p:cNvPr>
          <p:cNvGrpSpPr/>
          <p:nvPr/>
        </p:nvGrpSpPr>
        <p:grpSpPr>
          <a:xfrm>
            <a:off x="1216626" y="2508955"/>
            <a:ext cx="5802008" cy="918937"/>
            <a:chOff x="2365663" y="2430127"/>
            <a:chExt cx="5802008" cy="918937"/>
          </a:xfrm>
        </p:grpSpPr>
        <p:grpSp>
          <p:nvGrpSpPr>
            <p:cNvPr id="212" name="Group 190">
              <a:extLst>
                <a:ext uri="{FF2B5EF4-FFF2-40B4-BE49-F238E27FC236}">
                  <a16:creationId xmlns:a16="http://schemas.microsoft.com/office/drawing/2014/main" id="{1BEB02B0-C16F-034C-BBAD-5DB73C96AD78}"/>
                </a:ext>
              </a:extLst>
            </p:cNvPr>
            <p:cNvGrpSpPr>
              <a:grpSpLocks/>
            </p:cNvGrpSpPr>
            <p:nvPr/>
          </p:nvGrpSpPr>
          <p:grpSpPr bwMode="auto">
            <a:xfrm flipH="1">
              <a:off x="2365663" y="2430127"/>
              <a:ext cx="673100" cy="701675"/>
              <a:chOff x="-44" y="1473"/>
              <a:chExt cx="981" cy="1105"/>
            </a:xfrm>
          </p:grpSpPr>
          <p:pic>
            <p:nvPicPr>
              <p:cNvPr id="213" name="Picture 191" descr="desktop_computer_stylized_medium">
                <a:extLst>
                  <a:ext uri="{FF2B5EF4-FFF2-40B4-BE49-F238E27FC236}">
                    <a16:creationId xmlns:a16="http://schemas.microsoft.com/office/drawing/2014/main" id="{5230AF6F-A0E4-0F40-90F2-B49DEE901C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192">
                <a:extLst>
                  <a:ext uri="{FF2B5EF4-FFF2-40B4-BE49-F238E27FC236}">
                    <a16:creationId xmlns:a16="http://schemas.microsoft.com/office/drawing/2014/main" id="{EB8220CB-48C1-504B-9215-0FA50BED28A3}"/>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190">
              <a:extLst>
                <a:ext uri="{FF2B5EF4-FFF2-40B4-BE49-F238E27FC236}">
                  <a16:creationId xmlns:a16="http://schemas.microsoft.com/office/drawing/2014/main" id="{0F072356-83E5-7644-BFC6-AA47F8D1DC03}"/>
                </a:ext>
              </a:extLst>
            </p:cNvPr>
            <p:cNvGrpSpPr>
              <a:grpSpLocks/>
            </p:cNvGrpSpPr>
            <p:nvPr/>
          </p:nvGrpSpPr>
          <p:grpSpPr bwMode="auto">
            <a:xfrm flipH="1">
              <a:off x="7493993" y="2467744"/>
              <a:ext cx="673678" cy="702006"/>
              <a:chOff x="-44" y="1473"/>
              <a:chExt cx="981" cy="1105"/>
            </a:xfrm>
          </p:grpSpPr>
          <p:pic>
            <p:nvPicPr>
              <p:cNvPr id="230" name="Picture 191" descr="desktop_computer_stylized_medium">
                <a:extLst>
                  <a:ext uri="{FF2B5EF4-FFF2-40B4-BE49-F238E27FC236}">
                    <a16:creationId xmlns:a16="http://schemas.microsoft.com/office/drawing/2014/main" id="{4507DD2C-8D56-7644-B5AF-0C0A90DF92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Freeform 192">
                <a:extLst>
                  <a:ext uri="{FF2B5EF4-FFF2-40B4-BE49-F238E27FC236}">
                    <a16:creationId xmlns:a16="http://schemas.microsoft.com/office/drawing/2014/main" id="{2838DBD0-6CF7-2B4C-AF1C-FC929CAD15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3" name="Group 232">
              <a:extLst>
                <a:ext uri="{FF2B5EF4-FFF2-40B4-BE49-F238E27FC236}">
                  <a16:creationId xmlns:a16="http://schemas.microsoft.com/office/drawing/2014/main" id="{44545816-4C7B-7846-8988-A05301734F47}"/>
                </a:ext>
              </a:extLst>
            </p:cNvPr>
            <p:cNvGrpSpPr/>
            <p:nvPr/>
          </p:nvGrpSpPr>
          <p:grpSpPr>
            <a:xfrm>
              <a:off x="5227521" y="2574515"/>
              <a:ext cx="876995" cy="403711"/>
              <a:chOff x="5033182" y="4091488"/>
              <a:chExt cx="876995" cy="403711"/>
            </a:xfrm>
          </p:grpSpPr>
          <p:cxnSp>
            <p:nvCxnSpPr>
              <p:cNvPr id="234" name="Straight Connector 233">
                <a:extLst>
                  <a:ext uri="{FF2B5EF4-FFF2-40B4-BE49-F238E27FC236}">
                    <a16:creationId xmlns:a16="http://schemas.microsoft.com/office/drawing/2014/main" id="{3D51E61F-DA54-2643-BAD4-268E7575F59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5" name="Rectangle 234">
                <a:extLst>
                  <a:ext uri="{FF2B5EF4-FFF2-40B4-BE49-F238E27FC236}">
                    <a16:creationId xmlns:a16="http://schemas.microsoft.com/office/drawing/2014/main" id="{8123A8E9-67AB-C74F-925C-E7D244041419}"/>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640BDC0F-EFFD-484D-83D9-2FB005386232}"/>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7" name="Straight Connector 236">
                <a:extLst>
                  <a:ext uri="{FF2B5EF4-FFF2-40B4-BE49-F238E27FC236}">
                    <a16:creationId xmlns:a16="http://schemas.microsoft.com/office/drawing/2014/main" id="{1BCB38CC-A870-9B4A-A5DB-98356F6B39AA}"/>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CF902B15-3C54-A647-A9A9-535E0C74301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3171852F-D884-A742-885D-93002D5B0D9D}"/>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0" name="Rectangle 239">
                <a:extLst>
                  <a:ext uri="{FF2B5EF4-FFF2-40B4-BE49-F238E27FC236}">
                    <a16:creationId xmlns:a16="http://schemas.microsoft.com/office/drawing/2014/main" id="{D2D019EE-47E4-224B-BBF8-5443E4900165}"/>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7B009AAC-9DFA-ED4A-91AE-DA00BB581A0B}"/>
                </a:ext>
              </a:extLst>
            </p:cNvPr>
            <p:cNvGrpSpPr/>
            <p:nvPr/>
          </p:nvGrpSpPr>
          <p:grpSpPr>
            <a:xfrm>
              <a:off x="3067072" y="2776371"/>
              <a:ext cx="4456450" cy="344905"/>
              <a:chOff x="3391522" y="3946678"/>
              <a:chExt cx="4456450" cy="344905"/>
            </a:xfrm>
          </p:grpSpPr>
          <p:cxnSp>
            <p:nvCxnSpPr>
              <p:cNvPr id="247" name="Straight Connector 246">
                <a:extLst>
                  <a:ext uri="{FF2B5EF4-FFF2-40B4-BE49-F238E27FC236}">
                    <a16:creationId xmlns:a16="http://schemas.microsoft.com/office/drawing/2014/main" id="{434B4871-78D8-4E49-92B1-439A3541CBD6}"/>
                  </a:ext>
                </a:extLst>
              </p:cNvPr>
              <p:cNvCxnSpPr>
                <a:cxnSpLocks/>
              </p:cNvCxnSpPr>
              <p:nvPr/>
            </p:nvCxnSpPr>
            <p:spPr>
              <a:xfrm>
                <a:off x="3391522" y="3946678"/>
                <a:ext cx="4456450" cy="0"/>
              </a:xfrm>
              <a:prstGeom prst="line">
                <a:avLst/>
              </a:prstGeom>
              <a:ln w="1587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05D2D98D-623A-FC44-9A40-156B6A2B4E10}"/>
                  </a:ext>
                </a:extLst>
              </p:cNvPr>
              <p:cNvCxnSpPr>
                <a:cxnSpLocks/>
              </p:cNvCxnSpPr>
              <p:nvPr/>
            </p:nvCxnSpPr>
            <p:spPr>
              <a:xfrm>
                <a:off x="3391522" y="4291583"/>
                <a:ext cx="4456450" cy="0"/>
              </a:xfrm>
              <a:prstGeom prst="line">
                <a:avLst/>
              </a:prstGeom>
              <a:ln w="15875">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5A69AD9-CFF6-7544-A126-02A8879C32D5}"/>
                  </a:ext>
                </a:extLst>
              </p:cNvPr>
              <p:cNvCxnSpPr>
                <a:cxnSpLocks/>
              </p:cNvCxnSpPr>
              <p:nvPr/>
            </p:nvCxnSpPr>
            <p:spPr>
              <a:xfrm>
                <a:off x="7847972" y="3946678"/>
                <a:ext cx="0" cy="34490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3235E34B-03D9-694A-B4F9-262BA47FDC5E}"/>
                </a:ext>
              </a:extLst>
            </p:cNvPr>
            <p:cNvSpPr txBox="1"/>
            <p:nvPr/>
          </p:nvSpPr>
          <p:spPr>
            <a:xfrm>
              <a:off x="3454066" y="2887399"/>
              <a:ext cx="146572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err="1">
                  <a:ln>
                    <a:noFill/>
                  </a:ln>
                  <a:solidFill>
                    <a:prstClr val="black"/>
                  </a:solidFill>
                  <a:effectLst/>
                  <a:uLnTx/>
                  <a:uFillTx/>
                  <a:latin typeface="Calibri" panose="020F0502020204030204"/>
                  <a:ea typeface="+mn-ea"/>
                  <a:cs typeface="+mn-cs"/>
                </a:rPr>
                <a:t>measured</a:t>
              </a:r>
              <a:endPar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750855" y="3728780"/>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基于时延的方法：</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RTTmin：观察到的最小 RTT（非拥塞路径）</a:t>
            </a:r>
            <a:r>
              <a:rPr kumimoji="0" lang="en-US" sz="2400" b="0" i="0" u="none" strike="noStrike" kern="1200" cap="none" spc="0" normalizeH="0" baseline="-2500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sym typeface="Wingdings" pitchFamily="2" charset="2"/>
              </a:rPr>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拥塞窗口为 cwnd 时，非拥塞吞吐量为 cwnd/RTTmin</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25000" noProof="0" dirty="0" err="1">
                <a:ln>
                  <a:noFill/>
                </a:ln>
                <a:solidFill>
                  <a:prstClr val="black"/>
                </a:solidFill>
                <a:effectLst/>
                <a:uLnTx/>
                <a:uFillTx/>
                <a:latin typeface="Calibri" panose="020F0502020204030204"/>
                <a:ea typeface="+mn-ea"/>
                <a:cs typeface="+mn-cs"/>
              </a:rPr>
              <a:t/>
            </a:r>
            <a:endPar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1AB6FF2A-EB61-BB4D-9956-9ED80C80ECD5}"/>
              </a:ext>
            </a:extLst>
          </p:cNvPr>
          <p:cNvSpPr txBox="1"/>
          <p:nvPr/>
        </p:nvSpPr>
        <p:spPr>
          <a:xfrm>
            <a:off x="2305029" y="5206661"/>
            <a:ext cx="7555832"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如果测得吞吐量与非拥塞吞吐量“非常接近”</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线性增加 cwnd                /* 因为路径未拥塞 */ </a:t>
            </a:r>
            <a:r>
              <a:rPr kumimoji="0" lang="en-US" sz="2000" b="0" i="0" u="none" strike="noStrike" kern="1200" cap="none" spc="0" normalizeH="0" baseline="0" noProof="0" dirty="0" err="1">
                <a:ln>
                  <a:noFill/>
                </a:ln>
                <a:solidFill>
                  <a:prstClr val="black"/>
                </a:solidFill>
                <a:effectLst/>
                <a:uLnTx/>
                <a:uFillTx/>
                <a:latin typeface="Courier" pitchFamily="2" charset="0"/>
                <a:ea typeface="+mn-ea"/>
                <a:cs typeface="+mn-cs"/>
              </a:rPr>
              <a:t/>
            </a:r>
            <a:r>
              <a:rPr kumimoji="0" lang="en-US" sz="2000" b="0" i="0" u="none" strike="noStrike" kern="1200" cap="none" spc="0" normalizeH="0" baseline="0" noProof="0" dirty="0">
                <a:ln>
                  <a:noFill/>
                </a:ln>
                <a:solidFill>
                  <a:prstClr val="black"/>
                </a:solidFill>
                <a:effectLst/>
                <a:uLnTx/>
                <a:uFillTx/>
                <a:latin typeface="Calibri"/>
                <a:ea typeface="+mn-ea"/>
                <a:cs typeface="+mn-cs"/>
              </a:rP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否则，如果测得吞吐量“远低于”非拥塞吞吐量</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      线性降低 cwnd      /* 因为路径已拥塞 */</a:t>
            </a:r>
            <a:r>
              <a:rPr kumimoji="0" lang="en-US" sz="2000" b="0" i="0" u="none" strike="noStrike" kern="1200" cap="none" spc="0" normalizeH="0" baseline="0" noProof="0" dirty="0" err="1">
                <a:ln>
                  <a:noFill/>
                </a:ln>
                <a:solidFill>
                  <a:prstClr val="black"/>
                </a:solidFill>
                <a:effectLst/>
                <a:uLnTx/>
                <a:uFillTx/>
                <a:latin typeface="Courier" pitchFamily="2" charset="0"/>
                <a:ea typeface="+mn-ea"/>
                <a:cs typeface="+mn-cs"/>
              </a:rPr>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
            </a:r>
            <a:r>
              <a:rPr kumimoji="0" lang="en-US" sz="2000" b="0" i="0" u="none" strike="noStrike" kern="1200" cap="none" spc="0" normalizeH="0" baseline="0" noProof="0" dirty="0">
                <a:ln>
                  <a:noFill/>
                </a:ln>
                <a:solidFill>
                  <a:prstClr val="black"/>
                </a:solidFill>
                <a:effectLst/>
                <a:uLnTx/>
                <a:uFillTx/>
                <a:latin typeface="Calibri"/>
                <a:ea typeface="+mn-ea"/>
                <a:cs typeface="+mn-cs"/>
              </a:rPr>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7368304" y="2588834"/>
            <a:ext cx="3548062" cy="1114151"/>
            <a:chOff x="7481866" y="2350865"/>
            <a:chExt cx="3548062" cy="1114151"/>
          </a:xfrm>
        </p:grpSpPr>
        <p:sp>
          <p:nvSpPr>
            <p:cNvPr id="250" name="TextBox 249">
              <a:extLst>
                <a:ext uri="{FF2B5EF4-FFF2-40B4-BE49-F238E27FC236}">
                  <a16:creationId xmlns:a16="http://schemas.microsoft.com/office/drawing/2014/main" id="{762B06AF-6E17-B749-AF47-CA83D0FA5E18}"/>
                </a:ext>
              </a:extLst>
            </p:cNvPr>
            <p:cNvSpPr txBox="1"/>
            <p:nvPr/>
          </p:nvSpPr>
          <p:spPr>
            <a:xfrm>
              <a:off x="9172199" y="2941796"/>
              <a:ext cx="1675523"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RTT</a:t>
              </a:r>
              <a:r>
                <a:rPr kumimoji="0" lang="en-US" sz="2800" b="0" i="0" u="none" strike="noStrike" kern="1200" cap="none" spc="0" normalizeH="0" baseline="-25000" noProof="0" dirty="0" err="1">
                  <a:ln>
                    <a:noFill/>
                  </a:ln>
                  <a:solidFill>
                    <a:prstClr val="black"/>
                  </a:solidFill>
                  <a:effectLst/>
                  <a:uLnTx/>
                  <a:uFillTx/>
                  <a:latin typeface="Calibri" panose="020F0502020204030204"/>
                  <a:ea typeface="+mn-ea"/>
                  <a:cs typeface="+mn-cs"/>
                </a:rPr>
                <a:t>measured</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50865"/>
              <a:ext cx="3548062" cy="923986"/>
              <a:chOff x="7519640" y="2453981"/>
              <a:chExt cx="3548062" cy="923986"/>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测得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吞吐量</a:t>
                </a:r>
              </a:p>
            </p:txBody>
          </p:sp>
          <p:cxnSp>
            <p:nvCxnSpPr>
              <p:cNvPr id="20" name="Straight Connector 19">
                <a:extLst>
                  <a:ext uri="{FF2B5EF4-FFF2-40B4-BE49-F238E27FC236}">
                    <a16:creationId xmlns:a16="http://schemas.microsoft.com/office/drawing/2014/main" id="{501FADCE-D52D-A546-A51C-7C5C0F44A9F9}"/>
                  </a:ext>
                </a:extLst>
              </p:cNvPr>
              <p:cNvCxnSpPr/>
              <p:nvPr/>
            </p:nvCxnSpPr>
            <p:spPr>
              <a:xfrm>
                <a:off x="9284574" y="3075516"/>
                <a:ext cx="914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9209973" y="2453981"/>
                <a:ext cx="1857729" cy="6463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上一个 RTT 间隔中发送的字节数</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传输层：3-129</a:t>
            </a:r>
            <a:fld id="{C4204591-24BD-A542-B9D5-F8D8A88D2FEE}" type="slidenum">
              <a:rPr lang="en-US" smtClean="0"/>
              <a:pPr/>
              <a:t/>
            </a:fld>
            <a:endParaRPr lang="en-US" dirty="0"/>
          </a:p>
        </p:txBody>
      </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dissolve">
                                      <p:cBhvr>
                                        <p:cTn id="7" dur="500"/>
                                        <p:tgtEl>
                                          <p:spTgt spid="2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ssolve">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 grpId="0"/>
      <p:bldP spid="21"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基于时延的 TCP 拥塞控制</a:t>
            </a:r>
            <a:r>
              <a:rPr lang="en-US" dirty="0"/>
              <a:t/>
            </a:r>
            <a:r>
              <a:rPr lang="en-US" sz="4400" dirty="0"/>
              <a:t/>
            </a:r>
            <a:r>
              <a:rPr lang="en-US" dirty="0"/>
              <a:t/>
            </a:r>
            <a:r>
              <a:rPr lang="en-US" sz="4400" dirty="0"/>
              <a:t/>
            </a:r>
            <a:endParaRPr lang="en-US" sz="4400" b="0" dirty="0"/>
          </a:p>
        </p:txBody>
      </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574392" y="16141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不通过诱发/强制丢包来进行拥塞控制</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在保持低时延（“……但不要更满”）的同时最大化吞吐量（“让管道刚好充满……”）</a:t>
            </a:r>
          </a:p>
        </p:txBody>
      </p:sp>
      <p:sp>
        <p:nvSpPr>
          <p:cNvPr id="5" name="Rectangle 4">
            <a:extLst>
              <a:ext uri="{FF2B5EF4-FFF2-40B4-BE49-F238E27FC236}">
                <a16:creationId xmlns:a16="http://schemas.microsoft.com/office/drawing/2014/main" id="{F758D649-2F31-494F-B74A-CEF30A4B3B0E}"/>
              </a:ext>
            </a:extLst>
          </p:cNvPr>
          <p:cNvSpPr txBox="1">
            <a:spLocks noChangeArrowheads="1"/>
          </p:cNvSpPr>
          <p:nvPr/>
        </p:nvSpPr>
        <p:spPr>
          <a:xfrm>
            <a:off x="561692" y="29603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许多已部署 TCP 采用基于时延的方法</a:t>
            </a:r>
          </a:p>
          <a:p>
            <a:pPr marL="866775" marR="0" lvl="1" indent="-2825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BBR 部署在 Google 的内部骨干网中</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6" name="Slide Number Placeholder 2">
            <a:extLst>
              <a:ext uri="{FF2B5EF4-FFF2-40B4-BE49-F238E27FC236}">
                <a16:creationId xmlns:a16="http://schemas.microsoft.com/office/drawing/2014/main" id="{5CA7437E-E0FF-0640-BE1C-5EF5D43C1DD1}"/>
              </a:ext>
            </a:extLst>
          </p:cNvPr>
          <p:cNvSpPr>
            <a:spLocks noGrp="1"/>
          </p:cNvSpPr>
          <p:nvPr>
            <p:ph type="sldNum" sz="quarter" idx="4"/>
          </p:nvPr>
        </p:nvSpPr>
        <p:spPr>
          <a:xfrm>
            <a:off x="9219616" y="6443089"/>
            <a:ext cx="2743200" cy="365125"/>
          </a:xfrm>
        </p:spPr>
        <p:txBody>
          <a:bodyPr/>
          <a:lstStyle/>
          <a:p>
            <a:r>
              <a:rPr lang="en-US" dirty="0"/>
              <a:t>传输层：3-130</a:t>
            </a:r>
            <a:fld id="{C4204591-24BD-A542-B9D5-F8D8A88D2FEE}" type="slidenum">
              <a:rPr lang="en-US" smtClean="0"/>
              <a:pPr/>
              <a:t/>
            </a:fld>
            <a:endParaRPr lang="en-US" dirty="0"/>
          </a:p>
        </p:txBody>
      </p:sp>
    </p:spTree>
    <p:extLst>
      <p:ext uri="{BB962C8B-B14F-4D97-AF65-F5344CB8AC3E}">
        <p14:creationId xmlns:p14="http://schemas.microsoft.com/office/powerpoint/2010/main" val="4171275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源主机</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应用层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网络层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链路层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物理层</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目的主机</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应用层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网络层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链路层</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物理层</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显式拥塞通知（ECN）</a:t>
            </a:r>
            <a:r>
              <a:rPr lang="en-US" sz="3600" dirty="0"/>
              <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部署通常实现网络辅助拥塞控制：</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网络路由器在 IP 首部（ToS 字段）中标记两个比特以指示拥塞</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网络运营者选择用于决定标记的策略</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拥塞指示被携带到目的端</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同时涉及 IP（IP 首部 ECN 比特标记）和 TCP（TCP 首部 C、E 比特标记）</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IP 数据报</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传输层：3-131</a:t>
            </a:r>
            <a:fld id="{C4204591-24BD-A542-B9D5-F8D8A88D2FEE}" type="slidenum">
              <a:rPr lang="en-US" smtClean="0"/>
              <a:pPr/>
              <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公平性</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公平性目标：如果 K 个 TCP 会话共享同一条带宽为 R 的瓶颈链路，则每个会话的平均速率应为 R/K</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连接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瓶颈</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路由器</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容量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连接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传输层：3-132</a:t>
            </a:r>
            <a:fld id="{C4204591-24BD-A542-B9D5-F8D8A88D2FEE}" type="slidenum">
              <a:rPr lang="en-US" smtClean="0"/>
              <a:pPr/>
              <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问：TCP 公平吗？</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示例：两个竞争的 TCP 会话：</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随着吞吐量增加，加性增给出斜率 1</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乘性减按比例降低吞吐量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均等带宽份额</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连接 1 吞吐量</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连接 2 吞吐量</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拥塞避免：加性增</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丢失：窗口减半</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拥塞避免：加性增</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丢失：窗口减半</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答：在理想化假设下，是公平的：</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相同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会话数固定，且都处于拥塞避免阶段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TCP 公平吗？</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传输层：3-133</a:t>
            </a:r>
            <a:fld id="{C4204591-24BD-A542-B9D5-F8D8A88D2FEE}" type="slidenum">
              <a:rPr lang="en-US" smtClean="0"/>
              <a:pPr/>
              <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公平性：所有网络应用都必须“公平”吗？</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公平性与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多媒体应用通常不使用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不希望速率被拥塞控制限制</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而是使用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以恒定速率发送音频/视频，并容忍分组丢失</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没有“互联网警察”强制检查拥塞控制的使用</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公平性与并行 TCP 连接</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应用可以在两台主机之间打开多个并行连接</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浏览器会这样做，例如速率为 R 的链路上已有 9 条连接：</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新应用请求 1 条 TCP，得到速率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新应用请求 11 条 TCP，得到速率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传输层：3-134</a:t>
            </a:r>
            <a:fld id="{C4204591-24BD-A542-B9D5-F8D8A88D2FEE}" type="slidenum">
              <a:rPr lang="en-US" smtClean="0"/>
              <a:pPr/>
              <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传输层：路线图</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传输层服务</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复用与分用</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无连接传输：UDP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可靠数据传输原理 </a:t>
            </a:r>
          </a:p>
          <a:p>
            <a:pPr marL="403225" indent="-285750">
              <a:spcBef>
                <a:spcPts val="800"/>
              </a:spcBef>
              <a:buClr>
                <a:schemeClr val="bg1">
                  <a:lumMod val="75000"/>
                </a:schemeClr>
              </a:buClr>
            </a:pPr>
            <a:r>
              <a:rPr lang="en-US" sz="3200" dirty="0">
                <a:solidFill>
                  <a:schemeClr val="bg1">
                    <a:lumMod val="75000"/>
                  </a:schemeClr>
                </a:solidFill>
              </a:rPr>
              <a:t>面向连接的传输：TCP</a:t>
            </a:r>
          </a:p>
          <a:p>
            <a:pPr marL="403225" indent="-285750">
              <a:spcBef>
                <a:spcPts val="800"/>
              </a:spcBef>
              <a:buClr>
                <a:schemeClr val="bg1">
                  <a:lumMod val="75000"/>
                </a:schemeClr>
              </a:buClr>
            </a:pPr>
            <a:r>
              <a:rPr lang="en-US" sz="3200" dirty="0">
                <a:solidFill>
                  <a:schemeClr val="bg1">
                    <a:lumMod val="75000"/>
                  </a:schemeClr>
                </a:solidFill>
              </a:rPr>
              <a:t>拥塞控制原理</a:t>
            </a:r>
          </a:p>
          <a:p>
            <a:pPr marL="403225" indent="-285750">
              <a:spcBef>
                <a:spcPts val="800"/>
              </a:spcBef>
              <a:buClr>
                <a:schemeClr val="bg1">
                  <a:lumMod val="75000"/>
                </a:schemeClr>
              </a:buClr>
            </a:pPr>
            <a:r>
              <a:rPr lang="en-US" sz="3200" dirty="0">
                <a:solidFill>
                  <a:schemeClr val="bg1">
                    <a:lumMod val="75000"/>
                  </a:schemeClr>
                </a:solidFill>
              </a:rPr>
              <a:t>TCP 拥塞控制</a:t>
            </a:r>
          </a:p>
          <a:p>
            <a:pPr marL="403225" indent="-285750">
              <a:spcBef>
                <a:spcPts val="800"/>
              </a:spcBef>
            </a:pPr>
            <a:r>
              <a:rPr lang="en-US" sz="3200" dirty="0"/>
              <a:t>传输层功能的演进</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传输层：3-135</a:t>
            </a:r>
            <a:fld id="{C4204591-24BD-A542-B9D5-F8D8A88D2FEE}" type="slidenum">
              <a:rPr lang="en-US" smtClean="0"/>
              <a:pPr/>
              <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TCP、UDP：40 年来的主要传输协议</a:t>
            </a:r>
            <a:endParaRPr lang="en-US" sz="2600" dirty="0"/>
          </a:p>
          <a:p>
            <a:pPr>
              <a:spcBef>
                <a:spcPts val="600"/>
              </a:spcBef>
            </a:pPr>
            <a:r>
              <a:rPr lang="en-US" dirty="0"/>
              <a:t>针对特定场景发展出了不同“风味”的 TCP：</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传输层功能的演进</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把传输层功能移动到基于 UDP 的应用层中</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场景</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挑战</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长肥管道（大数据传输）</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大量分组“在途”；丢失会关闭流水线</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无线网络</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无线链路噪声和移动性导致丢失；TCP 会把它当作拥塞丢失</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长时延链路</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极长 RTT</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数据中心网络</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对时延敏感</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后台流量流</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低优先级“后台”TCP 流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传输层：3-136</a:t>
            </a:r>
            <a:fld id="{C4204591-24BD-A542-B9D5-F8D8A88D2FEE}" type="slidenum">
              <a:rPr lang="en-US" smtClean="0"/>
              <a:pPr/>
              <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运行在 UDP 之上的应用层协议</a:t>
            </a:r>
          </a:p>
          <a:p>
            <a:pPr lvl="1"/>
            <a:r>
              <a:rPr lang="en-US" sz="2600" dirty="0"/>
              <a:t>提升 HTTP 性能</a:t>
            </a:r>
          </a:p>
          <a:p>
            <a:pPr lvl="1"/>
            <a:r>
              <a:rPr lang="en-US" sz="2600" dirty="0"/>
              <a:t>部署在许多 Google 服务器和应用上（Chrome、移动 YouTube 应用）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QUIC：快速 UDP 互联网连接</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HTTP/2（精简版）</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网络层</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传输层</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应用层</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基于 TCP 的 HTTP/2</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传输层：3-137</a:t>
            </a:r>
            <a:fld id="{C4204591-24BD-A542-B9D5-F8D8A88D2FEE}" type="slidenum">
              <a:rPr lang="en-US" smtClean="0"/>
              <a:pPr/>
              <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QUIC：快速 UDP 互联网连接</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采用本章学习过的连接建立、差错控制和拥塞控制方法</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多个应用层“流”复用在单个 QUIC 连接上</a:t>
            </a:r>
          </a:p>
          <a:p>
            <a:pPr lvl="1"/>
            <a:r>
              <a:rPr lang="en-US" dirty="0"/>
              <a:t>将可靠数据传输与安全性分离</a:t>
            </a:r>
          </a:p>
          <a:p>
            <a:pPr lvl="1"/>
            <a:r>
              <a:rPr lang="en-US" dirty="0"/>
              <a:t>共享拥塞控制</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差错与拥塞控制：“熟悉 TCP 丢失检测和拥塞控制的读者，会发现这里的算法与知名 TCP 算法相对应。”[来自 QUIC 规范]</a:t>
            </a:r>
            <a:r>
              <a:rPr kumimoji="0" lang="en-US" sz="2600" b="0" i="0" u="none" strike="noStrike" kern="1200" cap="none" spc="0" normalizeH="0" baseline="0" noProof="0" dirty="0">
                <a:ln>
                  <a:noFill/>
                </a:ln>
                <a:solidFill>
                  <a:prstClr val="black"/>
                </a:solidFill>
                <a:effectLst/>
                <a:uLnTx/>
                <a:uFillTx/>
                <a:latin typeface="Calibri"/>
                <a:ea typeface="+mn-ea"/>
                <a:cs typeface="+mn-cs"/>
              </a:rPr>
              <a:t/>
            </a:r>
            <a:r>
              <a:rPr kumimoji="0" lang="en-US" sz="1800" b="0" i="0" u="none" strike="noStrike" kern="1200" cap="none" spc="0" normalizeH="0" baseline="0" noProof="0" dirty="0">
                <a:ln>
                  <a:noFill/>
                </a:ln>
                <a:solidFill>
                  <a:prstClr val="black"/>
                </a:solidFill>
                <a:effectLst/>
                <a:uLnTx/>
                <a:uFillTx/>
                <a:latin typeface="Calibri"/>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连接建立：可靠性、拥塞控制、认证、加密和状态在一个 RTT 内建立</a:t>
            </a:r>
            <a:r>
              <a:rPr kumimoji="0" lang="en-US" sz="2600" b="0" i="0" u="none" strike="noStrike" kern="1200" cap="none" spc="0" normalizeH="0" baseline="0" noProof="0" dirty="0">
                <a:ln>
                  <a:noFill/>
                </a:ln>
                <a:solidFill>
                  <a:prstClr val="black"/>
                </a:solidFill>
                <a:effectLst/>
                <a:uLnTx/>
                <a:uFillTx/>
                <a:latin typeface="Calibri"/>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传输层：3-138</a:t>
            </a:r>
            <a:fld id="{C4204591-24BD-A542-B9D5-F8D8A88D2FEE}" type="slidenum">
              <a:rPr lang="en-US" smtClean="0"/>
              <a:pPr/>
              <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QUIC：连接建立</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握手</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（传输层）</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握手</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（安全）</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TCP（可靠性、拥塞控制状态）+ TLS（认证、加密状态）</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次串行握手</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数据</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握手</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数据</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QUIC：可靠性、拥塞控制、认证和加密状态</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次握手</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传输层：3-139</a:t>
            </a:r>
            <a:fld id="{C4204591-24BD-A542-B9D5-F8D8A88D2FEE}" type="slidenum">
              <a:rPr lang="en-US" smtClean="0"/>
              <a:pPr/>
              <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QUIC：流、并行性、无队头阻塞</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加密</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可靠数据传输</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拥塞控制</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传输层</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应用层</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使用 QUIC 的 HTTP/2：无队头阻塞</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可靠数据传输</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拥塞控制</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加密</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错误！</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拥塞控制</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a:r>
              <a:r>
                <a:rPr kumimoji="0" lang="en-US" sz="2000" b="0" i="0" u="none" strike="noStrike" kern="0" cap="none" spc="0" normalizeH="0" baseline="0" noProof="0" dirty="0" err="1">
                  <a:ln>
                    <a:noFill/>
                  </a:ln>
                  <a:solidFill>
                    <a:prstClr val="black"/>
                  </a:solidFill>
                  <a:effectLst/>
                  <a:uLnTx/>
                  <a:uFillTx/>
                  <a:latin typeface="Calibri" panose="020F0502020204030204"/>
                  <a:ea typeface="+mn-ea"/>
                  <a:cs typeface="+mn-cs"/>
                </a:rPr>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加密</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加密</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加密</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拥塞控制</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a:r>
              <a:r>
                <a:rPr kumimoji="0" lang="en-US" sz="2000" b="0" i="0" u="none" strike="noStrike" kern="0" cap="none" spc="0" normalizeH="0" baseline="0" noProof="0" dirty="0" err="1">
                  <a:ln>
                    <a:noFill/>
                  </a:ln>
                  <a:solidFill>
                    <a:prstClr val="black"/>
                  </a:solidFill>
                  <a:effectLst/>
                  <a:uLnTx/>
                  <a:uFillTx/>
                  <a:latin typeface="Calibri" panose="020F0502020204030204"/>
                  <a:ea typeface="+mn-ea"/>
                  <a:cs typeface="+mn-cs"/>
                </a:rPr>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加密</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加密</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加密</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错误！</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传输层：3-140</a:t>
            </a:r>
            <a:fld id="{C4204591-24BD-A542-B9D5-F8D8A88D2FEE}" type="slidenum">
              <a:rPr lang="en-US" smtClean="0"/>
              <a:pPr/>
              <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第 3 章：小结</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传输层：3-141</a:t>
            </a:r>
            <a:fld id="{C4204591-24BD-A542-B9D5-F8D8A88D2FEE}" type="slidenum">
              <a:rPr lang="en-US" smtClean="0"/>
              <a:pPr/>
              <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传输层服务背后的原理：</a:t>
            </a:r>
          </a:p>
          <a:p>
            <a:pPr lvl="1">
              <a:buFont typeface="Arial"/>
              <a:buChar char="•"/>
              <a:defRPr/>
            </a:pPr>
            <a:r>
              <a:rPr lang="en-US" sz="2800" dirty="0"/>
              <a:t>复用、分用</a:t>
            </a:r>
          </a:p>
          <a:p>
            <a:pPr lvl="1">
              <a:buFont typeface="Arial"/>
              <a:buChar char="•"/>
              <a:defRPr/>
            </a:pPr>
            <a:r>
              <a:rPr lang="en-US" sz="2800" dirty="0"/>
              <a:t>可靠数据传输</a:t>
            </a:r>
          </a:p>
          <a:p>
            <a:pPr lvl="1">
              <a:buFont typeface="Arial"/>
              <a:buChar char="•"/>
              <a:defRPr/>
            </a:pPr>
            <a:r>
              <a:rPr lang="en-US" sz="2800" dirty="0"/>
              <a:t>流量控制</a:t>
            </a:r>
          </a:p>
          <a:p>
            <a:pPr lvl="1">
              <a:buFont typeface="Arial"/>
              <a:buChar char="•"/>
              <a:defRPr/>
            </a:pPr>
            <a:r>
              <a:rPr lang="en-US" sz="2800" dirty="0"/>
              <a:t>拥塞控制</a:t>
            </a:r>
          </a:p>
          <a:p>
            <a:pPr marL="393700" indent="-263525">
              <a:buFont typeface="Wingdings" charset="2"/>
              <a:buChar char="§"/>
              <a:defRPr/>
            </a:pPr>
            <a:r>
              <a:rPr lang="en-US" sz="3200" dirty="0"/>
              <a:t>在互联网中的实例化与实现</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接下来：</a:t>
            </a:r>
          </a:p>
          <a:p>
            <a:pPr marL="393700" indent="-266700"/>
            <a:r>
              <a:rPr lang="en-US" altLang="en-US" sz="3200" dirty="0">
                <a:ea typeface="ＭＳ Ｐゴシック" panose="020B0600070205080204" pitchFamily="34" charset="-128"/>
              </a:rPr>
              <a:t>离开网络“边缘”（应用层、传输层）</a:t>
            </a:r>
            <a:r>
              <a:rPr lang="en-US" altLang="ja-JP" sz="3200" dirty="0">
                <a:ea typeface="ＭＳ Ｐゴシック" panose="020B0600070205080204" pitchFamily="34" charset="-128"/>
              </a:rPr>
              <a:t/>
            </a:r>
            <a:r>
              <a:rPr lang="en-US" altLang="ja-JP" dirty="0">
                <a:ea typeface="ＭＳ Ｐゴシック" panose="020B0600070205080204" pitchFamily="34" charset="-128"/>
              </a:rPr>
              <a:t/>
            </a:r>
          </a:p>
          <a:p>
            <a:pPr marL="393700" indent="-266700"/>
            <a:r>
              <a:rPr lang="en-US" altLang="en-US" sz="3200" dirty="0">
                <a:ea typeface="ＭＳ Ｐゴシック" panose="020B0600070205080204" pitchFamily="34" charset="-128"/>
              </a:rPr>
              <a:t>进入网络“核心”</a:t>
            </a:r>
            <a:r>
              <a:rPr lang="en-US" altLang="ja-JP" sz="3200" dirty="0">
                <a:ea typeface="ＭＳ Ｐゴシック" panose="020B0600070205080204" pitchFamily="34" charset="-128"/>
              </a:rPr>
              <a:t/>
            </a:r>
          </a:p>
          <a:p>
            <a:pPr marL="393700" indent="-266700"/>
            <a:r>
              <a:rPr lang="en-US" altLang="en-US" sz="3200" dirty="0">
                <a:ea typeface="ＭＳ Ｐゴシック" panose="020B0600070205080204" pitchFamily="34" charset="-128"/>
              </a:rPr>
              <a:t>两个网络层章节：</a:t>
            </a:r>
            <a:r>
              <a:rPr lang="en-US" altLang="en-US" dirty="0">
                <a:ea typeface="ＭＳ Ｐゴシック" panose="020B0600070205080204" pitchFamily="34" charset="-128"/>
              </a:rPr>
              <a:t/>
            </a:r>
          </a:p>
          <a:p>
            <a:pPr lvl="1"/>
            <a:r>
              <a:rPr lang="en-US" altLang="en-US" sz="2800" dirty="0">
                <a:ea typeface="ＭＳ Ｐゴシック" panose="020B0600070205080204" pitchFamily="34" charset="-128"/>
              </a:rPr>
              <a:t>数据平面</a:t>
            </a:r>
          </a:p>
          <a:p>
            <a:pPr lvl="1"/>
            <a:r>
              <a:rPr lang="en-US" altLang="en-US" sz="2800" dirty="0">
                <a:ea typeface="ＭＳ Ｐゴシック" panose="020B0600070205080204" pitchFamily="34" charset="-128"/>
              </a:rPr>
              <a:t>控制平面</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第 3 章补充幻灯片</a:t>
            </a:r>
            <a:endParaRPr lang="en-US" sz="4400" dirty="0"/>
          </a:p>
        </p:txBody>
      </p:sp>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a:t>传输层：3-142</a:t>
            </a:r>
            <a:fld id="{C4204591-24BD-A542-B9D5-F8D8A88D2FEE}" type="slidenum">
              <a:rPr lang="en-US" smtClean="0"/>
              <a:pPr/>
              <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Go-Back-N：发送方扩展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传输层：3-143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等待</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超时</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base+N</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nextseqnum,data,chksum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否则</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refuse_data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否则</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3323313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Go-Back-N：接收方扩展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传输层：3-144</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4" name="Oval 4">
            <a:extLst>
              <a:ext uri="{FF2B5EF4-FFF2-40B4-BE49-F238E27FC236}">
                <a16:creationId xmlns:a16="http://schemas.microsoft.com/office/drawing/2014/main" id="{0C78546A-7459-5347-80F4-125D010F8E84}"/>
              </a:ext>
            </a:extLst>
          </p:cNvPr>
          <p:cNvSpPr>
            <a:spLocks noChangeArrowheads="1"/>
          </p:cNvSpPr>
          <p:nvPr/>
        </p:nvSpPr>
        <p:spPr bwMode="auto">
          <a:xfrm>
            <a:off x="4922611" y="2155825"/>
            <a:ext cx="666750" cy="6572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79" name="Text Box 5">
            <a:extLst>
              <a:ext uri="{FF2B5EF4-FFF2-40B4-BE49-F238E27FC236}">
                <a16:creationId xmlns:a16="http://schemas.microsoft.com/office/drawing/2014/main" id="{D7B9D2FB-B481-7E4A-A0F6-5F57E413C0AE}"/>
              </a:ext>
            </a:extLst>
          </p:cNvPr>
          <p:cNvSpPr txBox="1">
            <a:spLocks noChangeArrowheads="1"/>
          </p:cNvSpPr>
          <p:nvPr/>
        </p:nvSpPr>
        <p:spPr bwMode="auto">
          <a:xfrm>
            <a:off x="4881111" y="2307771"/>
            <a:ext cx="800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等待</a:t>
            </a:r>
            <a:endParaRPr kumimoji="0" lang="en-US" altLang="en-US" sz="20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6">
            <a:extLst>
              <a:ext uri="{FF2B5EF4-FFF2-40B4-BE49-F238E27FC236}">
                <a16:creationId xmlns:a16="http://schemas.microsoft.com/office/drawing/2014/main" id="{96D79319-AAC7-2846-924D-45104B1A129F}"/>
              </a:ext>
            </a:extLst>
          </p:cNvPr>
          <p:cNvSpPr>
            <a:spLocks noChangeShapeType="1"/>
          </p:cNvSpPr>
          <p:nvPr/>
        </p:nvSpPr>
        <p:spPr bwMode="auto">
          <a:xfrm>
            <a:off x="2608036" y="1995488"/>
            <a:ext cx="2298700" cy="4746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Freeform 10">
            <a:extLst>
              <a:ext uri="{FF2B5EF4-FFF2-40B4-BE49-F238E27FC236}">
                <a16:creationId xmlns:a16="http://schemas.microsoft.com/office/drawing/2014/main" id="{5510D433-027A-A141-B3D0-3E03E8DAE8A8}"/>
              </a:ext>
            </a:extLst>
          </p:cNvPr>
          <p:cNvSpPr>
            <a:spLocks/>
          </p:cNvSpPr>
          <p:nvPr/>
        </p:nvSpPr>
        <p:spPr bwMode="auto">
          <a:xfrm>
            <a:off x="5595711" y="1898650"/>
            <a:ext cx="828675"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Text Box 11">
            <a:extLst>
              <a:ext uri="{FF2B5EF4-FFF2-40B4-BE49-F238E27FC236}">
                <a16:creationId xmlns:a16="http://schemas.microsoft.com/office/drawing/2014/main" id="{FCA8632E-A5B0-664A-9196-8A8B55D0CC4A}"/>
              </a:ext>
            </a:extLst>
          </p:cNvPr>
          <p:cNvSpPr txBox="1">
            <a:spLocks noChangeArrowheads="1"/>
          </p:cNvSpPr>
          <p:nvPr/>
        </p:nvSpPr>
        <p:spPr bwMode="auto">
          <a:xfrm>
            <a:off x="6089424" y="1668463"/>
            <a:ext cx="3570287"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hasseqnum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12">
            <a:extLst>
              <a:ext uri="{FF2B5EF4-FFF2-40B4-BE49-F238E27FC236}">
                <a16:creationId xmlns:a16="http://schemas.microsoft.com/office/drawing/2014/main" id="{C6CE9EFA-3CCD-C14E-A5CF-3105777426B6}"/>
              </a:ext>
            </a:extLst>
          </p:cNvPr>
          <p:cNvSpPr>
            <a:spLocks noChangeShapeType="1"/>
          </p:cNvSpPr>
          <p:nvPr/>
        </p:nvSpPr>
        <p:spPr bwMode="auto">
          <a:xfrm>
            <a:off x="6159274" y="2360613"/>
            <a:ext cx="31750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Text Box 13">
            <a:extLst>
              <a:ext uri="{FF2B5EF4-FFF2-40B4-BE49-F238E27FC236}">
                <a16:creationId xmlns:a16="http://schemas.microsoft.com/office/drawing/2014/main" id="{69836D4C-507C-6B47-A6BF-2C0D582C5DE9}"/>
              </a:ext>
            </a:extLst>
          </p:cNvPr>
          <p:cNvSpPr txBox="1">
            <a:spLocks noChangeArrowheads="1"/>
          </p:cNvSpPr>
          <p:nvPr/>
        </p:nvSpPr>
        <p:spPr bwMode="auto">
          <a:xfrm>
            <a:off x="6094186" y="2403475"/>
            <a:ext cx="4314825" cy="858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expectedseqnum,ACK,chksum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5021266A-A4B2-8A46-9C1D-2E9C56A7B822}"/>
              </a:ext>
            </a:extLst>
          </p:cNvPr>
          <p:cNvGrpSpPr/>
          <p:nvPr/>
        </p:nvGrpSpPr>
        <p:grpSpPr>
          <a:xfrm>
            <a:off x="4320949" y="1306513"/>
            <a:ext cx="1701605" cy="841375"/>
            <a:chOff x="4320949" y="1306513"/>
            <a:chExt cx="1701605" cy="841375"/>
          </a:xfrm>
        </p:grpSpPr>
        <p:sp>
          <p:nvSpPr>
            <p:cNvPr id="81" name="Text Box 7">
              <a:extLst>
                <a:ext uri="{FF2B5EF4-FFF2-40B4-BE49-F238E27FC236}">
                  <a16:creationId xmlns:a16="http://schemas.microsoft.com/office/drawing/2014/main" id="{C9553829-3975-2E49-9803-6EFDAFB5EBC4}"/>
                </a:ext>
              </a:extLst>
            </p:cNvPr>
            <p:cNvSpPr txBox="1">
              <a:spLocks noChangeArrowheads="1"/>
            </p:cNvSpPr>
            <p:nvPr/>
          </p:nvSpPr>
          <p:spPr bwMode="auto">
            <a:xfrm>
              <a:off x="4320949" y="1582738"/>
              <a:ext cx="161766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2" name="Text Box 8">
              <a:extLst>
                <a:ext uri="{FF2B5EF4-FFF2-40B4-BE49-F238E27FC236}">
                  <a16:creationId xmlns:a16="http://schemas.microsoft.com/office/drawing/2014/main" id="{2E7739F4-D1B2-A747-870F-EBBF181526F6}"/>
                </a:ext>
              </a:extLst>
            </p:cNvPr>
            <p:cNvSpPr txBox="1">
              <a:spLocks noChangeArrowheads="1"/>
            </p:cNvSpPr>
            <p:nvPr/>
          </p:nvSpPr>
          <p:spPr bwMode="auto">
            <a:xfrm>
              <a:off x="4360636" y="1306513"/>
              <a:ext cx="1661918"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任何其他事件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3" name="Line 9">
              <a:extLst>
                <a:ext uri="{FF2B5EF4-FFF2-40B4-BE49-F238E27FC236}">
                  <a16:creationId xmlns:a16="http://schemas.microsoft.com/office/drawing/2014/main" id="{325C94EB-6A64-BC4A-A405-47C0EBE38857}"/>
                </a:ext>
              </a:extLst>
            </p:cNvPr>
            <p:cNvSpPr>
              <a:spLocks noChangeShapeType="1"/>
            </p:cNvSpPr>
            <p:nvPr/>
          </p:nvSpPr>
          <p:spPr bwMode="auto">
            <a:xfrm>
              <a:off x="4441599" y="1603375"/>
              <a:ext cx="8159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14">
              <a:extLst>
                <a:ext uri="{FF2B5EF4-FFF2-40B4-BE49-F238E27FC236}">
                  <a16:creationId xmlns:a16="http://schemas.microsoft.com/office/drawing/2014/main" id="{B309A64A-7394-0245-8A9F-73E7049FB6F0}"/>
                </a:ext>
              </a:extLst>
            </p:cNvPr>
            <p:cNvSpPr>
              <a:spLocks/>
            </p:cNvSpPr>
            <p:nvPr/>
          </p:nvSpPr>
          <p:spPr bwMode="auto">
            <a:xfrm rot="5142103" flipH="1">
              <a:off x="5068662" y="1374775"/>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 name="Line 15">
            <a:extLst>
              <a:ext uri="{FF2B5EF4-FFF2-40B4-BE49-F238E27FC236}">
                <a16:creationId xmlns:a16="http://schemas.microsoft.com/office/drawing/2014/main" id="{DFB05333-8F2D-AD4D-AF5B-F08A11737E43}"/>
              </a:ext>
            </a:extLst>
          </p:cNvPr>
          <p:cNvSpPr>
            <a:spLocks noChangeShapeType="1"/>
          </p:cNvSpPr>
          <p:nvPr/>
        </p:nvSpPr>
        <p:spPr bwMode="auto">
          <a:xfrm>
            <a:off x="2547711" y="2408238"/>
            <a:ext cx="1238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Text Box 16">
            <a:extLst>
              <a:ext uri="{FF2B5EF4-FFF2-40B4-BE49-F238E27FC236}">
                <a16:creationId xmlns:a16="http://schemas.microsoft.com/office/drawing/2014/main" id="{72BCB5B4-7731-AE47-AA11-27C7F6305633}"/>
              </a:ext>
            </a:extLst>
          </p:cNvPr>
          <p:cNvSpPr txBox="1">
            <a:spLocks noChangeArrowheads="1"/>
          </p:cNvSpPr>
          <p:nvPr/>
        </p:nvSpPr>
        <p:spPr bwMode="auto">
          <a:xfrm>
            <a:off x="2457224" y="2428875"/>
            <a:ext cx="36417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expectedseqnum,ACK,chksum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17">
            <a:extLst>
              <a:ext uri="{FF2B5EF4-FFF2-40B4-BE49-F238E27FC236}">
                <a16:creationId xmlns:a16="http://schemas.microsoft.com/office/drawing/2014/main" id="{F76BD3C3-1C69-4441-A736-BFED27A3CAB3}"/>
              </a:ext>
            </a:extLst>
          </p:cNvPr>
          <p:cNvSpPr txBox="1">
            <a:spLocks noChangeArrowheads="1"/>
          </p:cNvSpPr>
          <p:nvPr/>
        </p:nvSpPr>
        <p:spPr bwMode="auto">
          <a:xfrm>
            <a:off x="2493736" y="2105025"/>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Symbol" charset="0"/>
                <a:ea typeface="ＭＳ Ｐゴシック" charset="0"/>
                <a:cs typeface="+mn-cs"/>
              </a:rPr>
              <a:t>L</a:t>
            </a:r>
          </a:p>
        </p:txBody>
      </p:sp>
      <p:sp>
        <p:nvSpPr>
          <p:cNvPr id="92" name="Rectangle 3">
            <a:extLst>
              <a:ext uri="{FF2B5EF4-FFF2-40B4-BE49-F238E27FC236}">
                <a16:creationId xmlns:a16="http://schemas.microsoft.com/office/drawing/2014/main" id="{C3CB9118-6DFF-F343-94F3-68C1B0042C12}"/>
              </a:ext>
            </a:extLst>
          </p:cNvPr>
          <p:cNvSpPr txBox="1">
            <a:spLocks noChangeArrowheads="1"/>
          </p:cNvSpPr>
          <p:nvPr/>
        </p:nvSpPr>
        <p:spPr>
          <a:xfrm>
            <a:off x="930389" y="3827462"/>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仅 ACK：总是对按序正确收到的最高序号分组发送 ACK</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可能产生重复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只需记住 expectedseqnum</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
            </a:r>
            <a:endPar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乱序分组：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丢弃（不缓冲）：接收方没有缓冲！</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重新 ACK 最高的按序分组序号</a:t>
            </a:r>
          </a:p>
        </p:txBody>
      </p:sp>
    </p:spTree>
    <p:extLst>
      <p:ext uri="{BB962C8B-B14F-4D97-AF65-F5344CB8AC3E}">
        <p14:creationId xmlns:p14="http://schemas.microsoft.com/office/powerpoint/2010/main" val="319820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dissolv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animEffect transition="in" filter="dissolve">
                                      <p:cBhvr>
                                        <p:cTn id="12" dur="500"/>
                                        <p:tgtEl>
                                          <p:spTgt spid="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7"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发送方（简化）</a:t>
            </a:r>
            <a:r>
              <a:rPr lang="en-US" dirty="0"/>
              <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传输层：3-145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等待</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等待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事件</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重传序号最小的未确认报文段</a:t>
              </a: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启动定时器</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超时</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FF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 SendBase-1：最后一个累计确认的字节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如果当前还有未确认报文段</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启动定时器</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否则停止定时器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收到 ACK，ACK 字段值为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创建报文段，序号：NextSeqNum</a:t>
                </a: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把报文段交给 IP（即“发送”）</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NextSeqNum</a:t>
                </a: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 </a:t>
                </a: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NextSeqNum</a:t>
                </a: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如果定时器当前未运行</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启动定时器</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从上层应用收到数据</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09399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三次握手 FSM</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传输层：3-146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14" name="Group 47">
            <a:extLst>
              <a:ext uri="{FF2B5EF4-FFF2-40B4-BE49-F238E27FC236}">
                <a16:creationId xmlns:a16="http://schemas.microsoft.com/office/drawing/2014/main" id="{D32D3A7A-DE7E-7946-95CC-B1FBA3F3EDA8}"/>
              </a:ext>
            </a:extLst>
          </p:cNvPr>
          <p:cNvGrpSpPr>
            <a:grpSpLocks/>
          </p:cNvGrpSpPr>
          <p:nvPr/>
        </p:nvGrpSpPr>
        <p:grpSpPr bwMode="auto">
          <a:xfrm>
            <a:off x="4909203" y="1183947"/>
            <a:ext cx="876300" cy="827087"/>
            <a:chOff x="1778" y="1720"/>
            <a:chExt cx="722" cy="642"/>
          </a:xfrm>
        </p:grpSpPr>
        <p:sp>
          <p:nvSpPr>
            <p:cNvPr id="115" name="Oval 41">
              <a:extLst>
                <a:ext uri="{FF2B5EF4-FFF2-40B4-BE49-F238E27FC236}">
                  <a16:creationId xmlns:a16="http://schemas.microsoft.com/office/drawing/2014/main" id="{5748C2EC-7FEC-AF47-A3BE-7EE9BBE75650}"/>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6" name="Oval 42">
              <a:extLst>
                <a:ext uri="{FF2B5EF4-FFF2-40B4-BE49-F238E27FC236}">
                  <a16:creationId xmlns:a16="http://schemas.microsoft.com/office/drawing/2014/main" id="{AD2EDB37-6C4A-ED4D-AC5C-E68CCE508B7D}"/>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17" name="Text Box 43">
            <a:extLst>
              <a:ext uri="{FF2B5EF4-FFF2-40B4-BE49-F238E27FC236}">
                <a16:creationId xmlns:a16="http://schemas.microsoft.com/office/drawing/2014/main" id="{DC80B258-8B6C-724F-A263-EC13CE8069CA}"/>
              </a:ext>
            </a:extLst>
          </p:cNvPr>
          <p:cNvSpPr txBox="1">
            <a:spLocks noChangeArrowheads="1"/>
          </p:cNvSpPr>
          <p:nvPr/>
        </p:nvSpPr>
        <p:spPr bwMode="auto">
          <a:xfrm>
            <a:off x="4904440" y="1404609"/>
            <a:ext cx="8445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关闭</a:t>
            </a:r>
          </a:p>
        </p:txBody>
      </p:sp>
      <p:sp>
        <p:nvSpPr>
          <p:cNvPr id="118" name="Text Box 46">
            <a:extLst>
              <a:ext uri="{FF2B5EF4-FFF2-40B4-BE49-F238E27FC236}">
                <a16:creationId xmlns:a16="http://schemas.microsoft.com/office/drawing/2014/main" id="{59F95A1A-E024-5B48-87C9-32EC6493D125}"/>
              </a:ext>
            </a:extLst>
          </p:cNvPr>
          <p:cNvSpPr txBox="1">
            <a:spLocks noChangeArrowheads="1"/>
          </p:cNvSpPr>
          <p:nvPr/>
        </p:nvSpPr>
        <p:spPr bwMode="auto">
          <a:xfrm>
            <a:off x="4326580" y="2451035"/>
            <a:ext cx="341313"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119" name="Group 48">
            <a:extLst>
              <a:ext uri="{FF2B5EF4-FFF2-40B4-BE49-F238E27FC236}">
                <a16:creationId xmlns:a16="http://schemas.microsoft.com/office/drawing/2014/main" id="{6B805300-F5BE-0B46-B02D-B273205BCD9B}"/>
              </a:ext>
            </a:extLst>
          </p:cNvPr>
          <p:cNvGrpSpPr>
            <a:grpSpLocks/>
          </p:cNvGrpSpPr>
          <p:nvPr/>
        </p:nvGrpSpPr>
        <p:grpSpPr bwMode="auto">
          <a:xfrm>
            <a:off x="4876204" y="3541092"/>
            <a:ext cx="876300" cy="827088"/>
            <a:chOff x="1778" y="1720"/>
            <a:chExt cx="722" cy="642"/>
          </a:xfrm>
        </p:grpSpPr>
        <p:sp>
          <p:nvSpPr>
            <p:cNvPr id="120" name="Oval 49">
              <a:extLst>
                <a:ext uri="{FF2B5EF4-FFF2-40B4-BE49-F238E27FC236}">
                  <a16:creationId xmlns:a16="http://schemas.microsoft.com/office/drawing/2014/main" id="{CB61B549-FBF2-5340-A179-21012EFDFDBC}"/>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1" name="Oval 50">
              <a:extLst>
                <a:ext uri="{FF2B5EF4-FFF2-40B4-BE49-F238E27FC236}">
                  <a16:creationId xmlns:a16="http://schemas.microsoft.com/office/drawing/2014/main" id="{0314F13B-55F9-2D4D-A0FB-1DDCD492CB6C}"/>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2" name="Text Box 51">
            <a:extLst>
              <a:ext uri="{FF2B5EF4-FFF2-40B4-BE49-F238E27FC236}">
                <a16:creationId xmlns:a16="http://schemas.microsoft.com/office/drawing/2014/main" id="{6C2EAFF7-F4D3-D944-B647-05ABA67BBECF}"/>
              </a:ext>
            </a:extLst>
          </p:cNvPr>
          <p:cNvSpPr txBox="1">
            <a:spLocks noChangeArrowheads="1"/>
          </p:cNvSpPr>
          <p:nvPr/>
        </p:nvSpPr>
        <p:spPr bwMode="auto">
          <a:xfrm>
            <a:off x="4934941" y="3761755"/>
            <a:ext cx="717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监听</a:t>
            </a:r>
          </a:p>
        </p:txBody>
      </p:sp>
      <p:grpSp>
        <p:nvGrpSpPr>
          <p:cNvPr id="123" name="Group 52">
            <a:extLst>
              <a:ext uri="{FF2B5EF4-FFF2-40B4-BE49-F238E27FC236}">
                <a16:creationId xmlns:a16="http://schemas.microsoft.com/office/drawing/2014/main" id="{86C03AF1-494B-4C49-99EF-6D5544194676}"/>
              </a:ext>
            </a:extLst>
          </p:cNvPr>
          <p:cNvGrpSpPr>
            <a:grpSpLocks/>
          </p:cNvGrpSpPr>
          <p:nvPr/>
        </p:nvGrpSpPr>
        <p:grpSpPr bwMode="auto">
          <a:xfrm>
            <a:off x="2780646" y="4286295"/>
            <a:ext cx="876300" cy="827087"/>
            <a:chOff x="1778" y="1720"/>
            <a:chExt cx="722" cy="642"/>
          </a:xfrm>
        </p:grpSpPr>
        <p:sp>
          <p:nvSpPr>
            <p:cNvPr id="124" name="Oval 53">
              <a:extLst>
                <a:ext uri="{FF2B5EF4-FFF2-40B4-BE49-F238E27FC236}">
                  <a16:creationId xmlns:a16="http://schemas.microsoft.com/office/drawing/2014/main" id="{3585FD29-C41D-DF4E-9358-888387FA2CCA}"/>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5" name="Oval 54">
              <a:extLst>
                <a:ext uri="{FF2B5EF4-FFF2-40B4-BE49-F238E27FC236}">
                  <a16:creationId xmlns:a16="http://schemas.microsoft.com/office/drawing/2014/main" id="{8C6EA2B0-8871-7B4E-973E-378036262FBF}"/>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6" name="Text Box 55">
            <a:extLst>
              <a:ext uri="{FF2B5EF4-FFF2-40B4-BE49-F238E27FC236}">
                <a16:creationId xmlns:a16="http://schemas.microsoft.com/office/drawing/2014/main" id="{00E5D84C-357F-4649-A7ED-D53BBF9A5823}"/>
              </a:ext>
            </a:extLst>
          </p:cNvPr>
          <p:cNvSpPr txBox="1">
            <a:spLocks noChangeArrowheads="1"/>
          </p:cNvSpPr>
          <p:nvPr/>
        </p:nvSpPr>
        <p:spPr bwMode="auto">
          <a:xfrm>
            <a:off x="2871133" y="4484732"/>
            <a:ext cx="654050"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已收到</a:t>
            </a:r>
          </a:p>
        </p:txBody>
      </p:sp>
      <p:grpSp>
        <p:nvGrpSpPr>
          <p:cNvPr id="127" name="Group 56">
            <a:extLst>
              <a:ext uri="{FF2B5EF4-FFF2-40B4-BE49-F238E27FC236}">
                <a16:creationId xmlns:a16="http://schemas.microsoft.com/office/drawing/2014/main" id="{FB88499E-7AA7-B845-9485-5596F7C6E586}"/>
              </a:ext>
            </a:extLst>
          </p:cNvPr>
          <p:cNvGrpSpPr>
            <a:grpSpLocks/>
          </p:cNvGrpSpPr>
          <p:nvPr/>
        </p:nvGrpSpPr>
        <p:grpSpPr bwMode="auto">
          <a:xfrm>
            <a:off x="6337953" y="4127172"/>
            <a:ext cx="876300" cy="827087"/>
            <a:chOff x="1778" y="1720"/>
            <a:chExt cx="722" cy="642"/>
          </a:xfrm>
        </p:grpSpPr>
        <p:sp>
          <p:nvSpPr>
            <p:cNvPr id="128" name="Oval 57">
              <a:extLst>
                <a:ext uri="{FF2B5EF4-FFF2-40B4-BE49-F238E27FC236}">
                  <a16:creationId xmlns:a16="http://schemas.microsoft.com/office/drawing/2014/main" id="{65C5240C-BEA1-E047-A276-08C8AD208664}"/>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9" name="Oval 58">
              <a:extLst>
                <a:ext uri="{FF2B5EF4-FFF2-40B4-BE49-F238E27FC236}">
                  <a16:creationId xmlns:a16="http://schemas.microsoft.com/office/drawing/2014/main" id="{4942FFF6-5901-DC45-BE2D-6821DAED3707}"/>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Text Box 59">
            <a:extLst>
              <a:ext uri="{FF2B5EF4-FFF2-40B4-BE49-F238E27FC236}">
                <a16:creationId xmlns:a16="http://schemas.microsoft.com/office/drawing/2014/main" id="{A8FC58C2-2277-364B-9BA0-DB9864FEAEA6}"/>
              </a:ext>
            </a:extLst>
          </p:cNvPr>
          <p:cNvSpPr txBox="1">
            <a:spLocks noChangeArrowheads="1"/>
          </p:cNvSpPr>
          <p:nvPr/>
        </p:nvSpPr>
        <p:spPr bwMode="auto">
          <a:xfrm>
            <a:off x="6428440" y="4325609"/>
            <a:ext cx="654050"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已发送</a:t>
            </a:r>
          </a:p>
        </p:txBody>
      </p:sp>
      <p:grpSp>
        <p:nvGrpSpPr>
          <p:cNvPr id="131" name="Group 60">
            <a:extLst>
              <a:ext uri="{FF2B5EF4-FFF2-40B4-BE49-F238E27FC236}">
                <a16:creationId xmlns:a16="http://schemas.microsoft.com/office/drawing/2014/main" id="{04CD4EEA-F731-974D-8D21-074CFF1FA3BB}"/>
              </a:ext>
            </a:extLst>
          </p:cNvPr>
          <p:cNvGrpSpPr>
            <a:grpSpLocks/>
          </p:cNvGrpSpPr>
          <p:nvPr/>
        </p:nvGrpSpPr>
        <p:grpSpPr bwMode="auto">
          <a:xfrm>
            <a:off x="4904440" y="4998709"/>
            <a:ext cx="876300" cy="827088"/>
            <a:chOff x="1778" y="1720"/>
            <a:chExt cx="722" cy="642"/>
          </a:xfrm>
        </p:grpSpPr>
        <p:sp>
          <p:nvSpPr>
            <p:cNvPr id="132" name="Oval 61">
              <a:extLst>
                <a:ext uri="{FF2B5EF4-FFF2-40B4-BE49-F238E27FC236}">
                  <a16:creationId xmlns:a16="http://schemas.microsoft.com/office/drawing/2014/main" id="{6CC78D2C-734E-B349-9B0C-BF852E5B478D}"/>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Oval 62">
              <a:extLst>
                <a:ext uri="{FF2B5EF4-FFF2-40B4-BE49-F238E27FC236}">
                  <a16:creationId xmlns:a16="http://schemas.microsoft.com/office/drawing/2014/main" id="{9F55D39F-EF68-C54A-8ED1-3B063B0183A9}"/>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4" name="Text Box 63">
            <a:extLst>
              <a:ext uri="{FF2B5EF4-FFF2-40B4-BE49-F238E27FC236}">
                <a16:creationId xmlns:a16="http://schemas.microsoft.com/office/drawing/2014/main" id="{D8DA0075-4FB6-604B-8EE5-928070CFB870}"/>
              </a:ext>
            </a:extLst>
          </p:cNvPr>
          <p:cNvSpPr txBox="1">
            <a:spLocks noChangeArrowheads="1"/>
          </p:cNvSpPr>
          <p:nvPr/>
        </p:nvSpPr>
        <p:spPr bwMode="auto">
          <a:xfrm>
            <a:off x="4866340" y="5286047"/>
            <a:ext cx="933450" cy="31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ESTAB</a:t>
            </a:r>
          </a:p>
        </p:txBody>
      </p:sp>
      <p:sp>
        <p:nvSpPr>
          <p:cNvPr id="135" name="Text Box 66">
            <a:extLst>
              <a:ext uri="{FF2B5EF4-FFF2-40B4-BE49-F238E27FC236}">
                <a16:creationId xmlns:a16="http://schemas.microsoft.com/office/drawing/2014/main" id="{8094123F-EAAB-BD40-AE92-A31E1CBC4CE9}"/>
              </a:ext>
            </a:extLst>
          </p:cNvPr>
          <p:cNvSpPr txBox="1">
            <a:spLocks noChangeArrowheads="1"/>
          </p:cNvSpPr>
          <p:nvPr/>
        </p:nvSpPr>
        <p:spPr bwMode="auto">
          <a:xfrm>
            <a:off x="6715778" y="2476652"/>
            <a:ext cx="5534025"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clientSocket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newSocket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hostname","port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number");</a:t>
            </a:r>
          </a:p>
        </p:txBody>
      </p:sp>
      <p:sp>
        <p:nvSpPr>
          <p:cNvPr id="136" name="Line 67">
            <a:extLst>
              <a:ext uri="{FF2B5EF4-FFF2-40B4-BE49-F238E27FC236}">
                <a16:creationId xmlns:a16="http://schemas.microsoft.com/office/drawing/2014/main" id="{5F6120DE-1D54-8349-98D1-475C16424507}"/>
              </a:ext>
            </a:extLst>
          </p:cNvPr>
          <p:cNvSpPr>
            <a:spLocks noChangeShapeType="1"/>
          </p:cNvSpPr>
          <p:nvPr/>
        </p:nvSpPr>
        <p:spPr bwMode="auto">
          <a:xfrm>
            <a:off x="6953903" y="3152854"/>
            <a:ext cx="393821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Text Box 68">
            <a:extLst>
              <a:ext uri="{FF2B5EF4-FFF2-40B4-BE49-F238E27FC236}">
                <a16:creationId xmlns:a16="http://schemas.microsoft.com/office/drawing/2014/main" id="{4DDD1946-5DBE-DD4F-B9A2-10EA77285E4C}"/>
              </a:ext>
            </a:extLst>
          </p:cNvPr>
          <p:cNvSpPr txBox="1">
            <a:spLocks noChangeArrowheads="1"/>
          </p:cNvSpPr>
          <p:nvPr/>
        </p:nvSpPr>
        <p:spPr bwMode="auto">
          <a:xfrm>
            <a:off x="8067650" y="3204367"/>
            <a:ext cx="1410964"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SYN(seq=x)</a:t>
            </a:r>
          </a:p>
        </p:txBody>
      </p:sp>
      <p:sp>
        <p:nvSpPr>
          <p:cNvPr id="138" name="Freeform 69">
            <a:extLst>
              <a:ext uri="{FF2B5EF4-FFF2-40B4-BE49-F238E27FC236}">
                <a16:creationId xmlns:a16="http://schemas.microsoft.com/office/drawing/2014/main" id="{3225F036-B87C-9E44-9BA0-81F4CD6463ED}"/>
              </a:ext>
            </a:extLst>
          </p:cNvPr>
          <p:cNvSpPr>
            <a:spLocks/>
          </p:cNvSpPr>
          <p:nvPr/>
        </p:nvSpPr>
        <p:spPr bwMode="auto">
          <a:xfrm>
            <a:off x="5801378" y="1664959"/>
            <a:ext cx="914400" cy="2384425"/>
          </a:xfrm>
          <a:custGeom>
            <a:avLst/>
            <a:gdLst>
              <a:gd name="T0" fmla="*/ 0 w 576"/>
              <a:gd name="T1" fmla="*/ 0 h 1138"/>
              <a:gd name="T2" fmla="*/ 2147483647 w 576"/>
              <a:gd name="T3" fmla="*/ 0 h 1138"/>
              <a:gd name="T4" fmla="*/ 2147483647 w 576"/>
              <a:gd name="T5" fmla="*/ 2147483647 h 1138"/>
              <a:gd name="T6" fmla="*/ 0 60000 65536"/>
              <a:gd name="T7" fmla="*/ 0 60000 65536"/>
              <a:gd name="T8" fmla="*/ 0 60000 65536"/>
            </a:gdLst>
            <a:ahLst/>
            <a:cxnLst>
              <a:cxn ang="T6">
                <a:pos x="T0" y="T1"/>
              </a:cxn>
              <a:cxn ang="T7">
                <a:pos x="T2" y="T3"/>
              </a:cxn>
              <a:cxn ang="T8">
                <a:pos x="T4" y="T5"/>
              </a:cxn>
            </a:cxnLst>
            <a:rect l="0" t="0" r="r" b="b"/>
            <a:pathLst>
              <a:path w="576" h="1138">
                <a:moveTo>
                  <a:pt x="0" y="0"/>
                </a:moveTo>
                <a:lnTo>
                  <a:pt x="576" y="0"/>
                </a:lnTo>
                <a:lnTo>
                  <a:pt x="576" y="1138"/>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Line 70">
            <a:extLst>
              <a:ext uri="{FF2B5EF4-FFF2-40B4-BE49-F238E27FC236}">
                <a16:creationId xmlns:a16="http://schemas.microsoft.com/office/drawing/2014/main" id="{FB2DED8F-FC9D-0548-A789-B4D9859663C0}"/>
              </a:ext>
            </a:extLst>
          </p:cNvPr>
          <p:cNvSpPr>
            <a:spLocks noChangeShapeType="1"/>
          </p:cNvSpPr>
          <p:nvPr/>
        </p:nvSpPr>
        <p:spPr bwMode="auto">
          <a:xfrm>
            <a:off x="5293378" y="2071358"/>
            <a:ext cx="0" cy="1469734"/>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Text Box 71">
            <a:extLst>
              <a:ext uri="{FF2B5EF4-FFF2-40B4-BE49-F238E27FC236}">
                <a16:creationId xmlns:a16="http://schemas.microsoft.com/office/drawing/2014/main" id="{AC3B6192-8FE1-6842-B032-95A6C8CA7DE3}"/>
              </a:ext>
            </a:extLst>
          </p:cNvPr>
          <p:cNvSpPr txBox="1">
            <a:spLocks noChangeArrowheads="1"/>
          </p:cNvSpPr>
          <p:nvPr/>
        </p:nvSpPr>
        <p:spPr bwMode="auto">
          <a:xfrm>
            <a:off x="1312394" y="1852065"/>
            <a:ext cx="4192353"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connectionSocket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welcomeSocket.accept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p:txBody>
      </p:sp>
      <p:sp>
        <p:nvSpPr>
          <p:cNvPr id="141" name="Line 72">
            <a:extLst>
              <a:ext uri="{FF2B5EF4-FFF2-40B4-BE49-F238E27FC236}">
                <a16:creationId xmlns:a16="http://schemas.microsoft.com/office/drawing/2014/main" id="{0141FAE2-B820-734C-A148-BAB67BF9C7AC}"/>
              </a:ext>
            </a:extLst>
          </p:cNvPr>
          <p:cNvSpPr>
            <a:spLocks noChangeShapeType="1"/>
          </p:cNvSpPr>
          <p:nvPr/>
        </p:nvSpPr>
        <p:spPr bwMode="auto">
          <a:xfrm>
            <a:off x="1574741" y="2476652"/>
            <a:ext cx="315445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Freeform 73">
            <a:extLst>
              <a:ext uri="{FF2B5EF4-FFF2-40B4-BE49-F238E27FC236}">
                <a16:creationId xmlns:a16="http://schemas.microsoft.com/office/drawing/2014/main" id="{10489FEC-0A29-EF40-8F9E-A623E6CC5E7F}"/>
              </a:ext>
            </a:extLst>
          </p:cNvPr>
          <p:cNvSpPr>
            <a:spLocks/>
          </p:cNvSpPr>
          <p:nvPr/>
        </p:nvSpPr>
        <p:spPr bwMode="auto">
          <a:xfrm>
            <a:off x="3187433" y="3972565"/>
            <a:ext cx="1579563" cy="283385"/>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3" name="Text Box 74">
            <a:extLst>
              <a:ext uri="{FF2B5EF4-FFF2-40B4-BE49-F238E27FC236}">
                <a16:creationId xmlns:a16="http://schemas.microsoft.com/office/drawing/2014/main" id="{13B5B3BA-5D9C-1441-872F-9C0A9CC44E71}"/>
              </a:ext>
            </a:extLst>
          </p:cNvPr>
          <p:cNvSpPr txBox="1">
            <a:spLocks noChangeArrowheads="1"/>
          </p:cNvSpPr>
          <p:nvPr/>
        </p:nvSpPr>
        <p:spPr bwMode="auto">
          <a:xfrm>
            <a:off x="2635196" y="2905517"/>
            <a:ext cx="88998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SYN(x)</a:t>
            </a:r>
          </a:p>
        </p:txBody>
      </p:sp>
      <p:sp>
        <p:nvSpPr>
          <p:cNvPr id="144" name="Line 75">
            <a:extLst>
              <a:ext uri="{FF2B5EF4-FFF2-40B4-BE49-F238E27FC236}">
                <a16:creationId xmlns:a16="http://schemas.microsoft.com/office/drawing/2014/main" id="{094959C2-07B8-5E48-B332-E495535C378D}"/>
              </a:ext>
            </a:extLst>
          </p:cNvPr>
          <p:cNvSpPr>
            <a:spLocks noChangeShapeType="1"/>
          </p:cNvSpPr>
          <p:nvPr/>
        </p:nvSpPr>
        <p:spPr bwMode="auto">
          <a:xfrm>
            <a:off x="2138008" y="3267740"/>
            <a:ext cx="19653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5" name="Text Box 76">
            <a:extLst>
              <a:ext uri="{FF2B5EF4-FFF2-40B4-BE49-F238E27FC236}">
                <a16:creationId xmlns:a16="http://schemas.microsoft.com/office/drawing/2014/main" id="{180303F6-C422-7741-9E0C-1BD5BC561624}"/>
              </a:ext>
            </a:extLst>
          </p:cNvPr>
          <p:cNvSpPr txBox="1">
            <a:spLocks noChangeArrowheads="1"/>
          </p:cNvSpPr>
          <p:nvPr/>
        </p:nvSpPr>
        <p:spPr bwMode="auto">
          <a:xfrm>
            <a:off x="1312394" y="3064442"/>
            <a:ext cx="3442821" cy="94025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ts val="30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SYNACK(seq=</a:t>
            </a: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y,ACKnum</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创建新套接字用于与客户机通信</a:t>
            </a:r>
          </a:p>
        </p:txBody>
      </p:sp>
      <p:sp>
        <p:nvSpPr>
          <p:cNvPr id="146" name="Freeform 77">
            <a:extLst>
              <a:ext uri="{FF2B5EF4-FFF2-40B4-BE49-F238E27FC236}">
                <a16:creationId xmlns:a16="http://schemas.microsoft.com/office/drawing/2014/main" id="{4B99D110-9770-ED45-9518-558D2EB47C3E}"/>
              </a:ext>
            </a:extLst>
          </p:cNvPr>
          <p:cNvSpPr>
            <a:spLocks/>
          </p:cNvSpPr>
          <p:nvPr/>
        </p:nvSpPr>
        <p:spPr bwMode="auto">
          <a:xfrm flipV="1">
            <a:off x="3187433" y="5174744"/>
            <a:ext cx="1656682" cy="212901"/>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Freeform 78">
            <a:extLst>
              <a:ext uri="{FF2B5EF4-FFF2-40B4-BE49-F238E27FC236}">
                <a16:creationId xmlns:a16="http://schemas.microsoft.com/office/drawing/2014/main" id="{DB5EA16C-A12D-C044-A72D-B0210756DC58}"/>
              </a:ext>
            </a:extLst>
          </p:cNvPr>
          <p:cNvSpPr>
            <a:spLocks/>
          </p:cNvSpPr>
          <p:nvPr/>
        </p:nvSpPr>
        <p:spPr bwMode="auto">
          <a:xfrm flipH="1" flipV="1">
            <a:off x="5831540" y="5032047"/>
            <a:ext cx="947738" cy="373062"/>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57B1028-921D-4746-B3B2-6DDD7CA83040}"/>
              </a:ext>
            </a:extLst>
          </p:cNvPr>
          <p:cNvGrpSpPr/>
          <p:nvPr/>
        </p:nvGrpSpPr>
        <p:grpSpPr>
          <a:xfrm>
            <a:off x="6804625" y="4883585"/>
            <a:ext cx="3334567" cy="1077738"/>
            <a:chOff x="7127280" y="4908222"/>
            <a:chExt cx="3334567" cy="1077738"/>
          </a:xfrm>
        </p:grpSpPr>
        <p:sp>
          <p:nvSpPr>
            <p:cNvPr id="148" name="Text Box 79">
              <a:extLst>
                <a:ext uri="{FF2B5EF4-FFF2-40B4-BE49-F238E27FC236}">
                  <a16:creationId xmlns:a16="http://schemas.microsoft.com/office/drawing/2014/main" id="{C3EE0DDD-B70D-5E4A-8927-9657C73467C5}"/>
                </a:ext>
              </a:extLst>
            </p:cNvPr>
            <p:cNvSpPr txBox="1">
              <a:spLocks noChangeArrowheads="1"/>
            </p:cNvSpPr>
            <p:nvPr/>
          </p:nvSpPr>
          <p:spPr bwMode="auto">
            <a:xfrm>
              <a:off x="7127280" y="4908222"/>
              <a:ext cx="3334567" cy="76020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SYNACK(seq=</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y,ACKnum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=x+1)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Line 80">
              <a:extLst>
                <a:ext uri="{FF2B5EF4-FFF2-40B4-BE49-F238E27FC236}">
                  <a16:creationId xmlns:a16="http://schemas.microsoft.com/office/drawing/2014/main" id="{257BF084-311A-1543-BE3E-DCB26E6C80E6}"/>
                </a:ext>
              </a:extLst>
            </p:cNvPr>
            <p:cNvSpPr>
              <a:spLocks noChangeShapeType="1"/>
            </p:cNvSpPr>
            <p:nvPr/>
          </p:nvSpPr>
          <p:spPr bwMode="auto">
            <a:xfrm>
              <a:off x="7272381" y="5430091"/>
              <a:ext cx="252888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Text Box 81">
              <a:extLst>
                <a:ext uri="{FF2B5EF4-FFF2-40B4-BE49-F238E27FC236}">
                  <a16:creationId xmlns:a16="http://schemas.microsoft.com/office/drawing/2014/main" id="{BD67B0E7-150E-F54B-9546-874563D011CB}"/>
                </a:ext>
              </a:extLst>
            </p:cNvPr>
            <p:cNvSpPr txBox="1">
              <a:spLocks noChangeArrowheads="1"/>
            </p:cNvSpPr>
            <p:nvPr/>
          </p:nvSpPr>
          <p:spPr bwMode="auto">
            <a:xfrm>
              <a:off x="7144177" y="5225752"/>
              <a:ext cx="2214068" cy="76020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A0A27D72-6843-7F44-83D3-693897AF0C2B}"/>
              </a:ext>
            </a:extLst>
          </p:cNvPr>
          <p:cNvGrpSpPr/>
          <p:nvPr/>
        </p:nvGrpSpPr>
        <p:grpSpPr>
          <a:xfrm>
            <a:off x="2515129" y="5328824"/>
            <a:ext cx="2214068" cy="798513"/>
            <a:chOff x="1893200" y="5293984"/>
            <a:chExt cx="2214068" cy="798513"/>
          </a:xfrm>
        </p:grpSpPr>
        <p:sp>
          <p:nvSpPr>
            <p:cNvPr id="151" name="Line 82">
              <a:extLst>
                <a:ext uri="{FF2B5EF4-FFF2-40B4-BE49-F238E27FC236}">
                  <a16:creationId xmlns:a16="http://schemas.microsoft.com/office/drawing/2014/main" id="{08C24CBB-D78B-2D4E-9B44-BE4E1CB0E677}"/>
                </a:ext>
              </a:extLst>
            </p:cNvPr>
            <p:cNvSpPr>
              <a:spLocks noChangeShapeType="1"/>
            </p:cNvSpPr>
            <p:nvPr/>
          </p:nvSpPr>
          <p:spPr bwMode="auto">
            <a:xfrm>
              <a:off x="2067578" y="5760709"/>
              <a:ext cx="19653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83">
              <a:extLst>
                <a:ext uri="{FF2B5EF4-FFF2-40B4-BE49-F238E27FC236}">
                  <a16:creationId xmlns:a16="http://schemas.microsoft.com/office/drawing/2014/main" id="{E2FCB0E5-7633-2449-BCDB-555323A3B804}"/>
                </a:ext>
              </a:extLst>
            </p:cNvPr>
            <p:cNvSpPr txBox="1">
              <a:spLocks noChangeArrowheads="1"/>
            </p:cNvSpPr>
            <p:nvPr/>
          </p:nvSpPr>
          <p:spPr bwMode="auto">
            <a:xfrm>
              <a:off x="1893200" y="5293984"/>
              <a:ext cx="2214068"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84">
              <a:extLst>
                <a:ext uri="{FF2B5EF4-FFF2-40B4-BE49-F238E27FC236}">
                  <a16:creationId xmlns:a16="http://schemas.microsoft.com/office/drawing/2014/main" id="{D889C564-1E93-3C48-97E5-D7F1314E3F08}"/>
                </a:ext>
              </a:extLst>
            </p:cNvPr>
            <p:cNvSpPr txBox="1">
              <a:spLocks noChangeArrowheads="1"/>
            </p:cNvSpPr>
            <p:nvPr/>
          </p:nvSpPr>
          <p:spPr bwMode="auto">
            <a:xfrm>
              <a:off x="2778778" y="5725784"/>
              <a:ext cx="341312"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Tree>
    <p:extLst>
      <p:ext uri="{BB962C8B-B14F-4D97-AF65-F5344CB8AC3E}">
        <p14:creationId xmlns:p14="http://schemas.microsoft.com/office/powerpoint/2010/main" val="37998525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a:t>传输层：3-147</a:t>
            </a:r>
            <a:fld id="{C4204591-24BD-A542-B9D5-F8D8A88D2FEE}" type="slidenum">
              <a:rPr lang="en-US" smtClean="0"/>
              <a:pPr/>
              <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关闭 TCP 连接</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等待服务器</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关闭</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仍然可以</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发送数据</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不能再</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发送数据</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定时等待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等待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报文段生存期</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不能再</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发送，但仍可</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接收数据</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客户机状态</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服务器状态</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416072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吞吐量</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1143000" y="1235075"/>
            <a:ext cx="106807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平均 TCP 吞吐量如何随窗口大小和 RTT 变化？</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忽略慢启动，假设总有数据可发送</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W：发生丢失时的窗口大小（以字节计）</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平均窗口大小（在途字节数）为 3/4 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平均吞吐量为每 RTT 3/4W</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grpSp>
        <p:nvGrpSpPr>
          <p:cNvPr id="111" name="Group 35">
            <a:extLst>
              <a:ext uri="{FF2B5EF4-FFF2-40B4-BE49-F238E27FC236}">
                <a16:creationId xmlns:a16="http://schemas.microsoft.com/office/drawing/2014/main" id="{2479703A-FA6A-E84F-A637-14C1FE031DFD}"/>
              </a:ext>
            </a:extLst>
          </p:cNvPr>
          <p:cNvGrpSpPr>
            <a:grpSpLocks/>
          </p:cNvGrpSpPr>
          <p:nvPr/>
        </p:nvGrpSpPr>
        <p:grpSpPr bwMode="auto">
          <a:xfrm>
            <a:off x="2360613" y="4173538"/>
            <a:ext cx="4873625" cy="1998662"/>
            <a:chOff x="279" y="2432"/>
            <a:chExt cx="3070" cy="1259"/>
          </a:xfrm>
        </p:grpSpPr>
        <p:sp>
          <p:nvSpPr>
            <p:cNvPr id="112" name="Freeform 26">
              <a:extLst>
                <a:ext uri="{FF2B5EF4-FFF2-40B4-BE49-F238E27FC236}">
                  <a16:creationId xmlns:a16="http://schemas.microsoft.com/office/drawing/2014/main" id="{87BE4853-1141-6346-AB76-7F109427DE7E}"/>
                </a:ext>
              </a:extLst>
            </p:cNvPr>
            <p:cNvSpPr>
              <a:spLocks/>
            </p:cNvSpPr>
            <p:nvPr/>
          </p:nvSpPr>
          <p:spPr bwMode="auto">
            <a:xfrm>
              <a:off x="678" y="2556"/>
              <a:ext cx="2481"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Line 28">
              <a:extLst>
                <a:ext uri="{FF2B5EF4-FFF2-40B4-BE49-F238E27FC236}">
                  <a16:creationId xmlns:a16="http://schemas.microsoft.com/office/drawing/2014/main" id="{EC26311E-99BB-1542-99FB-E558D040D98E}"/>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4" name="Line 29">
              <a:extLst>
                <a:ext uri="{FF2B5EF4-FFF2-40B4-BE49-F238E27FC236}">
                  <a16:creationId xmlns:a16="http://schemas.microsoft.com/office/drawing/2014/main" id="{FE2B50C7-7D72-3942-9A3E-8BA7DFA0DA2B}"/>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5" name="Line 31">
              <a:extLst>
                <a:ext uri="{FF2B5EF4-FFF2-40B4-BE49-F238E27FC236}">
                  <a16:creationId xmlns:a16="http://schemas.microsoft.com/office/drawing/2014/main" id="{D7188C24-3E4F-7041-920C-19DDFB19B36C}"/>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6" name="Line 32">
              <a:extLst>
                <a:ext uri="{FF2B5EF4-FFF2-40B4-BE49-F238E27FC236}">
                  <a16:creationId xmlns:a16="http://schemas.microsoft.com/office/drawing/2014/main" id="{DAE1910D-F0E1-B146-A3C4-50DBFA7AD125}"/>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7" name="Text Box 33">
              <a:extLst>
                <a:ext uri="{FF2B5EF4-FFF2-40B4-BE49-F238E27FC236}">
                  <a16:creationId xmlns:a16="http://schemas.microsoft.com/office/drawing/2014/main" id="{DF448B5C-FD99-294E-BBAD-2F62F67BC92D}"/>
                </a:ext>
              </a:extLst>
            </p:cNvPr>
            <p:cNvSpPr txBox="1">
              <a:spLocks noChangeArrowheads="1"/>
            </p:cNvSpPr>
            <p:nvPr/>
          </p:nvSpPr>
          <p:spPr bwMode="auto">
            <a:xfrm>
              <a:off x="380" y="2453"/>
              <a:ext cx="23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W</a:t>
              </a:r>
            </a:p>
          </p:txBody>
        </p:sp>
        <p:sp>
          <p:nvSpPr>
            <p:cNvPr id="118" name="Text Box 34">
              <a:extLst>
                <a:ext uri="{FF2B5EF4-FFF2-40B4-BE49-F238E27FC236}">
                  <a16:creationId xmlns:a16="http://schemas.microsoft.com/office/drawing/2014/main" id="{534147C9-A806-C44A-BFF0-BF16B2C1BCC3}"/>
                </a:ext>
              </a:extLst>
            </p:cNvPr>
            <p:cNvSpPr txBox="1">
              <a:spLocks noChangeArrowheads="1"/>
            </p:cNvSpPr>
            <p:nvPr/>
          </p:nvSpPr>
          <p:spPr bwMode="auto">
            <a:xfrm>
              <a:off x="279" y="3008"/>
              <a:ext cx="350"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W/2</a:t>
              </a:r>
            </a:p>
          </p:txBody>
        </p:sp>
      </p:grpSp>
      <p:grpSp>
        <p:nvGrpSpPr>
          <p:cNvPr id="119" name="Group 45">
            <a:extLst>
              <a:ext uri="{FF2B5EF4-FFF2-40B4-BE49-F238E27FC236}">
                <a16:creationId xmlns:a16="http://schemas.microsoft.com/office/drawing/2014/main" id="{5ABBAFA2-06B8-9741-9298-800D1B732926}"/>
              </a:ext>
            </a:extLst>
          </p:cNvPr>
          <p:cNvGrpSpPr>
            <a:grpSpLocks/>
          </p:cNvGrpSpPr>
          <p:nvPr/>
        </p:nvGrpSpPr>
        <p:grpSpPr bwMode="auto">
          <a:xfrm>
            <a:off x="3136901" y="3552826"/>
            <a:ext cx="3795713" cy="620712"/>
            <a:chOff x="1722" y="2139"/>
            <a:chExt cx="2391" cy="391"/>
          </a:xfrm>
        </p:grpSpPr>
        <p:sp>
          <p:nvSpPr>
            <p:cNvPr id="226" name="Text Box 36">
              <a:extLst>
                <a:ext uri="{FF2B5EF4-FFF2-40B4-BE49-F238E27FC236}">
                  <a16:creationId xmlns:a16="http://schemas.microsoft.com/office/drawing/2014/main" id="{DDD56DFE-EB09-104F-A413-BED7F3530A48}"/>
                </a:ext>
              </a:extLst>
            </p:cNvPr>
            <p:cNvSpPr txBox="1">
              <a:spLocks noChangeArrowheads="1"/>
            </p:cNvSpPr>
            <p:nvPr/>
          </p:nvSpPr>
          <p:spPr bwMode="auto">
            <a:xfrm>
              <a:off x="1722" y="2219"/>
              <a:ext cx="1346"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平均 TCP 吞吐量 = </a:t>
              </a:r>
              <a:r>
                <a:rPr kumimoji="0" lang="en-US" sz="1800" b="0" i="0" u="none" strike="noStrike" kern="1200" cap="none" spc="0" normalizeH="0" baseline="0" noProof="0" dirty="0" err="1">
                  <a:ln>
                    <a:noFill/>
                  </a:ln>
                  <a:solidFill>
                    <a:prstClr val="black"/>
                  </a:solidFill>
                  <a:effectLst/>
                  <a:uLnTx/>
                  <a:uFillTx/>
                  <a:latin typeface="Tahoma" charset="0"/>
                  <a:ea typeface="ＭＳ Ｐゴシック" charset="0"/>
                  <a:cs typeface="+mn-cs"/>
                </a:rPr>
                <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
              </a:r>
            </a:p>
          </p:txBody>
        </p:sp>
        <p:grpSp>
          <p:nvGrpSpPr>
            <p:cNvPr id="227" name="Group 44">
              <a:extLst>
                <a:ext uri="{FF2B5EF4-FFF2-40B4-BE49-F238E27FC236}">
                  <a16:creationId xmlns:a16="http://schemas.microsoft.com/office/drawing/2014/main" id="{7F3C094F-37E8-BF4F-A2D1-A321E6F77E52}"/>
                </a:ext>
              </a:extLst>
            </p:cNvPr>
            <p:cNvGrpSpPr>
              <a:grpSpLocks/>
            </p:cNvGrpSpPr>
            <p:nvPr/>
          </p:nvGrpSpPr>
          <p:grpSpPr bwMode="auto">
            <a:xfrm>
              <a:off x="2986" y="2139"/>
              <a:ext cx="1127" cy="391"/>
              <a:chOff x="3498" y="2153"/>
              <a:chExt cx="1127" cy="391"/>
            </a:xfrm>
          </p:grpSpPr>
          <p:sp>
            <p:nvSpPr>
              <p:cNvPr id="228" name="Text Box 37">
                <a:extLst>
                  <a:ext uri="{FF2B5EF4-FFF2-40B4-BE49-F238E27FC236}">
                    <a16:creationId xmlns:a16="http://schemas.microsoft.com/office/drawing/2014/main" id="{2E24271A-6DDD-1648-B2F8-10D2A963FF50}"/>
                  </a:ext>
                </a:extLst>
              </p:cNvPr>
              <p:cNvSpPr txBox="1">
                <a:spLocks noChangeArrowheads="1"/>
              </p:cNvSpPr>
              <p:nvPr/>
            </p:nvSpPr>
            <p:spPr bwMode="auto">
              <a:xfrm>
                <a:off x="3501" y="2153"/>
                <a:ext cx="19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3</a:t>
                </a:r>
              </a:p>
            </p:txBody>
          </p:sp>
          <p:sp>
            <p:nvSpPr>
              <p:cNvPr id="229" name="Text Box 38">
                <a:extLst>
                  <a:ext uri="{FF2B5EF4-FFF2-40B4-BE49-F238E27FC236}">
                    <a16:creationId xmlns:a16="http://schemas.microsoft.com/office/drawing/2014/main" id="{FB2746A8-19CD-4E42-BB7E-2744F8CAFB22}"/>
                  </a:ext>
                </a:extLst>
              </p:cNvPr>
              <p:cNvSpPr txBox="1">
                <a:spLocks noChangeArrowheads="1"/>
              </p:cNvSpPr>
              <p:nvPr/>
            </p:nvSpPr>
            <p:spPr bwMode="auto">
              <a:xfrm>
                <a:off x="3498" y="2313"/>
                <a:ext cx="19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4</a:t>
                </a:r>
              </a:p>
            </p:txBody>
          </p:sp>
          <p:sp>
            <p:nvSpPr>
              <p:cNvPr id="230" name="Line 39">
                <a:extLst>
                  <a:ext uri="{FF2B5EF4-FFF2-40B4-BE49-F238E27FC236}">
                    <a16:creationId xmlns:a16="http://schemas.microsoft.com/office/drawing/2014/main" id="{8AD172DC-C99E-2844-BA6A-609B98EAD2EC}"/>
                  </a:ext>
                </a:extLst>
              </p:cNvPr>
              <p:cNvSpPr>
                <a:spLocks noChangeShapeType="1"/>
              </p:cNvSpPr>
              <p:nvPr/>
            </p:nvSpPr>
            <p:spPr bwMode="auto">
              <a:xfrm>
                <a:off x="3550" y="2352"/>
                <a:ext cx="8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31" name="Text Box 40">
                <a:extLst>
                  <a:ext uri="{FF2B5EF4-FFF2-40B4-BE49-F238E27FC236}">
                    <a16:creationId xmlns:a16="http://schemas.microsoft.com/office/drawing/2014/main" id="{DD4B149A-D947-844C-BA9A-30A9A4EC2FC5}"/>
                  </a:ext>
                </a:extLst>
              </p:cNvPr>
              <p:cNvSpPr txBox="1">
                <a:spLocks noChangeArrowheads="1"/>
              </p:cNvSpPr>
              <p:nvPr/>
            </p:nvSpPr>
            <p:spPr bwMode="auto">
              <a:xfrm>
                <a:off x="3702" y="2157"/>
                <a:ext cx="246"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W</a:t>
                </a:r>
              </a:p>
            </p:txBody>
          </p:sp>
          <p:sp>
            <p:nvSpPr>
              <p:cNvPr id="232" name="Text Box 41">
                <a:extLst>
                  <a:ext uri="{FF2B5EF4-FFF2-40B4-BE49-F238E27FC236}">
                    <a16:creationId xmlns:a16="http://schemas.microsoft.com/office/drawing/2014/main" id="{949B8463-ABEF-E142-BF66-78767BC6FD23}"/>
                  </a:ext>
                </a:extLst>
              </p:cNvPr>
              <p:cNvSpPr txBox="1">
                <a:spLocks noChangeArrowheads="1"/>
              </p:cNvSpPr>
              <p:nvPr/>
            </p:nvSpPr>
            <p:spPr bwMode="auto">
              <a:xfrm>
                <a:off x="3658" y="2309"/>
                <a:ext cx="373"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RTT</a:t>
                </a:r>
              </a:p>
            </p:txBody>
          </p:sp>
          <p:sp>
            <p:nvSpPr>
              <p:cNvPr id="233" name="Line 42">
                <a:extLst>
                  <a:ext uri="{FF2B5EF4-FFF2-40B4-BE49-F238E27FC236}">
                    <a16:creationId xmlns:a16="http://schemas.microsoft.com/office/drawing/2014/main" id="{107225BD-E940-704B-9784-A6356D11EE9A}"/>
                  </a:ext>
                </a:extLst>
              </p:cNvPr>
              <p:cNvSpPr>
                <a:spLocks noChangeShapeType="1"/>
              </p:cNvSpPr>
              <p:nvPr/>
            </p:nvSpPr>
            <p:spPr bwMode="auto">
              <a:xfrm>
                <a:off x="3726" y="2352"/>
                <a:ext cx="21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34" name="Text Box 43">
                <a:extLst>
                  <a:ext uri="{FF2B5EF4-FFF2-40B4-BE49-F238E27FC236}">
                    <a16:creationId xmlns:a16="http://schemas.microsoft.com/office/drawing/2014/main" id="{C0D4944B-72B7-EC40-8E2B-25FE3FCEDF1C}"/>
                  </a:ext>
                </a:extLst>
              </p:cNvPr>
              <p:cNvSpPr txBox="1">
                <a:spLocks noChangeArrowheads="1"/>
              </p:cNvSpPr>
              <p:nvPr/>
            </p:nvSpPr>
            <p:spPr bwMode="auto">
              <a:xfrm>
                <a:off x="3975" y="2243"/>
                <a:ext cx="650"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字节/秒</a:t>
                </a:r>
              </a:p>
            </p:txBody>
          </p:sp>
        </p:grpSp>
      </p:grpSp>
    </p:spTree>
    <p:extLst>
      <p:ext uri="{BB962C8B-B14F-4D97-AF65-F5344CB8AC3E}">
        <p14:creationId xmlns:p14="http://schemas.microsoft.com/office/powerpoint/2010/main" val="47363957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8541"/>
            <a:ext cx="11393310" cy="894622"/>
          </a:xfrm>
        </p:spPr>
        <p:txBody>
          <a:bodyPr>
            <a:normAutofit/>
          </a:bodyPr>
          <a:lstStyle/>
          <a:p>
            <a:r>
              <a:rPr lang="en-US" altLang="en-US" sz="4800" dirty="0">
                <a:ea typeface="ＭＳ Ｐゴシック" panose="020B0600070205080204" pitchFamily="34" charset="-128"/>
              </a:rPr>
              <a:t>长肥管道上的 TCP</a:t>
            </a:r>
            <a:r>
              <a:rPr lang="en-US" altLang="ja-JP" sz="4800" dirty="0">
                <a:ea typeface="ＭＳ Ｐゴシック" panose="020B0600070205080204" pitchFamily="34" charset="-128"/>
              </a:rPr>
              <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传输层：3-149</a:t>
            </a:r>
            <a:fld id="{C4204591-24BD-A542-B9D5-F8D8A88D2FEE}" type="slidenum">
              <a:rPr lang="en-US" smtClean="0"/>
              <a:pPr/>
              <a:t/>
            </a:fld>
            <a:endParaRPr lang="en-US" dirty="0"/>
          </a:p>
        </p:txBody>
      </p:sp>
      <p:sp>
        <p:nvSpPr>
          <p:cNvPr id="23" name="Rectangle 3">
            <a:extLst>
              <a:ext uri="{FF2B5EF4-FFF2-40B4-BE49-F238E27FC236}">
                <a16:creationId xmlns:a16="http://schemas.microsoft.com/office/drawing/2014/main" id="{696F0B06-BB54-2C48-A80B-900AA14FDD2F}"/>
              </a:ext>
            </a:extLst>
          </p:cNvPr>
          <p:cNvSpPr txBox="1">
            <a:spLocks noChangeArrowheads="1"/>
          </p:cNvSpPr>
          <p:nvPr/>
        </p:nvSpPr>
        <p:spPr>
          <a:xfrm>
            <a:off x="798690" y="1322387"/>
            <a:ext cx="11049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ＭＳ Ｐゴシック" panose="020B0600070205080204" pitchFamily="34" charset="-128"/>
              </a:rPr>
              <a:t>示例：1500 字节报文段、100ms RTT，希望达到 10 Gbps 吞吐量</a:t>
            </a:r>
          </a:p>
          <a:p>
            <a:r>
              <a:rPr lang="en-US" altLang="en-US" dirty="0">
                <a:ea typeface="ＭＳ Ｐゴシック" panose="020B0600070205080204" pitchFamily="34" charset="-128"/>
              </a:rPr>
              <a:t>需要 W = 83,333 个在途报文段</a:t>
            </a:r>
          </a:p>
          <a:p>
            <a:r>
              <a:rPr lang="en-US" altLang="en-US" dirty="0">
                <a:ea typeface="ＭＳ Ｐゴシック" panose="020B0600070205080204" pitchFamily="34" charset="-128"/>
              </a:rPr>
              <a:t>按报文段丢失概率 L 表示的吞吐量 [Mathis 1997]：</a:t>
            </a:r>
            <a:r>
              <a:rPr lang="en-US" altLang="en-US" sz="2000" dirty="0">
                <a:ea typeface="ＭＳ Ｐゴシック" panose="020B0600070205080204" pitchFamily="34" charset="-128"/>
              </a:rPr>
              <a:t/>
            </a:r>
            <a:br>
              <a:rPr lang="en-US" altLang="en-US" dirty="0">
                <a:ea typeface="ＭＳ Ｐゴシック" panose="020B0600070205080204" pitchFamily="34" charset="-128"/>
              </a:rPr>
            </a:br>
            <a:br>
              <a:rPr lang="en-US" altLang="en-US" dirty="0">
                <a:ea typeface="ＭＳ Ｐゴシック" panose="020B0600070205080204" pitchFamily="34" charset="-128"/>
              </a:rPr>
            </a:br>
            <a:br>
              <a:rPr lang="en-US" altLang="en-US" dirty="0">
                <a:ea typeface="ＭＳ Ｐゴシック" panose="020B0600070205080204" pitchFamily="34" charset="-128"/>
              </a:rPr>
            </a:br>
            <a:endParaRPr lang="en-US" altLang="en-US" dirty="0">
              <a:ea typeface="ＭＳ Ｐゴシック" panose="020B0600070205080204" pitchFamily="34" charset="-128"/>
            </a:endParaRPr>
          </a:p>
          <a:p>
            <a:pPr lvl="1">
              <a:buFont typeface="Wingdings" pitchFamily="2" charset="2"/>
              <a:buNone/>
            </a:pPr>
            <a:r>
              <a:rPr lang="en-US" altLang="en-US" dirty="0">
                <a:latin typeface="MS Mincho" panose="02020609040205080304" pitchFamily="49" charset="-128"/>
                <a:ea typeface="MS Mincho" panose="02020609040205080304" pitchFamily="49" charset="-128"/>
              </a:rPr>
              <a:t>➜ 要达到 10 Gbps 吞吐量，需要 L = 2·10-10 的丢失率，即极小的丢失率！</a:t>
            </a:r>
            <a:r>
              <a:rPr lang="en-US" altLang="en-US" sz="2800" dirty="0">
                <a:ea typeface="MS Mincho" panose="02020609040205080304" pitchFamily="49" charset="-128"/>
              </a:rPr>
              <a:t/>
            </a:r>
            <a:r>
              <a:rPr lang="en-US" altLang="en-US" sz="2800" dirty="0">
                <a:ea typeface="ＭＳ Ｐゴシック" panose="020B0600070205080204" pitchFamily="34" charset="-128"/>
              </a:rPr>
              <a:t/>
            </a:r>
            <a:r>
              <a:rPr lang="el-GR" altLang="en-US" sz="2800" dirty="0">
                <a:ea typeface="ＭＳ Ｐゴシック" panose="020B0600070205080204" pitchFamily="34" charset="-128"/>
              </a:rPr>
              <a:t/>
            </a:r>
            <a:r>
              <a:rPr lang="en-US" altLang="en-US" sz="2800" dirty="0">
                <a:ea typeface="ＭＳ Ｐゴシック" panose="020B0600070205080204" pitchFamily="34" charset="-128"/>
              </a:rPr>
              <a:t/>
            </a:r>
            <a:r>
              <a:rPr lang="en-US" altLang="en-US" sz="2800" baseline="30000" dirty="0">
                <a:ea typeface="ＭＳ Ｐゴシック" panose="020B0600070205080204" pitchFamily="34" charset="-128"/>
              </a:rPr>
              <a:t/>
            </a:r>
            <a:r>
              <a:rPr lang="en-US" altLang="en-US" sz="2800" i="1" dirty="0">
                <a:solidFill>
                  <a:srgbClr val="FF0000"/>
                </a:solidFill>
                <a:ea typeface="ＭＳ Ｐゴシック" panose="020B0600070205080204" pitchFamily="34" charset="-128"/>
              </a:rPr>
              <a:t/>
            </a:r>
            <a:r>
              <a:rPr lang="en-US" altLang="en-US" sz="2800" i="1" dirty="0">
                <a:solidFill>
                  <a:srgbClr val="C00000"/>
                </a:solidFill>
                <a:ea typeface="ＭＳ Ｐゴシック" panose="020B0600070205080204" pitchFamily="34" charset="-128"/>
              </a:rPr>
              <a:t/>
            </a:r>
            <a:endParaRPr lang="en-US" altLang="en-US" i="1" dirty="0">
              <a:solidFill>
                <a:srgbClr val="C00000"/>
              </a:solidFill>
              <a:ea typeface="ＭＳ Ｐゴシック" panose="020B0600070205080204" pitchFamily="34" charset="-128"/>
            </a:endParaRPr>
          </a:p>
          <a:p>
            <a:r>
              <a:rPr lang="en-US" altLang="en-US" dirty="0">
                <a:ea typeface="ＭＳ Ｐゴシック" panose="020B0600070205080204" pitchFamily="34" charset="-128"/>
              </a:rPr>
              <a:t>面向长距离、高速场景的 TCP 版本</a:t>
            </a:r>
            <a:endParaRPr lang="en-US" altLang="en-US" baseline="30000" dirty="0">
              <a:ea typeface="ＭＳ Ｐゴシック" panose="020B0600070205080204" pitchFamily="34" charset="-128"/>
            </a:endParaRPr>
          </a:p>
          <a:p>
            <a:endParaRPr lang="en-US" altLang="en-US" dirty="0">
              <a:ea typeface="ＭＳ Ｐゴシック" panose="020B0600070205080204" pitchFamily="34" charset="-128"/>
            </a:endParaRPr>
          </a:p>
        </p:txBody>
      </p:sp>
      <p:grpSp>
        <p:nvGrpSpPr>
          <p:cNvPr id="24" name="Group 16">
            <a:extLst>
              <a:ext uri="{FF2B5EF4-FFF2-40B4-BE49-F238E27FC236}">
                <a16:creationId xmlns:a16="http://schemas.microsoft.com/office/drawing/2014/main" id="{5F8EFB79-FA01-AB4F-8D0E-E8B63FD2E993}"/>
              </a:ext>
            </a:extLst>
          </p:cNvPr>
          <p:cNvGrpSpPr>
            <a:grpSpLocks/>
          </p:cNvGrpSpPr>
          <p:nvPr/>
        </p:nvGrpSpPr>
        <p:grpSpPr bwMode="auto">
          <a:xfrm>
            <a:off x="3700463" y="2947987"/>
            <a:ext cx="4160837" cy="962025"/>
            <a:chOff x="422" y="3400"/>
            <a:chExt cx="2621" cy="606"/>
          </a:xfrm>
        </p:grpSpPr>
        <p:sp>
          <p:nvSpPr>
            <p:cNvPr id="25" name="Text Box 6">
              <a:extLst>
                <a:ext uri="{FF2B5EF4-FFF2-40B4-BE49-F238E27FC236}">
                  <a16:creationId xmlns:a16="http://schemas.microsoft.com/office/drawing/2014/main" id="{0BBFDC36-5F58-EF4F-9C97-88D263D0ED3F}"/>
                </a:ext>
              </a:extLst>
            </p:cNvPr>
            <p:cNvSpPr txBox="1">
              <a:spLocks noChangeArrowheads="1"/>
            </p:cNvSpPr>
            <p:nvPr/>
          </p:nvSpPr>
          <p:spPr bwMode="auto">
            <a:xfrm>
              <a:off x="422" y="3566"/>
              <a:ext cx="1690"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TCP 吞吐量 = </a:t>
              </a:r>
            </a:p>
          </p:txBody>
        </p:sp>
        <p:sp>
          <p:nvSpPr>
            <p:cNvPr id="26" name="Text Box 7">
              <a:extLst>
                <a:ext uri="{FF2B5EF4-FFF2-40B4-BE49-F238E27FC236}">
                  <a16:creationId xmlns:a16="http://schemas.microsoft.com/office/drawing/2014/main" id="{859F51A4-20C5-BC47-AE4C-8134EB4A1453}"/>
                </a:ext>
              </a:extLst>
            </p:cNvPr>
            <p:cNvSpPr txBox="1">
              <a:spLocks noChangeArrowheads="1"/>
            </p:cNvSpPr>
            <p:nvPr/>
          </p:nvSpPr>
          <p:spPr bwMode="auto">
            <a:xfrm>
              <a:off x="2010" y="3470"/>
              <a:ext cx="490"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1.22</a:t>
              </a:r>
            </a:p>
          </p:txBody>
        </p:sp>
        <p:grpSp>
          <p:nvGrpSpPr>
            <p:cNvPr id="27" name="Group 15">
              <a:extLst>
                <a:ext uri="{FF2B5EF4-FFF2-40B4-BE49-F238E27FC236}">
                  <a16:creationId xmlns:a16="http://schemas.microsoft.com/office/drawing/2014/main" id="{AFBC9AEB-12BE-1143-8222-2D8D817FE3F4}"/>
                </a:ext>
              </a:extLst>
            </p:cNvPr>
            <p:cNvGrpSpPr>
              <a:grpSpLocks/>
            </p:cNvGrpSpPr>
            <p:nvPr/>
          </p:nvGrpSpPr>
          <p:grpSpPr bwMode="auto">
            <a:xfrm>
              <a:off x="2092" y="3400"/>
              <a:ext cx="951" cy="606"/>
              <a:chOff x="2092" y="3400"/>
              <a:chExt cx="951" cy="606"/>
            </a:xfrm>
          </p:grpSpPr>
          <p:sp>
            <p:nvSpPr>
              <p:cNvPr id="28" name="Text Box 8">
                <a:extLst>
                  <a:ext uri="{FF2B5EF4-FFF2-40B4-BE49-F238E27FC236}">
                    <a16:creationId xmlns:a16="http://schemas.microsoft.com/office/drawing/2014/main" id="{4EB4F3E6-4EFA-134A-9A5F-567B93B9FE08}"/>
                  </a:ext>
                </a:extLst>
              </p:cNvPr>
              <p:cNvSpPr txBox="1">
                <a:spLocks noChangeArrowheads="1"/>
              </p:cNvSpPr>
              <p:nvPr/>
            </p:nvSpPr>
            <p:spPr bwMode="auto">
              <a:xfrm>
                <a:off x="2423" y="3400"/>
                <a:ext cx="169"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b="1">
                    <a:latin typeface="Arial" charset="0"/>
                  </a:rPr>
                  <a:t>.</a:t>
                </a:r>
              </a:p>
            </p:txBody>
          </p:sp>
          <p:sp>
            <p:nvSpPr>
              <p:cNvPr id="29" name="Text Box 9">
                <a:extLst>
                  <a:ext uri="{FF2B5EF4-FFF2-40B4-BE49-F238E27FC236}">
                    <a16:creationId xmlns:a16="http://schemas.microsoft.com/office/drawing/2014/main" id="{CEE1A4A6-9422-C443-8FA5-15305579DADC}"/>
                  </a:ext>
                </a:extLst>
              </p:cNvPr>
              <p:cNvSpPr txBox="1">
                <a:spLocks noChangeArrowheads="1"/>
              </p:cNvSpPr>
              <p:nvPr/>
            </p:nvSpPr>
            <p:spPr bwMode="auto">
              <a:xfrm>
                <a:off x="2511" y="3472"/>
                <a:ext cx="532"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MSS</a:t>
                </a:r>
              </a:p>
            </p:txBody>
          </p:sp>
          <p:sp>
            <p:nvSpPr>
              <p:cNvPr id="30" name="Line 10">
                <a:extLst>
                  <a:ext uri="{FF2B5EF4-FFF2-40B4-BE49-F238E27FC236}">
                    <a16:creationId xmlns:a16="http://schemas.microsoft.com/office/drawing/2014/main" id="{A124A8A7-FD8A-824C-9635-231A146F3325}"/>
                  </a:ext>
                </a:extLst>
              </p:cNvPr>
              <p:cNvSpPr>
                <a:spLocks noChangeShapeType="1"/>
              </p:cNvSpPr>
              <p:nvPr/>
            </p:nvSpPr>
            <p:spPr bwMode="auto">
              <a:xfrm>
                <a:off x="2092" y="3720"/>
                <a:ext cx="873"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a:latin typeface="Tahoma" charset="0"/>
                  <a:ea typeface="ＭＳ Ｐゴシック" charset="0"/>
                </a:endParaRPr>
              </a:p>
            </p:txBody>
          </p:sp>
          <p:sp>
            <p:nvSpPr>
              <p:cNvPr id="31" name="Text Box 11">
                <a:extLst>
                  <a:ext uri="{FF2B5EF4-FFF2-40B4-BE49-F238E27FC236}">
                    <a16:creationId xmlns:a16="http://schemas.microsoft.com/office/drawing/2014/main" id="{812E9A9A-25F8-DD4E-B921-13BD0E7491EB}"/>
                  </a:ext>
                </a:extLst>
              </p:cNvPr>
              <p:cNvSpPr txBox="1">
                <a:spLocks noChangeArrowheads="1"/>
              </p:cNvSpPr>
              <p:nvPr/>
            </p:nvSpPr>
            <p:spPr bwMode="auto">
              <a:xfrm>
                <a:off x="2133" y="3696"/>
                <a:ext cx="489"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RTT</a:t>
                </a:r>
              </a:p>
            </p:txBody>
          </p:sp>
          <p:sp>
            <p:nvSpPr>
              <p:cNvPr id="32" name="Freeform 13">
                <a:extLst>
                  <a:ext uri="{FF2B5EF4-FFF2-40B4-BE49-F238E27FC236}">
                    <a16:creationId xmlns:a16="http://schemas.microsoft.com/office/drawing/2014/main" id="{EDEE7E5A-D012-CB4E-9DD0-30EEF091ECB2}"/>
                  </a:ext>
                </a:extLst>
              </p:cNvPr>
              <p:cNvSpPr>
                <a:spLocks/>
              </p:cNvSpPr>
              <p:nvPr/>
            </p:nvSpPr>
            <p:spPr bwMode="auto">
              <a:xfrm>
                <a:off x="2607" y="3740"/>
                <a:ext cx="294" cy="220"/>
              </a:xfrm>
              <a:custGeom>
                <a:avLst/>
                <a:gdLst>
                  <a:gd name="T0" fmla="*/ 0 w 294"/>
                  <a:gd name="T1" fmla="*/ 158 h 220"/>
                  <a:gd name="T2" fmla="*/ 32 w 294"/>
                  <a:gd name="T3" fmla="*/ 140 h 220"/>
                  <a:gd name="T4" fmla="*/ 72 w 294"/>
                  <a:gd name="T5" fmla="*/ 220 h 220"/>
                  <a:gd name="T6" fmla="*/ 132 w 294"/>
                  <a:gd name="T7" fmla="*/ 0 h 220"/>
                  <a:gd name="T8" fmla="*/ 294 w 294"/>
                  <a:gd name="T9" fmla="*/ 0 h 2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4" h="220">
                    <a:moveTo>
                      <a:pt x="0" y="158"/>
                    </a:moveTo>
                    <a:lnTo>
                      <a:pt x="32" y="140"/>
                    </a:lnTo>
                    <a:lnTo>
                      <a:pt x="72" y="220"/>
                    </a:lnTo>
                    <a:lnTo>
                      <a:pt x="132" y="0"/>
                    </a:lnTo>
                    <a:lnTo>
                      <a:pt x="294" y="0"/>
                    </a:lnTo>
                  </a:path>
                </a:pathLst>
              </a:custGeom>
              <a:noFill/>
              <a:ln w="28575"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 name="Text Box 14">
                <a:extLst>
                  <a:ext uri="{FF2B5EF4-FFF2-40B4-BE49-F238E27FC236}">
                    <a16:creationId xmlns:a16="http://schemas.microsoft.com/office/drawing/2014/main" id="{67AAFBC5-F6E4-C744-9728-50875F8E98FE}"/>
                  </a:ext>
                </a:extLst>
              </p:cNvPr>
              <p:cNvSpPr txBox="1">
                <a:spLocks noChangeArrowheads="1"/>
              </p:cNvSpPr>
              <p:nvPr/>
            </p:nvSpPr>
            <p:spPr bwMode="auto">
              <a:xfrm>
                <a:off x="2704" y="3718"/>
                <a:ext cx="223"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L</a:t>
                </a:r>
              </a:p>
            </p:txBody>
          </p:sp>
        </p:grpSp>
      </p:grpSp>
    </p:spTree>
    <p:extLst>
      <p:ext uri="{BB962C8B-B14F-4D97-AF65-F5344CB8AC3E}">
        <p14:creationId xmlns:p14="http://schemas.microsoft.com/office/powerpoint/2010/main" val="2184044512"/>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8880</TotalTime>
  <Words>16057</Words>
  <Application>Microsoft Macintosh PowerPoint</Application>
  <PresentationFormat>Widescreen</PresentationFormat>
  <Paragraphs>3311</Paragraphs>
  <Slides>149</Slides>
  <Notes>149</Notes>
  <HiddenSlides>0</HiddenSlides>
  <MMClips>0</MMClips>
  <ScaleCrop>false</ScaleCrop>
  <HeadingPairs>
    <vt:vector size="8" baseType="variant">
      <vt:variant>
        <vt:lpstr>Fonts Used</vt:lpstr>
      </vt:variant>
      <vt:variant>
        <vt:i4>15</vt:i4>
      </vt:variant>
      <vt:variant>
        <vt:lpstr>Theme</vt:lpstr>
      </vt:variant>
      <vt:variant>
        <vt:i4>1</vt:i4>
      </vt:variant>
      <vt:variant>
        <vt:lpstr>Embedded OLE Servers</vt:lpstr>
      </vt:variant>
      <vt:variant>
        <vt:i4>1</vt:i4>
      </vt:variant>
      <vt:variant>
        <vt:lpstr>Slide Titles</vt:lpstr>
      </vt:variant>
      <vt:variant>
        <vt:i4>149</vt:i4>
      </vt:variant>
    </vt:vector>
  </HeadingPairs>
  <TitlesOfParts>
    <vt:vector size="166" baseType="lpstr">
      <vt:lpstr>MS Mincho</vt:lpstr>
      <vt:lpstr>Arial</vt:lpstr>
      <vt:lpstr>Arial Narrow</vt:lpstr>
      <vt:lpstr>Calibri</vt:lpstr>
      <vt:lpstr>Calibri Light</vt:lpstr>
      <vt:lpstr>Comic Sans MS</vt:lpstr>
      <vt:lpstr>Courier</vt:lpstr>
      <vt:lpstr>Courier New</vt:lpstr>
      <vt:lpstr>Courier Std</vt:lpstr>
      <vt:lpstr>Gill Sans MT</vt:lpstr>
      <vt:lpstr>Symbol</vt:lpstr>
      <vt:lpstr>Tahoma</vt:lpstr>
      <vt:lpstr>Times New Roman</vt:lpstr>
      <vt:lpstr>Wingdings</vt:lpstr>
      <vt:lpstr>Wingdings 3</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PowerPoint Presentation</vt:lpstr>
      <vt:lpstr>PowerPoint Presentation</vt:lpstr>
      <vt:lpstr>PowerPoint Presentation</vt:lpstr>
      <vt:lpstr>PowerPoint Presentation</vt:lpstr>
      <vt:lpstr>PowerPoint Presentation</vt:lpstr>
      <vt:lpstr>Multiplexing/demultiplexing</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UDP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TCP CUBIC</vt:lpstr>
      <vt:lpstr>TCP CUBIC</vt:lpstr>
      <vt:lpstr>TCP and the congested “bottleneck link”</vt:lpstr>
      <vt:lpstr>TCP and the congested “bottleneck link”</vt:lpstr>
      <vt:lpstr>Delay-based TCP congestion control</vt:lpstr>
      <vt:lpstr>Delay-based TCP congestion control</vt:lpstr>
      <vt:lpstr>Explicit congestion notification (ECN)</vt:lpstr>
      <vt:lpstr>TCP fairness</vt:lpstr>
      <vt:lpstr>Q: is TCP Fair?</vt:lpstr>
      <vt:lpstr>Fairness: must all network apps be “fair”?</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lpstr>Additional Chapter 3 slides</vt:lpstr>
      <vt:lpstr>Go-Back-N: sender extended FSM</vt:lpstr>
      <vt:lpstr>Go-Back-N: receiver extended FSM</vt:lpstr>
      <vt:lpstr>TCP sender (simplified)</vt:lpstr>
      <vt:lpstr>TCP 3-way handshake FSM</vt:lpstr>
      <vt:lpstr>Closing a TCP connection</vt:lpstr>
      <vt:lpstr>TCP throughput</vt:lpstr>
      <vt:lpstr>TCP over “long, fat pipes”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James Kurose</cp:lastModifiedBy>
  <cp:revision>398</cp:revision>
  <dcterms:created xsi:type="dcterms:W3CDTF">2020-01-18T07:24:59Z</dcterms:created>
  <dcterms:modified xsi:type="dcterms:W3CDTF">2020-05-02T08:31:11Z</dcterms:modified>
</cp:coreProperties>
</file>