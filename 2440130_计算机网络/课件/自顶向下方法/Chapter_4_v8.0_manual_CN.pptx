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4"/>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054" r:id="rId14"/>
    <p:sldId id="1055" r:id="rId15"/>
    <p:sldId id="1057" r:id="rId16"/>
    <p:sldId id="1058" r:id="rId17"/>
    <p:sldId id="1195" r:id="rId18"/>
    <p:sldId id="1199" r:id="rId19"/>
    <p:sldId id="1200" r:id="rId20"/>
    <p:sldId id="1201" r:id="rId21"/>
    <p:sldId id="1202" r:id="rId22"/>
    <p:sldId id="1061" r:id="rId23"/>
    <p:sldId id="1066" r:id="rId24"/>
    <p:sldId id="1062" r:id="rId25"/>
    <p:sldId id="1063" r:id="rId26"/>
    <p:sldId id="1064" r:id="rId27"/>
    <p:sldId id="1203" r:id="rId28"/>
    <p:sldId id="1067" r:id="rId29"/>
    <p:sldId id="1068" r:id="rId30"/>
    <p:sldId id="1069" r:id="rId31"/>
    <p:sldId id="1070" r:id="rId32"/>
    <p:sldId id="1071" r:id="rId33"/>
    <p:sldId id="1072" r:id="rId34"/>
    <p:sldId id="1204" r:id="rId35"/>
    <p:sldId id="1073" r:id="rId36"/>
    <p:sldId id="1074" r:id="rId37"/>
    <p:sldId id="1205" r:id="rId38"/>
    <p:sldId id="277" r:id="rId39"/>
    <p:sldId id="1128" r:id="rId40"/>
    <p:sldId id="258" r:id="rId41"/>
    <p:sldId id="1076" r:id="rId42"/>
    <p:sldId id="1077" r:id="rId43"/>
    <p:sldId id="1078" r:id="rId44"/>
    <p:sldId id="1081" r:id="rId45"/>
    <p:sldId id="1213" r:id="rId46"/>
    <p:sldId id="1082" r:id="rId47"/>
    <p:sldId id="1083" r:id="rId48"/>
    <p:sldId id="1084" r:id="rId49"/>
    <p:sldId id="1085" r:id="rId50"/>
    <p:sldId id="1086" r:id="rId51"/>
    <p:sldId id="1087" r:id="rId52"/>
    <p:sldId id="1088" r:id="rId53"/>
    <p:sldId id="1089" r:id="rId54"/>
    <p:sldId id="1090" r:id="rId55"/>
    <p:sldId id="1091" r:id="rId56"/>
    <p:sldId id="1093" r:id="rId57"/>
    <p:sldId id="1092" r:id="rId58"/>
    <p:sldId id="1095" r:id="rId59"/>
    <p:sldId id="1096" r:id="rId60"/>
    <p:sldId id="1098" r:id="rId61"/>
    <p:sldId id="1214" r:id="rId62"/>
    <p:sldId id="1097" r:id="rId63"/>
    <p:sldId id="1104" r:id="rId64"/>
    <p:sldId id="1099" r:id="rId65"/>
    <p:sldId id="1100" r:id="rId66"/>
    <p:sldId id="1102" r:id="rId67"/>
    <p:sldId id="1101" r:id="rId68"/>
    <p:sldId id="1103" r:id="rId69"/>
    <p:sldId id="1105" r:id="rId70"/>
    <p:sldId id="1107" r:id="rId71"/>
    <p:sldId id="1108" r:id="rId72"/>
    <p:sldId id="1109" r:id="rId73"/>
    <p:sldId id="1218" r:id="rId74"/>
    <p:sldId id="1216" r:id="rId75"/>
    <p:sldId id="1110" r:id="rId76"/>
    <p:sldId id="1219" r:id="rId77"/>
    <p:sldId id="1111" r:id="rId78"/>
    <p:sldId id="1112" r:id="rId79"/>
    <p:sldId id="1113" r:id="rId80"/>
    <p:sldId id="1114" r:id="rId81"/>
    <p:sldId id="1115" r:id="rId82"/>
    <p:sldId id="1116" r:id="rId83"/>
    <p:sldId id="1117" r:id="rId84"/>
    <p:sldId id="1118" r:id="rId85"/>
    <p:sldId id="1194" r:id="rId86"/>
    <p:sldId id="1119" r:id="rId87"/>
    <p:sldId id="1192" r:id="rId88"/>
    <p:sldId id="1220" r:id="rId89"/>
    <p:sldId id="1120" r:id="rId90"/>
    <p:sldId id="1121" r:id="rId91"/>
    <p:sldId id="1221" r:id="rId92"/>
    <p:sldId id="1122" r:id="rId93"/>
    <p:sldId id="1123" r:id="rId94"/>
    <p:sldId id="1125" r:id="rId95"/>
    <p:sldId id="1223" r:id="rId96"/>
    <p:sldId id="1224" r:id="rId97"/>
    <p:sldId id="1127" r:id="rId98"/>
    <p:sldId id="1222" r:id="rId99"/>
    <p:sldId id="1038" r:id="rId100"/>
    <p:sldId id="1079" r:id="rId101"/>
    <p:sldId id="1080" r:id="rId102"/>
    <p:sldId id="1094" r:id="rId10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31348"/>
    <p:restoredTop sz="62941"/>
  </p:normalViewPr>
  <p:slideViewPr>
    <p:cSldViewPr snapToGrid="0" snapToObjects="1">
      <p:cViewPr varScale="1">
        <p:scale>
          <a:sx n="80" d="100"/>
          <a:sy n="80" d="100"/>
        </p:scale>
        <p:origin x="192" y="328"/>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07" Type="http://schemas.openxmlformats.org/officeDocument/2006/relationships/theme" Target="theme/theme1.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5/18/20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a:p>
        </p:txBody>
      </p:sp>
    </p:spTree>
    <p:extLst>
      <p:ext uri="{BB962C8B-B14F-4D97-AF65-F5344CB8AC3E}">
        <p14:creationId xmlns:p14="http://schemas.microsoft.com/office/powerpoint/2010/main" val="28213066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91016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a:p>
        </p:txBody>
      </p:sp>
    </p:spTree>
    <p:extLst>
      <p:ext uri="{BB962C8B-B14F-4D97-AF65-F5344CB8AC3E}">
        <p14:creationId xmlns:p14="http://schemas.microsoft.com/office/powerpoint/2010/main" val="291036230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63</a:t>
            </a:fld>
            <a:endParaRPr lang="en-US"/>
          </a:p>
        </p:txBody>
      </p:sp>
    </p:spTree>
    <p:extLst>
      <p:ext uri="{BB962C8B-B14F-4D97-AF65-F5344CB8AC3E}">
        <p14:creationId xmlns:p14="http://schemas.microsoft.com/office/powerpoint/2010/main" val="257439433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a:p>
        </p:txBody>
      </p:sp>
    </p:spTree>
    <p:extLst>
      <p:ext uri="{BB962C8B-B14F-4D97-AF65-F5344CB8AC3E}">
        <p14:creationId xmlns:p14="http://schemas.microsoft.com/office/powerpoint/2010/main" val="224179991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a:p>
        </p:txBody>
      </p:sp>
    </p:spTree>
    <p:extLst>
      <p:ext uri="{BB962C8B-B14F-4D97-AF65-F5344CB8AC3E}">
        <p14:creationId xmlns:p14="http://schemas.microsoft.com/office/powerpoint/2010/main" val="156977969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a:t>
            </a:r>
            <a:r>
              <a:rPr lang="en-US" sz="1200" kern="1200" dirty="0" err="1">
                <a:solidFill>
                  <a:schemeClr val="tx1"/>
                </a:solidFill>
                <a:effectLst/>
                <a:latin typeface="+mn-lt"/>
                <a:ea typeface="+mn-ea"/>
                <a:cs typeface="+mn-cs"/>
              </a:rPr>
              <a:t>whiteboxes</a:t>
            </a:r>
            <a:r>
              <a:rPr lang="en-US" sz="1200" kern="1200" dirty="0">
                <a:solidFill>
                  <a:schemeClr val="tx1"/>
                </a:solidFill>
                <a:effectLst/>
                <a:latin typeface="+mn-lt"/>
                <a:ea typeface="+mn-ea"/>
                <a:cs typeface="+mn-cs"/>
              </a:rPr>
              <a:t>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a:p>
        </p:txBody>
      </p:sp>
    </p:spTree>
    <p:extLst>
      <p:ext uri="{BB962C8B-B14F-4D97-AF65-F5344CB8AC3E}">
        <p14:creationId xmlns:p14="http://schemas.microsoft.com/office/powerpoint/2010/main" val="152639813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100</a:t>
            </a:fld>
            <a:endParaRPr lang="en-US"/>
          </a:p>
        </p:txBody>
      </p:sp>
    </p:spTree>
    <p:extLst>
      <p:ext uri="{BB962C8B-B14F-4D97-AF65-F5344CB8AC3E}">
        <p14:creationId xmlns:p14="http://schemas.microsoft.com/office/powerpoint/2010/main" val="81524415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101</a:t>
            </a:fld>
            <a:endParaRPr lang="en-US"/>
          </a:p>
        </p:txBody>
      </p:sp>
    </p:spTree>
    <p:extLst>
      <p:ext uri="{BB962C8B-B14F-4D97-AF65-F5344CB8AC3E}">
        <p14:creationId xmlns:p14="http://schemas.microsoft.com/office/powerpoint/2010/main" val="297177882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102</a:t>
            </a:fld>
            <a:endParaRPr lang="en-US"/>
          </a:p>
        </p:txBody>
      </p:sp>
    </p:spTree>
    <p:extLst>
      <p:ext uri="{BB962C8B-B14F-4D97-AF65-F5344CB8AC3E}">
        <p14:creationId xmlns:p14="http://schemas.microsoft.com/office/powerpoint/2010/main" val="38708381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7" Type="http://schemas.openxmlformats.org/officeDocument/2006/relationships/image" Target="../media/image9.png"/><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36.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6.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3.png"/><Relationship Id="rId7" Type="http://schemas.openxmlformats.org/officeDocument/2006/relationships/image" Target="../media/image6.png"/><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42.png"/><Relationship Id="rId7" Type="http://schemas.openxmlformats.org/officeDocument/2006/relationships/image" Target="../media/image20.png"/><Relationship Id="rId12" Type="http://schemas.openxmlformats.org/officeDocument/2006/relationships/image" Target="../media/image23.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2.png"/><Relationship Id="rId5" Type="http://schemas.openxmlformats.org/officeDocument/2006/relationships/image" Target="../media/image44.png"/><Relationship Id="rId10" Type="http://schemas.openxmlformats.org/officeDocument/2006/relationships/image" Target="../media/image45.png"/><Relationship Id="rId4" Type="http://schemas.openxmlformats.org/officeDocument/2006/relationships/image" Target="../media/image43.png"/><Relationship Id="rId9" Type="http://schemas.openxmlformats.org/officeDocument/2006/relationships/image" Target="../media/image18.png"/></Relationships>
</file>

<file path=ppt/slides/_rels/slide9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《计算机网络：自顶向下方法》第 8 版 Jim Kurose、Keith Ross，Pearson，2020</a:t>
            </a:r>
            <a:br>
              <a:rPr lang="en-US" altLang="en-US" sz="2800" dirty="0">
                <a:solidFill>
                  <a:srgbClr val="008000"/>
                </a:solidFill>
                <a:latin typeface="+mn-lt"/>
              </a:rPr>
            </a:br>
            <a:r>
              <a:rPr lang="en-US" altLang="en-US" sz="1800" dirty="0">
                <a:latin typeface="+mn-lt"/>
              </a:rPr>
              <a:t/>
            </a:r>
            <a:r>
              <a:rPr lang="en-US" altLang="en-US" sz="1800" baseline="30000" dirty="0">
                <a:latin typeface="+mn-lt"/>
              </a:rPr>
              <a:t/>
            </a:r>
            <a:r>
              <a:rPr lang="en-US" altLang="en-US" sz="1800" dirty="0">
                <a:latin typeface="+mn-lt"/>
              </a:rPr>
              <a:t/>
            </a:r>
            <a:br>
              <a:rPr lang="en-US" altLang="en-US" sz="1800" dirty="0">
                <a:latin typeface="+mn-lt"/>
              </a:rPr>
            </a:br>
            <a:r>
              <a:rPr lang="en-US" altLang="en-US" sz="1800" dirty="0">
                <a:latin typeface="+mn-lt"/>
              </a:rPr>
              <a:t/>
            </a:r>
            <a:br>
              <a:rPr lang="en-US" altLang="en-US" sz="1800" dirty="0">
                <a:latin typeface="+mn-lt"/>
              </a:rPr>
            </a:br>
            <a:r>
              <a:rPr lang="en-US" altLang="en-US" sz="1800" dirty="0">
                <a:latin typeface="+mn-lt"/>
              </a:rPr>
              <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第 4 章 网络层：</a:t>
            </a:r>
            <a:br>
              <a:rPr lang="en-US" altLang="en-US" sz="6000" b="1" dirty="0">
                <a:solidFill>
                  <a:srgbClr val="000099"/>
                </a:solidFill>
                <a:latin typeface="+mj-lt"/>
              </a:rPr>
            </a:br>
            <a:r>
              <a:rPr lang="en-US" altLang="en-US" sz="5400" b="1" dirty="0">
                <a:solidFill>
                  <a:srgbClr val="000099"/>
                </a:solidFill>
                <a:latin typeface="+mj-lt"/>
              </a:rPr>
              <a:t/>
            </a:r>
          </a:p>
          <a:p>
            <a:pPr eaLnBrk="1" hangingPunct="1">
              <a:lnSpc>
                <a:spcPct val="85000"/>
              </a:lnSpc>
            </a:pPr>
            <a:r>
              <a:rPr lang="en-US" altLang="en-US" sz="5400" b="1" dirty="0">
                <a:solidFill>
                  <a:srgbClr val="000099"/>
                </a:solidFill>
                <a:latin typeface="+mj-lt"/>
              </a:rPr>
              <a:t>数据平面</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关于使用这些 PowerPoint 幻灯片的说明：</a:t>
            </a:r>
          </a:p>
          <a:p>
            <a:r>
              <a:rPr lang="en-US" altLang="en-US" sz="1400" dirty="0">
                <a:latin typeface="+mn-lt"/>
              </a:rPr>
              <a:t>我们将这些幻灯片免费提供给所有人（教师、学生、读者）使用。它们采用 PowerPoint 格式，因此你可以看到动画，也可以按需要添加、修改、删除幻灯片（包括本页）及其中内容。这些材料显然凝结了我们大量工作。作为使用回报，我们只提出以下要求：</a:t>
            </a:r>
            <a:r>
              <a:rPr lang="en-US" altLang="ja-JP" sz="1400" dirty="0">
                <a:latin typeface="+mn-lt"/>
              </a:rPr>
              <a:t/>
            </a:r>
            <a:r>
              <a:rPr lang="en-US" altLang="ja-JP" sz="1400" i="1" dirty="0">
                <a:latin typeface="+mn-lt"/>
              </a:rPr>
              <a:t/>
            </a:r>
            <a:r>
              <a:rPr lang="en-US" altLang="ja-JP" sz="1400" dirty="0">
                <a:latin typeface="+mn-lt"/>
              </a:rPr>
              <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如果你使用这些幻灯片（例如用于课堂），请说明其来源（毕竟，我们也希望大家使用我们的教材！）</a:t>
            </a:r>
            <a:r>
              <a:rPr lang="en-US" altLang="ja-JP" sz="1400" dirty="0">
                <a:latin typeface="+mn-lt"/>
                <a:cs typeface="Calibri" panose="020F0502020204030204" pitchFamily="34" charset="0"/>
              </a:rPr>
              <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如果你在网站上发布任何幻灯片，请注明它们改编自（或可能完全相同于）我们的幻灯片，并注明我们对这些材料拥有版权。</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修订历史请参见本页的幻灯片备注。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感谢使用，祝学习愉快！JFK/KWR</a:t>
            </a:r>
          </a:p>
          <a:p>
            <a:pPr>
              <a:lnSpc>
                <a:spcPct val="85000"/>
              </a:lnSpc>
            </a:pPr>
            <a:endParaRPr lang="en-US" altLang="en-US" sz="1400" dirty="0">
              <a:latin typeface="+mn-lt"/>
            </a:endParaRPr>
          </a:p>
          <a:p>
            <a:pPr>
              <a:lnSpc>
                <a:spcPct val="85000"/>
              </a:lnSpc>
            </a:pPr>
            <a:r>
              <a:rPr lang="en-US" altLang="en-US" sz="1400" dirty="0">
                <a:latin typeface="+mn-lt"/>
              </a:rPr>
              <a:t>     所有材料版权 1996-2020</a:t>
            </a:r>
          </a:p>
          <a:p>
            <a:pPr>
              <a:lnSpc>
                <a:spcPct val="85000"/>
              </a:lnSpc>
            </a:pPr>
            <a:r>
              <a:rPr lang="en-US" altLang="en-US" sz="1400" dirty="0">
                <a:latin typeface="+mn-lt"/>
              </a:rPr>
              <a:t>     J.F. Kurose 和 K.W. Ross，保留所有权利</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网络层：本章目标</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理解网络层服务背后的原理，重点关注数据平面：</a:t>
            </a:r>
          </a:p>
          <a:p>
            <a:pPr lvl="1">
              <a:buFont typeface="Arial"/>
              <a:buChar char="•"/>
              <a:defRPr/>
            </a:pPr>
            <a:r>
              <a:rPr lang="en-US" sz="2800" dirty="0"/>
              <a:t>网络层服务模型</a:t>
            </a:r>
          </a:p>
          <a:p>
            <a:pPr lvl="1">
              <a:buFont typeface="Arial"/>
              <a:buChar char="•"/>
              <a:defRPr/>
            </a:pPr>
            <a:r>
              <a:rPr lang="en-US" sz="2800" dirty="0"/>
              <a:t>转发与路由选择</a:t>
            </a:r>
          </a:p>
          <a:p>
            <a:pPr lvl="1">
              <a:buFont typeface="Arial"/>
              <a:buChar char="•"/>
              <a:defRPr/>
            </a:pPr>
            <a:r>
              <a:rPr lang="en-US" sz="2800" dirty="0"/>
              <a:t>路由器如何工作</a:t>
            </a:r>
          </a:p>
          <a:p>
            <a:pPr lvl="1">
              <a:buFont typeface="Arial"/>
              <a:buChar char="•"/>
              <a:defRPr/>
            </a:pPr>
            <a:r>
              <a:rPr lang="en-US" sz="2800" dirty="0"/>
              <a:t>编址</a:t>
            </a:r>
          </a:p>
          <a:p>
            <a:pPr lvl="1">
              <a:buFont typeface="Arial"/>
              <a:buChar char="•"/>
              <a:defRPr/>
            </a:pPr>
            <a:r>
              <a:rPr lang="en-US" sz="2800" dirty="0"/>
              <a:t>通用转发</a:t>
            </a:r>
          </a:p>
          <a:p>
            <a:pPr lvl="1">
              <a:buFont typeface="Arial"/>
              <a:buChar char="•"/>
              <a:defRPr/>
            </a:pPr>
            <a:r>
              <a:rPr lang="en-US" sz="2800" dirty="0"/>
              <a:t>互联网体系结构</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在互联网中的实例化与实现</a:t>
            </a:r>
          </a:p>
          <a:p>
            <a:pPr lvl="1"/>
            <a:r>
              <a:rPr lang="en-US" sz="2800" dirty="0"/>
              <a:t>IP 协议</a:t>
            </a:r>
          </a:p>
          <a:p>
            <a:pPr lvl="1"/>
            <a:r>
              <a:rPr lang="en-US" sz="2800" dirty="0"/>
              <a:t>NAT、中间盒</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网络层：4-2</a:t>
            </a:r>
            <a:fld id="{C4204591-24BD-A542-B9D5-F8D8A88D2FEE}" type="slidenum">
              <a:rPr lang="en-US" smtClean="0"/>
              <a:pPr/>
              <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网络层：“数据平面”路线图</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网络层：概览</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数据平面</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控制平面</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ＭＳ Ｐゴシック" panose="020B0600070205080204" pitchFamily="34" charset="-128"/>
              </a:rPr>
              <a:t>通用转发、SDN</a:t>
            </a:r>
          </a:p>
          <a:p>
            <a:pPr lvl="1">
              <a:spcBef>
                <a:spcPts val="0"/>
              </a:spcBef>
            </a:pPr>
            <a:r>
              <a:rPr lang="en-US" altLang="en-US" sz="2800" dirty="0" err="1">
                <a:ea typeface="ＭＳ Ｐゴシック" panose="020B0600070205080204" pitchFamily="34" charset="-128"/>
              </a:rPr>
              <a:t>匹配+动作</a:t>
            </a:r>
            <a:endParaRPr lang="en-US" altLang="en-US" sz="2800" dirty="0">
              <a:ea typeface="ＭＳ Ｐゴシック" panose="020B0600070205080204" pitchFamily="34" charset="-128"/>
            </a:endParaRPr>
          </a:p>
          <a:p>
            <a:pPr lvl="1">
              <a:spcBef>
                <a:spcPts val="0"/>
              </a:spcBef>
            </a:pPr>
            <a:r>
              <a:rPr lang="en-US" altLang="en-US" sz="2800" dirty="0">
                <a:ea typeface="ＭＳ Ｐゴシック" panose="020B0600070205080204" pitchFamily="34" charset="-128"/>
              </a:rPr>
              <a:t>OpenFlow：匹配+动作的实践</a:t>
            </a:r>
            <a:r>
              <a:rPr lang="en-US" altLang="en-US" sz="2800" dirty="0" err="1">
                <a:ea typeface="ＭＳ Ｐゴシック" panose="020B0600070205080204" pitchFamily="34" charset="-128"/>
              </a:rPr>
              <a:t/>
            </a:r>
            <a:r>
              <a:rPr lang="en-US" altLang="en-US" sz="2800" dirty="0">
                <a:ea typeface="ＭＳ Ｐゴシック" panose="020B0600070205080204" pitchFamily="34" charset="-128"/>
              </a:rPr>
              <a:t/>
            </a:r>
          </a:p>
          <a:p>
            <a:pPr marL="407988" indent="-277813">
              <a:spcBef>
                <a:spcPts val="600"/>
              </a:spcBef>
            </a:pPr>
            <a:r>
              <a:rPr lang="en-US" altLang="en-US" sz="3200" dirty="0">
                <a:ea typeface="ＭＳ Ｐゴシック" panose="020B0600070205080204" pitchFamily="34" charset="-128"/>
              </a:rPr>
              <a:t>中间盒</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网络层：4-3</a:t>
            </a:r>
            <a:fld id="{C4204591-24BD-A542-B9D5-F8D8A88D2FEE}" type="slidenum">
              <a:rPr lang="en-US" smtClean="0"/>
              <a:pPr/>
              <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路由器内部有什么</a:t>
            </a:r>
            <a:r>
              <a:rPr lang="en-US" altLang="ja-JP" sz="3200" dirty="0">
                <a:ea typeface="ＭＳ Ｐゴシック" panose="020B0600070205080204" pitchFamily="34" charset="-128"/>
                <a:cs typeface="Arial" panose="020B0604020202020204" pitchFamily="34" charset="0"/>
              </a:rPr>
              <a:t/>
            </a:r>
          </a:p>
          <a:p>
            <a:pPr lvl="1">
              <a:spcBef>
                <a:spcPts val="0"/>
              </a:spcBef>
            </a:pPr>
            <a:r>
              <a:rPr lang="en-US" altLang="ja-JP" sz="2800" dirty="0">
                <a:ea typeface="ＭＳ Ｐゴシック" panose="020B0600070205080204" pitchFamily="34" charset="-128"/>
                <a:cs typeface="Arial" panose="020B0604020202020204" pitchFamily="34" charset="0"/>
              </a:rPr>
              <a:t>输入端口、交换、输出端口</a:t>
            </a:r>
          </a:p>
          <a:p>
            <a:pPr lvl="1">
              <a:spcBef>
                <a:spcPts val="0"/>
              </a:spcBef>
            </a:pPr>
            <a:r>
              <a:rPr lang="en-US" altLang="ja-JP" sz="2800" dirty="0">
                <a:ea typeface="ＭＳ Ｐゴシック" panose="020B0600070205080204" pitchFamily="34" charset="-128"/>
                <a:cs typeface="Arial" panose="020B0604020202020204" pitchFamily="34" charset="0"/>
              </a:rPr>
              <a:t>缓冲区管理、调度</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IP：互联网协议</a:t>
            </a:r>
          </a:p>
          <a:p>
            <a:pPr lvl="1">
              <a:spcBef>
                <a:spcPts val="0"/>
              </a:spcBef>
            </a:pPr>
            <a:r>
              <a:rPr lang="en-US" altLang="en-US" sz="2800" dirty="0">
                <a:ea typeface="ＭＳ Ｐゴシック" panose="020B0600070205080204" pitchFamily="34" charset="-128"/>
                <a:cs typeface="Arial" panose="020B0604020202020204" pitchFamily="34" charset="0"/>
              </a:rPr>
              <a:t>数据报格式</a:t>
            </a:r>
          </a:p>
          <a:p>
            <a:pPr lvl="1">
              <a:spcBef>
                <a:spcPts val="0"/>
              </a:spcBef>
            </a:pPr>
            <a:r>
              <a:rPr lang="en-US" altLang="en-US" sz="2800" dirty="0">
                <a:ea typeface="ＭＳ Ｐゴシック" panose="020B0600070205080204" pitchFamily="34" charset="-128"/>
                <a:cs typeface="Arial" panose="020B0604020202020204" pitchFamily="34" charset="0"/>
              </a:rPr>
              <a:t>编址</a:t>
            </a:r>
          </a:p>
          <a:p>
            <a:pPr lvl="1">
              <a:spcBef>
                <a:spcPts val="0"/>
              </a:spcBef>
            </a:pPr>
            <a:r>
              <a:rPr lang="en-US" altLang="en-US" sz="2800" dirty="0">
                <a:ea typeface="ＭＳ Ｐゴシック" panose="020B0600070205080204" pitchFamily="34" charset="-128"/>
                <a:cs typeface="Arial" panose="020B0604020202020204" pitchFamily="34" charset="0"/>
              </a:rPr>
              <a:t>网络地址转换</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网络层服务与协议</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把传输层报文段从发送主机送到接收主机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发送方：把报文段封装成数据报，并交给链路层</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接收方：把报文段交付给传输层协议</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每台互联网设备（主机、路由器）中都有网络层协议</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路由器：</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检查所有经过它的 IP 数据报首部字段</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把数据报从输入端口移动到输出端口，使其沿端到端路径传输</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移动网络</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企业</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网络层</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全国或全球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数据中心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网络层</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网络层：4-4</a:t>
            </a:r>
            <a:fld id="{C4204591-24BD-A542-B9D5-F8D8A88D2FEE}" type="slidenum">
              <a:rPr lang="en-US" smtClean="0"/>
              <a:pPr/>
              <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网络层的两个关键功能</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网络层功能：</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转发：把分组从路由器输入链路移动到合适的输出链路</a:t>
            </a:r>
            <a:r>
              <a:rPr lang="en-US" altLang="en-US" dirty="0">
                <a:ea typeface="ＭＳ Ｐゴシック" panose="020B0600070205080204" pitchFamily="34" charset="-128"/>
                <a:cs typeface="ＭＳ Ｐゴシック" panose="020B0600070205080204" pitchFamily="34" charset="-128"/>
              </a:rPr>
              <a:t/>
            </a:r>
            <a:r>
              <a:rPr lang="en-US" altLang="ja-JP" dirty="0">
                <a:ea typeface="ＭＳ Ｐゴシック" panose="020B0600070205080204" pitchFamily="34" charset="-128"/>
                <a:cs typeface="ＭＳ Ｐゴシック" panose="020B0600070205080204" pitchFamily="34" charset="-128"/>
              </a:rPr>
              <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类比：出行</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转发：通过单个路口/立交的过程</a:t>
            </a:r>
            <a:r>
              <a:rPr lang="en-US" i="1" dirty="0">
                <a:solidFill>
                  <a:schemeClr val="accent2"/>
                </a:solidFill>
                <a:ea typeface="ＭＳ Ｐゴシック" charset="0"/>
                <a:cs typeface="ＭＳ Ｐゴシック" charset="0"/>
              </a:rPr>
              <a:t/>
            </a:r>
            <a:r>
              <a:rPr lang="en-US" dirty="0">
                <a:ea typeface="ＭＳ Ｐゴシック" charset="0"/>
                <a:cs typeface="ＭＳ Ｐゴシック" charset="0"/>
              </a:rPr>
              <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转发</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路由选择</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路由选择：规划从源到目的地行程的过程</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路由选择：确定分组从源到目的地所经过的路径</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路由选择算法</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网络层：4-5</a:t>
            </a:r>
            <a:fld id="{C4204591-24BD-A542-B9D5-F8D8A88D2FEE}" type="slidenum">
              <a:rPr lang="en-US" smtClean="0"/>
              <a:pPr/>
              <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网络层：数据平面与控制平面</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数据平面：</a:t>
            </a:r>
          </a:p>
          <a:p>
            <a:pPr marL="292100" indent="-292100">
              <a:spcBef>
                <a:spcPts val="600"/>
              </a:spcBef>
              <a:buFont typeface="Wingdings" charset="2"/>
              <a:buChar char="§"/>
              <a:defRPr/>
            </a:pPr>
            <a:r>
              <a:rPr lang="en-US" i="1" dirty="0">
                <a:solidFill>
                  <a:srgbClr val="0000A3"/>
                </a:solidFill>
              </a:rPr>
              <a:t>本地、逐路由器功能</a:t>
            </a:r>
            <a:r>
              <a:rPr lang="en-US" dirty="0"/>
              <a:t/>
            </a:r>
          </a:p>
          <a:p>
            <a:pPr marL="292100" indent="-292100">
              <a:spcBef>
                <a:spcPts val="600"/>
              </a:spcBef>
              <a:buFont typeface="Wingdings" charset="2"/>
              <a:buChar char="§"/>
              <a:defRPr/>
            </a:pPr>
            <a:r>
              <a:rPr lang="en-US" dirty="0"/>
              <a:t>决定到达路由器输入端口的数据报如何被转发到输出端口</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控制平面</a:t>
            </a:r>
          </a:p>
          <a:p>
            <a:pPr marL="228600" indent="-228600">
              <a:spcBef>
                <a:spcPts val="600"/>
              </a:spcBef>
              <a:defRPr/>
            </a:pPr>
            <a:r>
              <a:rPr lang="en-US" i="1" dirty="0">
                <a:solidFill>
                  <a:srgbClr val="0000A3"/>
                </a:solidFill>
              </a:rPr>
              <a:t>全网范围的逻辑</a:t>
            </a:r>
            <a:r>
              <a:rPr lang="en-US" dirty="0"/>
              <a:t/>
            </a:r>
          </a:p>
          <a:p>
            <a:pPr marL="228600" indent="-228600">
              <a:spcBef>
                <a:spcPts val="600"/>
              </a:spcBef>
              <a:defRPr/>
            </a:pPr>
            <a:r>
              <a:rPr lang="en-US" dirty="0"/>
              <a:t>决定数据报如何沿源主机到目的主机的端到端路径在路由器之间路由</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到达分组中的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分组首部</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两种控制平面方法：</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传统路由选择算法：在路由器中实现</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软件定义网络（SDN）：在（远程）服务器中实现</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网络层：4-6</a:t>
            </a:r>
            <a:fld id="{C4204591-24BD-A542-B9D5-F8D8A88D2FEE}" type="slidenum">
              <a:rPr lang="en-US" smtClean="0"/>
              <a:pPr/>
              <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逐路由器控制平面</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每台路由器中的各个路由算法组件在控制平面中相互交互</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路由选择</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算法</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数据</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平面</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控制</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平面</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到达分组中的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分组首部</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网络层：4-7</a:t>
            </a:r>
            <a:fld id="{C4204591-24BD-A542-B9D5-F8D8A88D2FEE}" type="slidenum">
              <a:rPr lang="en-US" smtClean="0"/>
              <a:pPr/>
              <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软件定义网络（SDN）控制平面</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远程控制器计算并在路由器中安装转发表</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数据</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平面</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控制</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平面</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远程控制器</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到达分组中的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分组首部</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网络层：4-8</a:t>
            </a:r>
            <a:fld id="{C4204591-24BD-A542-B9D5-F8D8A88D2FEE}" type="slidenum">
              <a:rPr lang="en-US" smtClean="0"/>
              <a:pPr/>
              <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网络服务模型</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针对单个数据报的示例服务：</a:t>
            </a:r>
            <a:r>
              <a:rPr lang="en-US" sz="3200" i="1" dirty="0">
                <a:solidFill>
                  <a:srgbClr val="C00000"/>
                </a:solidFill>
              </a:rPr>
              <a:t/>
            </a:r>
            <a:r>
              <a:rPr lang="en-US" sz="3200" dirty="0">
                <a:solidFill>
                  <a:srgbClr val="C00000"/>
                </a:solidFill>
              </a:rPr>
              <a:t/>
            </a:r>
            <a:r>
              <a:rPr lang="en-US" sz="3200" dirty="0">
                <a:solidFill>
                  <a:srgbClr val="CC0000"/>
                </a:solidFill>
              </a:rPr>
              <a:t/>
            </a:r>
          </a:p>
          <a:p>
            <a:pPr>
              <a:buFont typeface="Wingdings" charset="2"/>
              <a:buChar char="§"/>
              <a:defRPr/>
            </a:pPr>
            <a:r>
              <a:rPr lang="en-US" dirty="0"/>
              <a:t>保证交付</a:t>
            </a:r>
          </a:p>
          <a:p>
            <a:pPr>
              <a:buFont typeface="Wingdings" charset="2"/>
              <a:buChar char="§"/>
              <a:defRPr/>
            </a:pPr>
            <a:r>
              <a:rPr lang="en-US" dirty="0"/>
              <a:t>保证在小于 40 msec 的时延内交付</a:t>
            </a:r>
            <a:r>
              <a:rPr lang="en-US" dirty="0" err="1"/>
              <a:t/>
            </a:r>
            <a:r>
              <a:rPr lang="en-US" dirty="0"/>
              <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针对数据报流的示例服务：</a:t>
            </a:r>
            <a:r>
              <a:rPr lang="en-US" altLang="en-US" sz="3200" i="1" dirty="0">
                <a:solidFill>
                  <a:srgbClr val="CC0000"/>
                </a:solidFill>
                <a:ea typeface="ＭＳ Ｐゴシック" panose="020B0600070205080204" pitchFamily="34" charset="-128"/>
                <a:cs typeface="ＭＳ Ｐゴシック" panose="020B0600070205080204" pitchFamily="34" charset="-128"/>
              </a:rPr>
              <a:t/>
            </a:r>
            <a:r>
              <a:rPr lang="en-US" altLang="en-US" sz="3200" dirty="0">
                <a:solidFill>
                  <a:srgbClr val="CC0000"/>
                </a:solidFill>
                <a:ea typeface="ＭＳ Ｐゴシック" panose="020B0600070205080204" pitchFamily="34" charset="-128"/>
                <a:cs typeface="ＭＳ Ｐゴシック" panose="020B0600070205080204" pitchFamily="34" charset="-128"/>
              </a:rPr>
              <a:t/>
            </a:r>
          </a:p>
          <a:p>
            <a:r>
              <a:rPr lang="en-US" altLang="en-US" dirty="0">
                <a:ea typeface="ＭＳ Ｐゴシック" panose="020B0600070205080204" pitchFamily="34" charset="-128"/>
                <a:cs typeface="ＭＳ Ｐゴシック" panose="020B0600070205080204" pitchFamily="34" charset="-128"/>
              </a:rPr>
              <a:t>按序交付数据报</a:t>
            </a:r>
          </a:p>
          <a:p>
            <a:r>
              <a:rPr lang="en-US" altLang="en-US" dirty="0">
                <a:ea typeface="ＭＳ Ｐゴシック" panose="020B0600070205080204" pitchFamily="34" charset="-128"/>
                <a:cs typeface="ＭＳ Ｐゴシック" panose="020B0600070205080204" pitchFamily="34" charset="-128"/>
              </a:rPr>
              <a:t>保证流的最小带宽</a:t>
            </a:r>
          </a:p>
          <a:p>
            <a:r>
              <a:rPr lang="en-US" altLang="en-US" dirty="0">
                <a:ea typeface="ＭＳ Ｐゴシック" panose="020B0600070205080204" pitchFamily="34" charset="-128"/>
                <a:cs typeface="ＭＳ Ｐゴシック" panose="020B0600070205080204" pitchFamily="34" charset="-128"/>
              </a:rPr>
              <a:t>限制分组间隔变化</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问：从发送方到接收方传送数据报的“信道”应采用什么服务模型？</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网络层：4-9</a:t>
            </a:r>
            <a:fld id="{C4204591-24BD-A542-B9D5-F8D8A88D2FEE}" type="slidenum">
              <a:rPr lang="en-US" smtClean="0"/>
              <a:pPr/>
              <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网络层服务模型</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网络</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体系结构</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互联网</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互联网</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互联网</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服务</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模型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尽力而为</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恒定比特率</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可用比特率</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 保证服务</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带宽</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无</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恒定速率</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保证最小值</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可能</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丢失</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可能</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顺序</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可能</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定时</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不保证：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数据报成功交付到目的端</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交付的定时或顺序</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端到端流可用的带宽</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互联网“尽力而为”服务模型</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服务质量（QoS）保证？</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网络层：4-10</a:t>
            </a:r>
            <a:fld id="{C4204591-24BD-A542-B9D5-F8D8A88D2FEE}" type="slidenum">
              <a:rPr lang="en-US" smtClean="0"/>
              <a:pPr/>
              <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网络层服务模型</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网络</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体系结构</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互联网</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互联网</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互联网</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服务</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模型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尽力而为</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恒定比特率</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可用比特率</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 保证服务</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带宽</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无</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恒定速率</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保证最小值</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可能</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丢失</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可能</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顺序</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可能</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定时</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是</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服务质量（QoS）保证？</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网络层：4-11</a:t>
            </a:r>
            <a:fld id="{C4204591-24BD-A542-B9D5-F8D8A88D2FEE}" type="slidenum">
              <a:rPr lang="en-US" smtClean="0"/>
              <a:pPr/>
              <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关于尽力而为服务的思考：</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机制简单使互联网能够被广泛部署和采用</a:t>
            </a:r>
            <a:r>
              <a:rPr lang="en-US" dirty="0"/>
              <a:t/>
            </a:r>
          </a:p>
          <a:p>
            <a:pPr>
              <a:buFont typeface="Wingdings" charset="2"/>
              <a:buChar char="§"/>
              <a:defRPr/>
            </a:pPr>
            <a:r>
              <a:rPr lang="en-US" dirty="0"/>
              <a:t>充足的带宽配置使实时应用（例如交互式语音、视频）在“大多数时间”能有“足够好”的性能</a:t>
            </a:r>
            <a:r>
              <a:rPr lang="en-US" dirty="0">
                <a:solidFill>
                  <a:srgbClr val="0013A3"/>
                </a:solidFill>
              </a:rPr>
              <a:t/>
            </a:r>
            <a:r>
              <a:rPr lang="en-US" dirty="0"/>
              <a:t/>
            </a:r>
          </a:p>
          <a:p>
            <a:pPr>
              <a:buFont typeface="Wingdings" charset="2"/>
              <a:buChar char="§"/>
              <a:defRPr/>
            </a:pPr>
            <a:r>
              <a:rPr lang="en-US" dirty="0">
                <a:solidFill>
                  <a:srgbClr val="0013A3"/>
                </a:solidFill>
              </a:rPr>
              <a:t>复制的应用层分布式服务（数据中心、内容分发网络）靠近客户网络连接，使服务可从多个位置提供</a:t>
            </a:r>
            <a:r>
              <a:rPr lang="en-US" dirty="0"/>
              <a:t/>
            </a:r>
          </a:p>
          <a:p>
            <a:pPr>
              <a:buFont typeface="Wingdings" charset="2"/>
              <a:buChar char="§"/>
              <a:defRPr/>
            </a:pPr>
            <a:r>
              <a:rPr lang="en-US" dirty="0"/>
              <a:t>“弹性”服务的拥塞控制也有帮助</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尽力而为服务模型的成功很难被否认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网络层：4-12</a:t>
            </a:r>
            <a:fld id="{C4204591-24BD-A542-B9D5-F8D8A88D2FEE}" type="slidenum">
              <a:rPr lang="en-US" smtClean="0"/>
              <a:pPr/>
              <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网络层：“数据平面”路线图</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网络层：概览</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数据平面</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控制平面</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路由器内部有什么</a:t>
            </a:r>
            <a:r>
              <a:rPr lang="en-US" altLang="ja-JP" sz="3200" dirty="0">
                <a:ea typeface="ＭＳ Ｐゴシック" panose="020B0600070205080204" pitchFamily="34" charset="-128"/>
                <a:cs typeface="Arial" panose="020B0604020202020204" pitchFamily="34" charset="0"/>
              </a:rPr>
              <a:t/>
            </a:r>
          </a:p>
          <a:p>
            <a:pPr lvl="1">
              <a:spcBef>
                <a:spcPts val="0"/>
              </a:spcBef>
            </a:pPr>
            <a:r>
              <a:rPr lang="en-US" altLang="ja-JP" sz="2800" dirty="0">
                <a:ea typeface="ＭＳ Ｐゴシック" panose="020B0600070205080204" pitchFamily="34" charset="-128"/>
                <a:cs typeface="Arial" panose="020B0604020202020204" pitchFamily="34" charset="0"/>
              </a:rPr>
              <a:t>输入端口、交换、输出端口</a:t>
            </a:r>
          </a:p>
          <a:p>
            <a:pPr lvl="1">
              <a:spcBef>
                <a:spcPts val="0"/>
              </a:spcBef>
            </a:pPr>
            <a:r>
              <a:rPr lang="en-US" altLang="ja-JP" sz="2800" dirty="0">
                <a:ea typeface="ＭＳ Ｐゴシック" panose="020B0600070205080204" pitchFamily="34" charset="-128"/>
                <a:cs typeface="Arial" panose="020B0604020202020204" pitchFamily="34" charset="0"/>
              </a:rPr>
              <a:t>缓冲区管理、调度</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IP：互联网协议</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数据报格式</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编址</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网络地址转换</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通用转发、SDN</a:t>
            </a:r>
          </a:p>
          <a:p>
            <a:pPr lvl="1">
              <a:spcBef>
                <a:spcPts val="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匹配+动作</a:t>
            </a:r>
            <a:endParaRPr lang="en-US" altLang="en-US" sz="2800" dirty="0">
              <a:solidFill>
                <a:schemeClr val="bg1">
                  <a:lumMod val="75000"/>
                </a:schemeClr>
              </a:solidFill>
              <a:ea typeface="ＭＳ Ｐゴシック" panose="020B0600070205080204" pitchFamily="34" charset="-128"/>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OpenFlow：匹配+动作的实践</a:t>
            </a:r>
            <a:r>
              <a:rPr lang="en-US" altLang="en-US" sz="2800" dirty="0" err="1">
                <a:solidFill>
                  <a:schemeClr val="bg1">
                    <a:lumMod val="75000"/>
                  </a:schemeClr>
                </a:solidFill>
                <a:ea typeface="ＭＳ Ｐゴシック" panose="020B0600070205080204" pitchFamily="34" charset="-128"/>
              </a:rPr>
              <a:t/>
            </a:r>
            <a:r>
              <a:rPr lang="en-US" altLang="en-US" sz="2800" dirty="0">
                <a:solidFill>
                  <a:schemeClr val="bg1">
                    <a:lumMod val="75000"/>
                  </a:schemeClr>
                </a:solidFill>
                <a:ea typeface="ＭＳ Ｐゴシック" panose="020B0600070205080204" pitchFamily="34" charset="-128"/>
              </a:rPr>
              <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中间盒</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网络层：4-13</a:t>
            </a:r>
            <a:fld id="{C4204591-24BD-A542-B9D5-F8D8A88D2FEE}" type="slidenum">
              <a:rPr lang="en-US" smtClean="0"/>
              <a:pPr/>
              <a:t/>
            </a:fld>
            <a:endParaRPr lang="en-US" dirty="0"/>
          </a:p>
        </p:txBody>
      </p:sp>
    </p:spTree>
    <p:extLst>
      <p:ext uri="{BB962C8B-B14F-4D97-AF65-F5344CB8AC3E}">
        <p14:creationId xmlns:p14="http://schemas.microsoft.com/office/powerpoint/2010/main" val="8015501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路由器体系结构概览</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通用路由器体系结构的高层视图：</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高速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交换</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结构</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路由选择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处理器</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路由器输入端口</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路由器输出端口</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转发数据平面（硬件）在纳秒时间尺度运行</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路由选择、管理</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控制平面（软件）</a:t>
            </a: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在毫秒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时间尺度运行</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网络层：4-14</a:t>
            </a:r>
            <a:fld id="{C4204591-24BD-A542-B9D5-F8D8A88D2FEE}" type="slidenum">
              <a:rPr lang="en-US" smtClean="0"/>
              <a:pPr/>
              <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输入端口功能</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交换机</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结构</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线路</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端接</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物理层：</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比特级接收</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链路层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层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协议</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（接收）</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链路层：</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例如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（第 6 章）</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查找，</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转发</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排队</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分散式交换： </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使用首部字段值，在输入端口内存的转发表中查找输出端口（“匹配+动作”）</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目标：以“线路速率”完成输入端口处理</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网络层：4-15</a:t>
            </a:r>
            <a:fld id="{C4204591-24BD-A542-B9D5-F8D8A88D2FEE}" type="slidenum">
              <a:rPr lang="en-US" smtClean="0"/>
              <a:pPr/>
              <a:t/>
            </a:fld>
            <a:endParaRPr lang="en-US" dirty="0"/>
          </a:p>
        </p:txBody>
      </p:sp>
    </p:spTree>
    <p:extLst>
      <p:ext uri="{BB962C8B-B14F-4D97-AF65-F5344CB8AC3E}">
        <p14:creationId xmlns:p14="http://schemas.microsoft.com/office/powerpoint/2010/main" val="1080375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输入端口功能</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线路</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端接</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查找，</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转发</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排队</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分散式交换： </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使用首部字段值，在输入端口内存的转发表中查找输出端口（“匹配+动作”）</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基于目的地址的转发：仅根据目的 IP 地址转发（传统方式）</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通用转发：根据任意一组首部字段值转发</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物理层：</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比特级接收</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交换机</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结构</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链路层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层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协议</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（接收）</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链路层：</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例如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（第 6 章）</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网络层：4-16</a:t>
            </a:r>
            <a:fld id="{C4204591-24BD-A542-B9D5-F8D8A88D2FEE}" type="slidenum">
              <a:rPr lang="en-US" smtClean="0"/>
              <a:pPr/>
              <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问：如果地址范围不能如此整齐地划分，会怎样？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基于目的地址的转发</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网络层：4-17</a:t>
            </a:r>
            <a:fld id="{C4204591-24BD-A542-B9D5-F8D8A88D2FEE}" type="slidenum">
              <a:rPr lang="en-US" smtClean="0"/>
              <a:pPr/>
              <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最长前缀匹配</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查找给定目的地址的转发表项时，使用与目的地址匹配的最长地址前缀。</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最长前缀匹配</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目的地址范围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否则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链路接口</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示例：</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哪个接口？</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哪个接口？</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网络层：4-18</a:t>
            </a:r>
            <a:fld id="{C4204591-24BD-A542-B9D5-F8D8A88D2FEE}" type="slidenum">
              <a:rPr lang="en-US" smtClean="0"/>
              <a:pPr/>
              <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最长前缀匹配</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查找给定目的地址的转发表项时，使用与目的地址匹配的最长地址前缀。</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最长前缀匹配</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目的地址范围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否则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链路接口</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示例：</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哪个接口？</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哪个接口？</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匹配！</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网络层：4-19</a:t>
            </a:r>
            <a:fld id="{C4204591-24BD-A542-B9D5-F8D8A88D2FEE}" type="slidenum">
              <a:rPr lang="en-US" smtClean="0"/>
              <a:pPr/>
              <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最长前缀匹配</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查找给定目的地址的转发表项时，使用与目的地址匹配的最长地址前缀。</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最长前缀匹配</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目的地址范围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否则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链路接口</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示例：</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哪个接口？</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哪个接口？</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匹配！</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网络层：4-20</a:t>
            </a:r>
            <a:fld id="{C4204591-24BD-A542-B9D5-F8D8A88D2FEE}" type="slidenum">
              <a:rPr lang="en-US" smtClean="0"/>
              <a:pPr/>
              <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最长前缀匹配</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查找给定目的地址的转发表项时，使用与目的地址匹配的最长地址前缀。</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最长前缀匹配</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目的地址范围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否则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链路接口</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示例：</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哪个接口？</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哪个接口？</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匹配！</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网络层：4-21</a:t>
            </a:r>
            <a:fld id="{C4204591-24BD-A542-B9D5-F8D8A88D2FEE}" type="slidenum">
              <a:rPr lang="en-US" smtClean="0"/>
              <a:pPr/>
              <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学习编址时，我们很快会看到为什么使用最长前缀匹配</a:t>
            </a:r>
            <a:r>
              <a:rPr lang="en-US" altLang="en-US" sz="3200" i="1" dirty="0">
                <a:solidFill>
                  <a:srgbClr val="000090"/>
                </a:solidFill>
                <a:ea typeface="ＭＳ Ｐゴシック" panose="020B0600070205080204" pitchFamily="34" charset="-128"/>
                <a:cs typeface="ＭＳ Ｐゴシック" panose="020B0600070205080204" pitchFamily="34" charset="-128"/>
              </a:rPr>
              <a:t/>
            </a:r>
            <a:r>
              <a:rPr lang="en-US" altLang="en-US" sz="3200" dirty="0">
                <a:ea typeface="ＭＳ Ｐゴシック" panose="020B0600070205080204" pitchFamily="34" charset="-128"/>
                <a:cs typeface="ＭＳ Ｐゴシック" panose="020B0600070205080204" pitchFamily="34" charset="-128"/>
              </a:rPr>
              <a:t/>
            </a:r>
          </a:p>
          <a:p>
            <a:pPr indent="-287338"/>
            <a:r>
              <a:rPr lang="en-US" altLang="en-US" sz="3200" dirty="0">
                <a:ea typeface="ＭＳ Ｐゴシック" panose="020B0600070205080204" pitchFamily="34" charset="-128"/>
                <a:cs typeface="ＭＳ Ｐゴシック" panose="020B0600070205080204" pitchFamily="34" charset="-128"/>
              </a:rPr>
              <a:t>最长前缀匹配：通常使用三态内容可寻址存储器（TCAM）完成</a:t>
            </a:r>
          </a:p>
          <a:p>
            <a:pPr lvl="1"/>
            <a:r>
              <a:rPr lang="en-US" altLang="en-US" sz="2800" i="1" dirty="0">
                <a:solidFill>
                  <a:srgbClr val="CC0000"/>
                </a:solidFill>
                <a:ea typeface="ＭＳ Ｐゴシック" panose="020B0600070205080204" pitchFamily="34" charset="-128"/>
              </a:rPr>
              <a:t>内容可寻址：向 TCAM 提供地址，无论表大小如何，都能在一个时钟周期内取回地址</a:t>
            </a:r>
            <a:r>
              <a:rPr lang="en-US" altLang="en-US" sz="2800" dirty="0">
                <a:ea typeface="ＭＳ Ｐゴシック" panose="020B0600070205080204" pitchFamily="34" charset="-128"/>
              </a:rPr>
              <a:t/>
            </a:r>
          </a:p>
          <a:p>
            <a:pPr lvl="1"/>
            <a:r>
              <a:rPr lang="en-US" altLang="en-US" sz="2800" dirty="0">
                <a:ea typeface="ＭＳ Ｐゴシック" panose="020B0600070205080204" pitchFamily="34" charset="-128"/>
              </a:rPr>
              <a:t>Cisco Catalyst：TCAM 中约有 100 万条路由表项</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最长前缀匹配</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网络层：4-22</a:t>
            </a:r>
            <a:fld id="{C4204591-24BD-A542-B9D5-F8D8A88D2FEE}" type="slidenum">
              <a:rPr lang="en-US" smtClean="0"/>
              <a:pPr/>
              <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把分组从输入链路转移到合适的输出链路</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交换结构</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高速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交换</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结构</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个输入端口</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个输出端口</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交换速率：分组可从输入转移到输出的速率</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通常用输入/输出线路速率的倍数来衡量</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个输入：期望交换速率为线路速率的 N 倍</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（理想速率：NR）</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网络层：4-23</a:t>
            </a:r>
            <a:fld id="{C4204591-24BD-A542-B9D5-F8D8A88D2FEE}" type="slidenum">
              <a:rPr lang="en-US" smtClean="0"/>
              <a:pPr/>
              <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交换结构</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总线</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内存</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内存</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互连</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网络层</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三种主要交换结构类型：</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把分组从输入链路转移到合适的输出链路</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交换速率：分组可从输入转移到输出的速率</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通常用输入/输出线路速率的倍数来衡量</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个输入：期望交换速率为线路速率的 N 倍</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网络层：4-24</a:t>
            </a:r>
            <a:fld id="{C4204591-24BD-A542-B9D5-F8D8A88D2FEE}" type="slidenum">
              <a:rPr lang="en-US" smtClean="0"/>
              <a:pPr/>
              <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第一代路由器：</a:t>
            </a:r>
          </a:p>
          <a:p>
            <a:pPr marL="404813" indent="-287338"/>
            <a:r>
              <a:rPr lang="en-US" altLang="en-US" dirty="0">
                <a:ea typeface="ＭＳ Ｐゴシック" panose="020B0600070205080204" pitchFamily="34" charset="-128"/>
                <a:cs typeface="ＭＳ Ｐゴシック" panose="020B0600070205080204" pitchFamily="34" charset="-128"/>
              </a:rPr>
              <a:t>传统计算机，交换由 CPU 直接控制</a:t>
            </a:r>
          </a:p>
          <a:p>
            <a:pPr marL="404813" indent="-287338"/>
            <a:r>
              <a:rPr lang="en-US" altLang="en-US" dirty="0">
                <a:ea typeface="ＭＳ Ｐゴシック" panose="020B0600070205080204" pitchFamily="34" charset="-128"/>
                <a:cs typeface="ＭＳ Ｐゴシック" panose="020B0600070205080204" pitchFamily="34" charset="-128"/>
              </a:rPr>
              <a:t>分组被复制到系统内存</a:t>
            </a:r>
            <a:r>
              <a:rPr lang="en-US" altLang="ja-JP" dirty="0">
                <a:ea typeface="ＭＳ Ｐゴシック" panose="020B0600070205080204" pitchFamily="34" charset="-128"/>
                <a:cs typeface="ＭＳ Ｐゴシック" panose="020B0600070205080204" pitchFamily="34" charset="-128"/>
              </a:rPr>
              <a:t/>
            </a:r>
          </a:p>
          <a:p>
            <a:pPr marL="404813" indent="-287338"/>
            <a:r>
              <a:rPr lang="en-US" altLang="en-US" dirty="0">
                <a:ea typeface="ＭＳ Ｐゴシック" panose="020B0600070205080204" pitchFamily="34" charset="-128"/>
                <a:cs typeface="ＭＳ Ｐゴシック" panose="020B0600070205080204" pitchFamily="34" charset="-128"/>
              </a:rPr>
              <a:t>速度受内存带宽限制（每个数据报两次穿越总线）</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通过内存交换</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输入</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端口</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内存</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输出</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端口</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系统总线</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网络层：4-25</a:t>
            </a:r>
            <a:fld id="{C4204591-24BD-A542-B9D5-F8D8A88D2FEE}" type="slidenum">
              <a:rPr lang="en-US" smtClean="0"/>
              <a:pPr/>
              <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数据报通过共享总线从输入端口内存到输出端口内存</a:t>
            </a:r>
          </a:p>
          <a:p>
            <a:pPr>
              <a:buFont typeface="Wingdings" charset="2"/>
              <a:buChar char="§"/>
              <a:defRPr/>
            </a:pPr>
            <a:r>
              <a:rPr lang="en-US" sz="3200" i="1" dirty="0">
                <a:solidFill>
                  <a:srgbClr val="CC0000"/>
                </a:solidFill>
              </a:rPr>
              <a:t>总线竞争：交换速度受总线带宽限制</a:t>
            </a:r>
            <a:r>
              <a:rPr lang="en-US" sz="3200" dirty="0"/>
              <a:t/>
            </a:r>
          </a:p>
          <a:p>
            <a:pPr>
              <a:buFont typeface="Wingdings" charset="2"/>
              <a:buChar char="§"/>
              <a:defRPr/>
            </a:pPr>
            <a:r>
              <a:rPr lang="en-US" sz="3200" dirty="0"/>
              <a:t>32 Gbps 总线，Cisco 5600：对接入路由器而言速度足够</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通过总线交换</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网络层：4-26</a:t>
            </a:r>
            <a:fld id="{C4204591-24BD-A542-B9D5-F8D8A88D2FEE}" type="slidenum">
              <a:rPr lang="en-US" smtClean="0"/>
              <a:pPr/>
              <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Crossbar、Clos 网络和其他互连网络最初用于连接多处理器中的处理器</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通过互连网络交换</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多级交换机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由较小规模交换机构成</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多级交换机：由多级较小交换机构成的 nxn 交换机</a:t>
            </a:r>
            <a:r>
              <a:rPr kumimoji="0" lang="en-US" sz="3200" b="0" i="1"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利用并行性：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进入时把数据报分片为固定长度的信元</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信元穿过交换结构，在出口处重组数据报</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网络层：4-27</a:t>
            </a:r>
            <a:fld id="{C4204591-24BD-A542-B9D5-F8D8A88D2FEE}" type="slidenum">
              <a:rPr lang="en-US" smtClean="0"/>
              <a:pPr/>
              <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扩展：并行使用多个交换“平面”： </a:t>
            </a:r>
          </a:p>
          <a:p>
            <a:pPr lvl="1" indent="-287338">
              <a:buFont typeface="Wingdings" charset="2"/>
              <a:buChar char="§"/>
              <a:defRPr/>
            </a:pPr>
            <a:r>
              <a:rPr lang="en-US" sz="2800" dirty="0"/>
              <a:t>通过并行性加速和扩展</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通过互连网络交换</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交换平面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交换平面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交换平面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交换平面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交换平面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交换平面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交换平面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交换平面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路由器：</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基本单元：8 个交换平面</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每个平面：3 级互连网络</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交换容量最高可达数百 Tbps</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网络层：4-28</a:t>
            </a:r>
            <a:fld id="{C4204591-24BD-A542-B9D5-F8D8A88D2FEE}" type="slidenum">
              <a:rPr lang="en-US" smtClean="0"/>
              <a:pPr/>
              <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如果交换结构慢于所有输入端口的总速率，则输入队列可能发生排队 </a:t>
            </a:r>
          </a:p>
          <a:p>
            <a:pPr lvl="1"/>
            <a:r>
              <a:rPr lang="en-US" altLang="en-US" sz="2800" dirty="0">
                <a:ea typeface="ＭＳ Ｐゴシック" panose="020B0600070205080204" pitchFamily="34" charset="-128"/>
              </a:rPr>
              <a:t>输入缓冲区溢出会导致排队时延和丢失！</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输入端口排队</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输出端口竞争：只有一个红色数据报能被转移，下方红色分组被阻塞</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交换机</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结构</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一个分组时间之后：绿色分组遭遇 HOL 阻塞</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交换机</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结构</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队头（HOL）阻塞：队列前端的数据报阻止队列中其他数据报向前移动</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网络层：4-29</a:t>
            </a:r>
            <a:fld id="{C4204591-24BD-A542-B9D5-F8D8A88D2FEE}" type="slidenum">
              <a:rPr lang="en-US" smtClean="0"/>
              <a:pPr/>
              <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输出端口排队</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当数据报从交换结构到达的速度快于链路传输速率时需要缓冲。丢弃策略：没有空闲缓冲区时丢弃哪些数据报？</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调度规则从排队的数据报中选择下一个传输对象</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数据报可能因拥塞和缓冲区不足而丢失</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优先级调度：谁获得最佳性能，网络中立性</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这是一张非常重要的幻灯片</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线路</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端接</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层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协议</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（发送）</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交换机</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结构</a:t>
              </a:r>
              <a:r>
                <a:rPr kumimoji="0" lang="en-US" altLang="en-US" sz="20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
              </a:r>
              <a:endPar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（速率：NR）</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数据报</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缓冲区</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排队</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网络层：4-30</a:t>
            </a:r>
            <a:fld id="{C4204591-24BD-A542-B9D5-F8D8A88D2FEE}" type="slidenum">
              <a:rPr lang="en-US" smtClean="0"/>
              <a:pPr/>
              <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输出端口排队</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在 t 时刻，更多分组</a:t>
              </a:r>
              <a:r>
                <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从输入到输出</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一个分组时间之后</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交换机</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结构</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交换机</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结构</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当经交换结构的到达速率超过输出线路速率时需要缓冲</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输出端口缓冲区溢出导致排队（时延）和丢失！</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网络层：4-31</a:t>
            </a:r>
            <a:fld id="{C4204591-24BD-A542-B9D5-F8D8A88D2FEE}" type="slidenum">
              <a:rPr lang="en-US" smtClean="0"/>
              <a:pPr/>
              <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经验法则：平均缓冲量等于“典型”RTT（例如 250 msec）乘以链路容量 C</a:t>
            </a:r>
            <a:r>
              <a:rPr lang="en-US" altLang="ja-JP" dirty="0">
                <a:ea typeface="ＭＳ Ｐゴシック" panose="020B0600070205080204" pitchFamily="34" charset="-128"/>
                <a:cs typeface="ＭＳ Ｐゴシック" panose="020B0600070205080204" pitchFamily="34" charset="-128"/>
              </a:rPr>
              <a:t/>
            </a:r>
            <a:r>
              <a:rPr lang="en-US" altLang="ja-JP" dirty="0" err="1">
                <a:ea typeface="ＭＳ Ｐゴシック" panose="020B0600070205080204" pitchFamily="34" charset="-128"/>
                <a:cs typeface="ＭＳ Ｐゴシック" panose="020B0600070205080204" pitchFamily="34" charset="-128"/>
              </a:rPr>
              <a:t/>
            </a:r>
            <a:r>
              <a:rPr lang="en-US" altLang="ja-JP" dirty="0">
                <a:ea typeface="ＭＳ Ｐゴシック" panose="020B0600070205080204" pitchFamily="34" charset="-128"/>
                <a:cs typeface="ＭＳ Ｐゴシック" panose="020B0600070205080204" pitchFamily="34" charset="-128"/>
              </a:rPr>
              <a:t/>
            </a:r>
          </a:p>
          <a:p>
            <a:pPr lvl="1"/>
            <a:r>
              <a:rPr lang="en-US" altLang="en-US" dirty="0">
                <a:ea typeface="ＭＳ Ｐゴシック" panose="020B0600070205080204" pitchFamily="34" charset="-128"/>
              </a:rPr>
              <a:t>例如，C = 10 Gbps 链路：需要 2.5 Gbit 缓冲区</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需要多少缓冲？</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但过多缓冲会增加时延（尤其是在家庭路由器中）</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长 RTT：实时应用性能差，TCP 响应迟缓 </a:t>
            </a:r>
            <a:r>
              <a:rPr kumimoji="0" lang="en-US" altLang="en-US" sz="26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回顾基于时延的拥塞控制：“让瓶颈链路刚好足够满（忙碌），但不要更满”</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较新的建议：有 N 条流时，缓冲量等于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网络层：4-32</a:t>
            </a:r>
            <a:fld id="{C4204591-24BD-A542-B9D5-F8D8A88D2FEE}" type="slidenum">
              <a:rPr lang="en-US" smtClean="0"/>
              <a:pPr/>
              <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缓冲区管理</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缓冲区管理：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丢弃：缓冲区满时接纳哪个分组、丢弃哪个分组</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尾丢弃：丢弃到达的分组</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优先级：按优先级丢弃/移除</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线路</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端接</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链路层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层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协议</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（发送）</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交换机</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结构</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数据报</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缓冲区</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排队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调度</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标记：标记哪些分组以指示拥塞（ECN、RED）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队列</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（等待区）</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分组</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到达</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分组</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离开</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链路层</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抽象：队列</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网络层：4-33</a:t>
            </a:r>
            <a:fld id="{C4204591-24BD-A542-B9D5-F8D8A88D2FEE}" type="slidenum">
              <a:rPr lang="en-US" smtClean="0"/>
              <a:pPr/>
              <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分组调度：决定链路上下一个发送哪个分组</a:t>
            </a:r>
            <a:r>
              <a:rPr lang="en-US" altLang="en-US" dirty="0">
                <a:ea typeface="ＭＳ Ｐゴシック" panose="020B0600070205080204" pitchFamily="34" charset="-128"/>
                <a:cs typeface="ＭＳ Ｐゴシック" panose="020B0600070205080204" pitchFamily="34" charset="-128"/>
              </a:rPr>
              <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先到先服务</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优先级</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轮询</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加权公平排队</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分组调度：FCFS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FCFS：按到达输出端口的顺序传输分组</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也称为：先进先出（FIFO）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现实世界中的例子？</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队列</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（等待区）</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分组</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到达</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分组</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离开</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链路层</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抽象：队列</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网络层：4-34</a:t>
            </a:r>
            <a:fld id="{C4204591-24BD-A542-B9D5-F8D8A88D2FEE}" type="slidenum">
              <a:rPr lang="en-US" smtClean="0"/>
              <a:pPr/>
              <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优先级调度： </a:t>
            </a:r>
          </a:p>
          <a:p>
            <a:pPr marL="515938" indent="-277813"/>
            <a:r>
              <a:rPr lang="en-US" altLang="en-US" sz="3200" dirty="0">
                <a:ea typeface="ＭＳ Ｐゴシック" panose="020B0600070205080204" pitchFamily="34" charset="-128"/>
                <a:cs typeface="ＭＳ Ｐゴシック" panose="020B0600070205080204" pitchFamily="34" charset="-128"/>
              </a:rPr>
              <a:t>到达流量被分类，并按类别排队</a:t>
            </a:r>
          </a:p>
          <a:p>
            <a:pPr marL="804863" lvl="1" indent="-223838"/>
            <a:r>
              <a:rPr lang="en-US" altLang="en-US" sz="2800" dirty="0">
                <a:ea typeface="ＭＳ Ｐゴシック" panose="020B0600070205080204" pitchFamily="34" charset="-128"/>
                <a:cs typeface="ＭＳ Ｐゴシック" panose="020B0600070205080204" pitchFamily="34" charset="-128"/>
              </a:rPr>
              <a:t>任意首部字段都可用于分类</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调度策略：优先级</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高优先级队列</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低优先级队列</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到达</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分类</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离开</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链路层</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到达</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离开</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服务中的分组</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从有缓冲分组的最高优先级队列发送分组</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同一优先级类别内使用 FCFS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网络层：4-35</a:t>
            </a:r>
            <a:fld id="{C4204591-24BD-A542-B9D5-F8D8A88D2FEE}" type="slidenum">
              <a:rPr lang="en-US" smtClean="0"/>
              <a:pPr/>
              <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轮询（RR）调度：</a:t>
            </a:r>
          </a:p>
          <a:p>
            <a:pPr marL="461963" indent="-223838"/>
            <a:r>
              <a:rPr lang="en-US" altLang="en-US" sz="3200" dirty="0">
                <a:ea typeface="ＭＳ Ｐゴシック" panose="020B0600070205080204" pitchFamily="34" charset="-128"/>
                <a:cs typeface="ＭＳ Ｐゴシック" panose="020B0600070205080204" pitchFamily="34" charset="-128"/>
              </a:rPr>
              <a:t>到达流量被分类，并按类别排队</a:t>
            </a:r>
          </a:p>
          <a:p>
            <a:pPr marL="804863" lvl="1" indent="-223838"/>
            <a:r>
              <a:rPr lang="en-US" altLang="en-US" sz="2800" dirty="0">
                <a:ea typeface="ＭＳ Ｐゴシック" panose="020B0600070205080204" pitchFamily="34" charset="-128"/>
                <a:cs typeface="ＭＳ Ｐゴシック" panose="020B0600070205080204" pitchFamily="34" charset="-128"/>
              </a:rPr>
              <a:t>任意首部字段都可用于分类</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调度策略：轮询</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分类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到达</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离开</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链路层</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服务器循环反复扫描各类别队列，依次从每个类别发送一个完整分组（若有）</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网络层：4-36</a:t>
            </a:r>
            <a:fld id="{C4204591-24BD-A542-B9D5-F8D8A88D2FEE}" type="slidenum">
              <a:rPr lang="en-US" smtClean="0"/>
              <a:pPr/>
              <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加权公平排队（WFQ）： </a:t>
            </a:r>
          </a:p>
          <a:p>
            <a:pPr marL="582613" indent="-284163"/>
            <a:r>
              <a:rPr lang="en-US" altLang="en-US" sz="3200" dirty="0">
                <a:ea typeface="ＭＳ Ｐゴシック" panose="020B0600070205080204" pitchFamily="34" charset="-128"/>
                <a:cs typeface="ＭＳ Ｐゴシック" panose="020B0600070205080204" pitchFamily="34" charset="-128"/>
              </a:rPr>
              <a:t>广义轮询</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调度策略：加权公平排队</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分类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到达</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离开</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链路层</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err="1">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最小带宽保证（按流量类别）</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每个类别 i 都有权重 wi，并在每个周期获得按权重分配的服务量：</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网络层：4-37</a:t>
            </a:r>
            <a:fld id="{C4204591-24BD-A542-B9D5-F8D8A88D2FEE}" type="slidenum">
              <a:rPr lang="en-US" smtClean="0"/>
              <a:pPr/>
              <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旁注：网络中立性</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什么是网络中立性？</a:t>
            </a:r>
          </a:p>
          <a:p>
            <a:pPr marL="520700" lvl="1" indent="-338138">
              <a:lnSpc>
                <a:spcPct val="100000"/>
              </a:lnSpc>
              <a:buFont typeface="Wingdings" pitchFamily="2" charset="2"/>
              <a:buChar char="§"/>
              <a:tabLst>
                <a:tab pos="280988" algn="l"/>
              </a:tabLst>
            </a:pPr>
            <a:r>
              <a:rPr lang="en-US" sz="3200" i="1" dirty="0">
                <a:solidFill>
                  <a:srgbClr val="010F90"/>
                </a:solidFill>
              </a:rPr>
              <a:t>技术层面：ISP 应如何共享/分配其资源</a:t>
            </a:r>
            <a:r>
              <a:rPr lang="en-US" sz="3200" dirty="0"/>
              <a:t/>
            </a:r>
          </a:p>
          <a:p>
            <a:pPr marL="922338" lvl="1" indent="-279400">
              <a:lnSpc>
                <a:spcPct val="100000"/>
              </a:lnSpc>
            </a:pPr>
            <a:r>
              <a:rPr lang="en-US" sz="2800" dirty="0"/>
              <a:t>分组调度和缓冲区管理是其机制</a:t>
            </a:r>
            <a:r>
              <a:rPr lang="en-US" sz="2800" i="1" dirty="0"/>
              <a:t/>
            </a:r>
          </a:p>
          <a:p>
            <a:pPr marL="465138" lvl="1" indent="-282575">
              <a:lnSpc>
                <a:spcPct val="100000"/>
              </a:lnSpc>
              <a:buFont typeface="Wingdings" pitchFamily="2" charset="2"/>
              <a:buChar char="§"/>
            </a:pPr>
            <a:r>
              <a:rPr lang="en-US" sz="3200" i="1" dirty="0">
                <a:solidFill>
                  <a:srgbClr val="0000A3"/>
                </a:solidFill>
              </a:rPr>
              <a:t>社会和经济原则 </a:t>
            </a:r>
            <a:r>
              <a:rPr lang="en-US" sz="3200" dirty="0"/>
              <a:t/>
            </a:r>
          </a:p>
          <a:p>
            <a:pPr marL="922338" lvl="2" indent="-292100">
              <a:lnSpc>
                <a:spcPct val="100000"/>
              </a:lnSpc>
              <a:buClr>
                <a:srgbClr val="0000A3"/>
              </a:buClr>
            </a:pPr>
            <a:r>
              <a:rPr lang="en-US" sz="2800" dirty="0"/>
              <a:t>保护言论自由</a:t>
            </a:r>
          </a:p>
          <a:p>
            <a:pPr marL="922338" lvl="2" indent="-292100">
              <a:lnSpc>
                <a:spcPct val="100000"/>
              </a:lnSpc>
              <a:buClr>
                <a:srgbClr val="0000A3"/>
              </a:buClr>
            </a:pPr>
            <a:r>
              <a:rPr lang="en-US" sz="2800" dirty="0"/>
              <a:t>鼓励创新和竞争</a:t>
            </a:r>
          </a:p>
          <a:p>
            <a:pPr marL="465138" lvl="1" indent="-282575">
              <a:lnSpc>
                <a:spcPct val="100000"/>
              </a:lnSpc>
              <a:buFont typeface="Wingdings" pitchFamily="2" charset="2"/>
              <a:buChar char="§"/>
            </a:pPr>
            <a:r>
              <a:rPr lang="en-US" sz="3200" dirty="0"/>
              <a:t>强制执行的法律规则和政策</a:t>
            </a:r>
            <a:r>
              <a:rPr lang="en-US" sz="3200" i="1" dirty="0"/>
              <a:t/>
            </a:r>
            <a:r>
              <a:rPr lang="en-US" sz="3200" i="1" dirty="0">
                <a:solidFill>
                  <a:srgbClr val="0000A3"/>
                </a:solidFill>
              </a:rPr>
              <a:t/>
            </a:r>
            <a:r>
              <a:rPr lang="en-US" sz="3200" i="1" dirty="0"/>
              <a:t/>
            </a:r>
            <a:r>
              <a:rPr lang="en-US" sz="3200" dirty="0"/>
              <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不同国家对网络中立性有不同看法</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网络层：4-38</a:t>
            </a:r>
            <a:fld id="{C4204591-24BD-A542-B9D5-F8D8A88D2FEE}" type="slidenum">
              <a:rPr lang="en-US" smtClean="0"/>
              <a:pPr/>
              <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旁注：网络中立性</a:t>
            </a:r>
          </a:p>
        </p:txBody>
      </p:sp>
      <p:sp>
        <p:nvSpPr>
          <p:cNvPr id="5" name="Content Placeholder 2"/>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年美国 FCC《保护和促进开放互联网令》：三条“清晰明确”的规则：</a:t>
            </a:r>
            <a:r>
              <a:rPr lang="en-US" i="1" dirty="0"/>
              <a:t/>
            </a:r>
            <a:r>
              <a:rPr lang="en-US" dirty="0"/>
              <a:t/>
            </a:r>
          </a:p>
          <a:p>
            <a:pPr lvl="0">
              <a:lnSpc>
                <a:spcPct val="100000"/>
              </a:lnSpc>
            </a:pPr>
            <a:r>
              <a:rPr lang="en-US" sz="3200" dirty="0">
                <a:solidFill>
                  <a:srgbClr val="010F90"/>
                </a:solidFill>
              </a:rPr>
              <a:t>不得阻断……“不得阻断合法内容、应用、服务或无害设备，但合理网络管理除外。”</a:t>
            </a:r>
            <a:r>
              <a:rPr lang="en-US" dirty="0"/>
              <a:t/>
            </a:r>
          </a:p>
          <a:p>
            <a:pPr lvl="0">
              <a:lnSpc>
                <a:spcPct val="100000"/>
              </a:lnSpc>
            </a:pPr>
            <a:r>
              <a:rPr lang="en-US" sz="3200" dirty="0">
                <a:solidFill>
                  <a:srgbClr val="010F90"/>
                </a:solidFill>
              </a:rPr>
              <a:t>不得限速……“不得基于互联网内容、应用、服务或无害设备的使用而损害或降低合法互联网流量，但合理网络管理除外。”</a:t>
            </a:r>
            <a:r>
              <a:rPr lang="en-US" dirty="0"/>
              <a:t/>
            </a:r>
          </a:p>
          <a:p>
            <a:pPr lvl="0">
              <a:lnSpc>
                <a:spcPct val="100000"/>
              </a:lnSpc>
            </a:pPr>
            <a:r>
              <a:rPr lang="en-US" sz="3200" dirty="0">
                <a:solidFill>
                  <a:srgbClr val="010F90"/>
                </a:solidFill>
              </a:rPr>
              <a:t>不得付费优先……“不得从事付费优先处理”</a:t>
            </a:r>
            <a:r>
              <a:rPr lang="en-US" dirty="0"/>
              <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网络层：4-39</a:t>
            </a:r>
            <a:fld id="{C4204591-24BD-A542-B9D5-F8D8A88D2FEE}" type="slidenum">
              <a:rPr lang="en-US" smtClean="0"/>
              <a:pPr/>
              <a:t/>
            </a:fld>
            <a:endParaRPr lang="en-US" dirty="0"/>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ISP：电信服务还是信息服务？</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美国 1934 年和 1996 年《电信法》： </a:t>
            </a:r>
          </a:p>
          <a:p>
            <a:pPr lvl="1"/>
            <a:r>
              <a:rPr lang="en-US" sz="2800" i="1" dirty="0">
                <a:solidFill>
                  <a:srgbClr val="C00000"/>
                </a:solidFill>
              </a:rPr>
              <a:t>第二章：对电信服务施加“公共承运人义务”：合理费率、非歧视，并要求监管</a:t>
            </a:r>
            <a:r>
              <a:rPr lang="en-US" sz="2800" dirty="0"/>
              <a:t/>
            </a:r>
            <a:r>
              <a:rPr lang="en-US" sz="2800" i="1" dirty="0">
                <a:solidFill>
                  <a:srgbClr val="C00000"/>
                </a:solidFill>
              </a:rPr>
              <a:t/>
            </a:r>
            <a:r>
              <a:rPr lang="en-US" sz="2800" dirty="0">
                <a:solidFill>
                  <a:srgbClr val="C00000"/>
                </a:solidFill>
              </a:rPr>
              <a:t/>
            </a:r>
            <a:r>
              <a:rPr lang="en-US" sz="2800" dirty="0"/>
              <a:t/>
            </a:r>
            <a:r>
              <a:rPr lang="en-US" sz="2800" i="1" dirty="0"/>
              <a:t/>
            </a:r>
            <a:r>
              <a:rPr lang="en-US" sz="2800" dirty="0"/>
              <a:t/>
            </a:r>
            <a:r>
              <a:rPr lang="en-US" sz="2800" i="1" dirty="0"/>
              <a:t/>
            </a:r>
            <a:endParaRPr lang="en-US" sz="2800" dirty="0"/>
          </a:p>
          <a:p>
            <a:pPr lvl="1"/>
            <a:r>
              <a:rPr lang="en-US" sz="2800" i="1" dirty="0">
                <a:solidFill>
                  <a:srgbClr val="C00000"/>
                </a:solidFill>
              </a:rPr>
              <a:t>第一章：适用于信息服务： </a:t>
            </a:r>
            <a:r>
              <a:rPr lang="en-US" sz="2800" dirty="0"/>
              <a:t/>
            </a:r>
            <a:r>
              <a:rPr lang="en-US" sz="2800" i="1" dirty="0">
                <a:solidFill>
                  <a:srgbClr val="C00000"/>
                </a:solidFill>
              </a:rPr>
              <a:t/>
            </a:r>
          </a:p>
          <a:p>
            <a:pPr lvl="2"/>
            <a:r>
              <a:rPr lang="en-US" sz="2800" dirty="0"/>
              <a:t>无公共承运人义务（不受监管）</a:t>
            </a:r>
            <a:r>
              <a:rPr lang="en-US" sz="2800" i="1" dirty="0"/>
              <a:t/>
            </a:r>
            <a:r>
              <a:rPr lang="en-US" sz="2800" dirty="0"/>
              <a:t/>
            </a:r>
          </a:p>
          <a:p>
            <a:pPr lvl="2"/>
            <a:r>
              <a:rPr lang="en-US" sz="2800" dirty="0"/>
              <a:t>但授予 FCC 权力：“……为执行其职能所必要的权限”4</a:t>
            </a:r>
            <a:r>
              <a:rPr lang="en-US" sz="500" dirty="0"/>
              <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ISP 是“电信服务”提供者还是“信息服务”提供者？</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从监管角度看，这个答案非常重要！</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网络层：4-40</a:t>
            </a:r>
            <a:fld id="{C4204591-24BD-A542-B9D5-F8D8A88D2FEE}" type="slidenum">
              <a:rPr lang="en-US" smtClean="0"/>
              <a:pPr/>
              <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网络层：“数据平面”路线图</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网络层：概览</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数据平面</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控制平面</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路由器内部有什么</a:t>
            </a:r>
            <a:r>
              <a:rPr lang="en-US" altLang="ja-JP" sz="3200" dirty="0">
                <a:solidFill>
                  <a:schemeClr val="bg1">
                    <a:lumMod val="75000"/>
                  </a:schemeClr>
                </a:solidFill>
                <a:ea typeface="ＭＳ Ｐゴシック" panose="020B0600070205080204" pitchFamily="34" charset="-128"/>
                <a:cs typeface="Arial" panose="020B0604020202020204" pitchFamily="34" charset="0"/>
              </a:rPr>
              <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输入端口、交换、输出端口</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缓冲区管理、调度</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IP：互联网协议</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数据报格式</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编址</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网络地址转换</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通用转发、SDN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匹配+动作</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OpenFlow：匹配+动作的实践</a:t>
            </a:r>
            <a:r>
              <a:rPr lang="en-US" altLang="en-US" sz="2800" dirty="0" err="1">
                <a:solidFill>
                  <a:schemeClr val="bg1">
                    <a:lumMod val="75000"/>
                  </a:schemeClr>
                </a:solidFill>
                <a:ea typeface="ＭＳ Ｐゴシック" panose="020B0600070205080204" pitchFamily="34" charset="-128"/>
              </a:rPr>
              <a:t/>
            </a:r>
            <a:r>
              <a:rPr lang="en-US" altLang="en-US" sz="2800" dirty="0">
                <a:solidFill>
                  <a:schemeClr val="bg1">
                    <a:lumMod val="75000"/>
                  </a:schemeClr>
                </a:solidFill>
                <a:ea typeface="ＭＳ Ｐゴシック" panose="020B0600070205080204" pitchFamily="34" charset="-128"/>
              </a:rPr>
              <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中间盒</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网络层：4-41</a:t>
            </a:r>
            <a:fld id="{C4204591-24BD-A542-B9D5-F8D8A88D2FEE}" type="slidenum">
              <a:rPr lang="en-US" smtClean="0"/>
              <a:pPr/>
              <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网络层：互联网</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主机和路由器的网络层功能：</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协议</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数据报格式</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编址</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分组处理约定</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协议</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差错报告</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路由器“信令”</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传输层：TCP、UDP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链路层</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物理层</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网络层</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层</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转发</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表</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路径选择算法：实现在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路由协议（OSPF、BGP）中</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网络层：4-42</a:t>
            </a:r>
            <a:fld id="{C4204591-24BD-A542-B9D5-F8D8A88D2FEE}" type="slidenum">
              <a:rPr lang="en-US" smtClean="0"/>
              <a:pPr/>
              <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数据报格式</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版本</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比特</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载荷数据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（可变长度，</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通常是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或 UDP 报文段）</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 位标识符</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首部</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校验和</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生存</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时间</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源 IP 地址</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首部</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长度</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服务</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类型</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标志</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上层</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层</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地址</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选项（如果有）</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协议版本号</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首部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上层协议（例如 TCP 或 UDP）</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总数据报</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服务：</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分片/</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重组</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（每经过一个路由器递减）</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字节 + TCP+IP 的应用层开销</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位源 IP 地址</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地址</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首部校验和</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最大长度：64K 字节</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通常：1500 字节或更少</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网络层：4-43</a:t>
            </a:r>
            <a:fld id="{C4204591-24BD-A542-B9D5-F8D8A88D2FEE}" type="slidenum">
              <a:rPr lang="en-US" smtClean="0"/>
              <a:pPr/>
              <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地址：与每个主机或路由器接口关联的 32 位标识符 </a:t>
            </a:r>
            <a:r>
              <a:rPr lang="en-US" altLang="en-US" dirty="0">
                <a:solidFill>
                  <a:srgbClr val="C00000"/>
                </a:solidFill>
                <a:ea typeface="ＭＳ Ｐゴシック" panose="020B0600070205080204" pitchFamily="34" charset="-128"/>
                <a:cs typeface="ＭＳ Ｐゴシック" panose="020B0600070205080204" pitchFamily="34" charset="-128"/>
              </a:rPr>
              <a:t/>
            </a:r>
            <a:r>
              <a:rPr lang="en-US" altLang="en-US" dirty="0">
                <a:ea typeface="ＭＳ Ｐゴシック" panose="020B0600070205080204" pitchFamily="34" charset="-128"/>
                <a:cs typeface="ＭＳ Ｐゴシック" panose="020B0600070205080204" pitchFamily="34" charset="-128"/>
              </a:rPr>
              <a:t/>
            </a:r>
            <a:r>
              <a:rPr lang="en-US" altLang="en-US" i="1" dirty="0">
                <a:solidFill>
                  <a:srgbClr val="0000A3"/>
                </a:solidFill>
                <a:ea typeface="ＭＳ Ｐゴシック" panose="020B0600070205080204" pitchFamily="34" charset="-128"/>
                <a:cs typeface="ＭＳ Ｐゴシック" panose="020B0600070205080204" pitchFamily="34" charset="-128"/>
              </a:rPr>
              <a:t/>
            </a:r>
            <a:r>
              <a:rPr lang="en-US" altLang="en-US" dirty="0">
                <a:ea typeface="ＭＳ Ｐゴシック" panose="020B0600070205080204" pitchFamily="34" charset="-128"/>
                <a:cs typeface="ＭＳ Ｐゴシック" panose="020B0600070205080204" pitchFamily="34" charset="-128"/>
              </a:rPr>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接口：主机/路由器与物理链路之间的连接</a:t>
            </a:r>
            <a:r>
              <a:rPr lang="en-US" altLang="en-US" dirty="0">
                <a:ea typeface="ＭＳ Ｐゴシック" panose="020B0600070205080204" pitchFamily="34" charset="-128"/>
                <a:cs typeface="ＭＳ Ｐゴシック" panose="020B0600070205080204" pitchFamily="34" charset="-128"/>
              </a:rPr>
              <a:t/>
            </a:r>
          </a:p>
          <a:p>
            <a:pPr marL="522288" lvl="1" indent="-298450"/>
            <a:r>
              <a:rPr lang="en-US" altLang="en-US" sz="2800" dirty="0">
                <a:ea typeface="ＭＳ Ｐゴシック" panose="020B0600070205080204" pitchFamily="34" charset="-128"/>
              </a:rPr>
              <a:t>路由器通常有多个接口</a:t>
            </a:r>
            <a:r>
              <a:rPr lang="en-US" altLang="ja-JP" sz="2800" dirty="0">
                <a:ea typeface="ＭＳ Ｐゴシック" panose="020B0600070205080204" pitchFamily="34" charset="-128"/>
              </a:rPr>
              <a:t/>
            </a:r>
          </a:p>
          <a:p>
            <a:pPr marL="522288" lvl="1" indent="-298450"/>
            <a:r>
              <a:rPr lang="en-US" altLang="en-US" sz="2800" dirty="0">
                <a:ea typeface="ＭＳ Ｐゴシック" panose="020B0600070205080204" pitchFamily="34" charset="-128"/>
              </a:rPr>
              <a:t>主机通常有一个或两个接口（例如有线 Ethernet、无线 802.11）</a:t>
            </a:r>
            <a:r>
              <a:rPr lang="en-US" altLang="en-US" dirty="0">
                <a:ea typeface="ＭＳ Ｐゴシック" panose="020B0600070205080204" pitchFamily="34" charset="-128"/>
              </a:rPr>
              <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编址：引言</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点分十进制 IP 地址表示法：</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网络层：4-44</a:t>
            </a:r>
            <a:fld id="{C4204591-24BD-A542-B9D5-F8D8A88D2FEE}" type="slidenum">
              <a:rPr lang="en-US" smtClean="0"/>
              <a:pPr/>
              <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地址：与每个主机或路由器接口关联的 32 位标识符 </a:t>
            </a:r>
            <a:r>
              <a:rPr lang="en-US" altLang="en-US" dirty="0">
                <a:solidFill>
                  <a:srgbClr val="C00000"/>
                </a:solidFill>
                <a:ea typeface="ＭＳ Ｐゴシック" panose="020B0600070205080204" pitchFamily="34" charset="-128"/>
                <a:cs typeface="ＭＳ Ｐゴシック" panose="020B0600070205080204" pitchFamily="34" charset="-128"/>
              </a:rPr>
              <a:t/>
            </a:r>
            <a:r>
              <a:rPr lang="en-US" altLang="en-US" dirty="0">
                <a:ea typeface="ＭＳ Ｐゴシック" panose="020B0600070205080204" pitchFamily="34" charset="-128"/>
                <a:cs typeface="ＭＳ Ｐゴシック" panose="020B0600070205080204" pitchFamily="34" charset="-128"/>
              </a:rPr>
              <a:t/>
            </a:r>
            <a:r>
              <a:rPr lang="en-US" altLang="en-US" i="1" dirty="0">
                <a:solidFill>
                  <a:srgbClr val="0000A3"/>
                </a:solidFill>
                <a:ea typeface="ＭＳ Ｐゴシック" panose="020B0600070205080204" pitchFamily="34" charset="-128"/>
                <a:cs typeface="ＭＳ Ｐゴシック" panose="020B0600070205080204" pitchFamily="34" charset="-128"/>
              </a:rPr>
              <a:t/>
            </a:r>
            <a:r>
              <a:rPr lang="en-US" altLang="en-US" dirty="0">
                <a:ea typeface="ＭＳ Ｐゴシック" panose="020B0600070205080204" pitchFamily="34" charset="-128"/>
                <a:cs typeface="ＭＳ Ｐゴシック" panose="020B0600070205080204" pitchFamily="34" charset="-128"/>
              </a:rPr>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接口：主机/路由器与物理链路之间的连接</a:t>
            </a:r>
            <a:r>
              <a:rPr lang="en-US" altLang="en-US" dirty="0">
                <a:ea typeface="ＭＳ Ｐゴシック" panose="020B0600070205080204" pitchFamily="34" charset="-128"/>
                <a:cs typeface="ＭＳ Ｐゴシック" panose="020B0600070205080204" pitchFamily="34" charset="-128"/>
              </a:rPr>
              <a:t/>
            </a:r>
          </a:p>
          <a:p>
            <a:pPr marL="522288" lvl="1" indent="-298450"/>
            <a:r>
              <a:rPr lang="en-US" altLang="en-US" sz="2800" dirty="0">
                <a:ea typeface="ＭＳ Ｐゴシック" panose="020B0600070205080204" pitchFamily="34" charset="-128"/>
              </a:rPr>
              <a:t>路由器通常有多个接口</a:t>
            </a:r>
            <a:r>
              <a:rPr lang="en-US" altLang="ja-JP" sz="2800" dirty="0">
                <a:ea typeface="ＭＳ Ｐゴシック" panose="020B0600070205080204" pitchFamily="34" charset="-128"/>
              </a:rPr>
              <a:t/>
            </a:r>
          </a:p>
          <a:p>
            <a:pPr marL="522288" lvl="1" indent="-298450"/>
            <a:r>
              <a:rPr lang="en-US" altLang="en-US" sz="2800" dirty="0">
                <a:ea typeface="ＭＳ Ｐゴシック" panose="020B0600070205080204" pitchFamily="34" charset="-128"/>
              </a:rPr>
              <a:t>主机通常有一个或两个接口（例如有线 Ethernet、无线 802.11）</a:t>
            </a:r>
            <a:r>
              <a:rPr lang="en-US" altLang="en-US" dirty="0">
                <a:ea typeface="ＭＳ Ｐゴシック" panose="020B0600070205080204" pitchFamily="34" charset="-128"/>
              </a:rPr>
              <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编址：引言</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点分十进制 IP 地址表示法：</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网络层：4-45</a:t>
            </a:r>
            <a:fld id="{C4204591-24BD-A542-B9D5-F8D8A88D2FEE}" type="slidenum">
              <a:rPr lang="en-US" smtClean="0"/>
              <a:pPr/>
              <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编址：引言</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问：接口实际上如何连接？</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答：有线方式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接口通过 Ethernet 交换机连接</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答：无线 WiFi 接口通过 WiFi 基站连接</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目前：无需关心一个接口如何与另一个接口连接（中间没有路由器）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答：我们将在第 6、7 章学习</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网络层：4-46</a:t>
            </a:r>
            <a:fld id="{C4204591-24BD-A542-B9D5-F8D8A88D2FEE}" type="slidenum">
              <a:rPr lang="en-US" smtClean="0"/>
              <a:pPr/>
              <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子网</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什么是子网？</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无需经过中间路由器即可在物理上互达的设备接口集合</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由 3 个子网组成的网络</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地址具有结构：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子网部分：同一子网中的设备具有相同高位比特</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主机部分：剩余低位比特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网络层：4-47</a:t>
            </a:r>
            <a:fld id="{C4204591-24BD-A542-B9D5-F8D8A88D2FEE}" type="slidenum">
              <a:rPr lang="en-US" smtClean="0"/>
              <a:pPr/>
              <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子网</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定义子网的方法：</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把每个接口从其主机或路由器上分离出来，形成相互隔离的网络“岛”</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每个隔离网络称为一个子网</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子网掩码：/24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（高 24 位：IP 地址的子网部分）</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子网</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网络层：4-48</a:t>
            </a:r>
            <a:fld id="{C4204591-24BD-A542-B9D5-F8D8A88D2FEE}" type="slidenum">
              <a:rPr lang="en-US" smtClean="0"/>
              <a:pPr/>
              <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子网</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子网在哪里？</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/24 子网地址分别是什么？</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网络层：4-49</a:t>
            </a:r>
            <a:fld id="{C4204591-24BD-A542-B9D5-F8D8A88D2FEE}" type="slidenum">
              <a:rPr lang="en-US" smtClean="0"/>
              <a:pPr/>
              <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编址：CIDR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CIDR：无类别域间路由（读作“cider”）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地址中的子网部分可为任意长度</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地址格式：a.b.c.d/x，其中 x 是地址子网部分的比特数</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子网</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部分</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主机</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部分</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网络层：4-50</a:t>
            </a:r>
            <a:fld id="{C4204591-24BD-A542-B9D5-F8D8A88D2FEE}" type="slidenum">
              <a:rPr lang="en-US" smtClean="0"/>
              <a:pPr/>
              <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地址：如何获得一个？</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这实际上是两个问题：</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问：主机如何在其网络内获得 IP 地址（地址的主机部分）？</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问：网络如何为自己获得 IP 地址（地址的网络部分）？</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主机如何获得 IP 地址？</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由系统管理员在配置文件中硬编码（例如 UNIX 中的 /etc/rc.config）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DHCP：动态主机配置协议：从服务器动态获得地址</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“即插即用”</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网络层：4-51</a:t>
            </a:r>
            <a:fld id="{C4204591-24BD-A542-B9D5-F8D8A88D2FEE}" type="slidenum">
              <a:rPr lang="en-US" smtClean="0"/>
              <a:pPr/>
              <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DHCP：动态主机配置协议</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目标：主机“加入”网络时，从网络服务器动态获得 IP 地址</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可以续租正在使用的地址</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允许地址复用（只在连接/开机期间持有地址）</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支持加入/离开网络的移动用户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概览：</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主机广播 DHCP discover 报文 [可选]</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服务器回应 DHCP offer 报文 [可选]</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主机请求 IP 地址：DHCP request 报文</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服务器发送地址：DHCP ack 报文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网络层：4-52</a:t>
            </a:r>
            <a:fld id="{C4204591-24BD-A542-B9D5-F8D8A88D2FEE}" type="slidenum">
              <a:rPr lang="en-US" smtClean="0"/>
              <a:pPr/>
              <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客户机-服务器场景</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服务器</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到达的 DHCP 客户机需要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该网络中的地址</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通常，DHCP 服务器会与路由器共置，为该路由器连接的所有子网服务</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网络层：4-53</a:t>
            </a:r>
            <a:fld id="{C4204591-24BD-A542-B9D5-F8D8A88D2FEE}" type="slidenum">
              <a:rPr lang="en-US" smtClean="0"/>
              <a:pPr/>
              <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客户机-服务器场景</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到达的客户机</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广播：这里有 DHCP 服务器吗？</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26752" y="2964551"/>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广播：我是 DHCP 服务器！这是你可以使用的 IP 地址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44534" y="4190101"/>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广播：好的，我想使用这个 IP 地址！</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09290" y="5558526"/>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广播：好的，你已获得该 IP 地址！</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如果“客户机记得并希望复用之前分配的网络地址”，上面两个步骤可以跳过 [RFC 2131]</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网络层：4-54</a:t>
            </a:r>
            <a:fld id="{C4204591-24BD-A542-B9D5-F8D8A88D2FEE}" type="slidenum">
              <a:rPr lang="en-US" smtClean="0"/>
              <a:pPr/>
              <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DHCP：不只是 IP 地址</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返回的不只是子网上分配的 IP 地址：</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客户机的第一跳路由器地址</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DNS 服务器名称和 IP 地址</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网络掩码（指示地址中的网络部分与主机部分）</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网络层：4-55</a:t>
            </a:r>
            <a:fld id="{C4204591-24BD-A542-B9D5-F8D8A88D2FEE}" type="slidenum">
              <a:rPr lang="en-US" smtClean="0"/>
              <a:pPr/>
              <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DHCP：示例</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接入的笔记本会使用 DHCP 获取 IP 地址、第一跳路由器地址和 DNS 服务器地址。</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带 DHCP 的路由器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服务器内置于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路由器</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报文封装在 UDP 中，再封装在 IP 中，再封装在 Ethernet 中</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帧在 LAN 上广播（目的：FFFFFFFFFFFF），被运行 DHCP 服务器的路由器接收</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分用到 IP，IP 分用到 UDP，UDP 分用到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网络层：4-56</a:t>
            </a:r>
            <a:fld id="{C4204591-24BD-A542-B9D5-F8D8A88D2FEE}" type="slidenum">
              <a:rPr lang="en-US" smtClean="0"/>
              <a:pPr/>
              <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DHCP：示例</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DHCP 服务器生成 DHCP ACK，其中包含客户机 IP 地址、客户机第一跳路由器的 IP 地址，以及 DNS 服务器名称和 IP 地址</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封装后的 DHCP 服务器回复被转发给客户机，并在客户机处分用到 DHCP</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带 DHCP 的路由器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服务器内置于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路由器</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客户机现在知道自己的 IP 地址、DNS 服务器名称和 IP 地址，以及第一跳路由器的 IP 地址</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网络层：4-57</a:t>
            </a:r>
            <a:fld id="{C4204591-24BD-A542-B9D5-F8D8A88D2FEE}" type="slidenum">
              <a:rPr lang="en-US" smtClean="0"/>
              <a:pPr/>
              <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地址：如何获得一个？</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问：网络如何获得 IP 地址的子网部分？</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答：从其提供商 ISP 的地址空间中获得分配的一部分</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随后 ISP 可把其地址空间分配为 8 个块：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网络层：4-58</a:t>
            </a:r>
            <a:fld id="{C4204591-24BD-A542-B9D5-F8D8A88D2FEE}" type="slidenum">
              <a:rPr lang="en-US" smtClean="0"/>
              <a:pPr/>
              <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层次化编址：路由聚合</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“把所有</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地址以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开头的内容发给我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互联网</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“把所有</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地址以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开头的内容发给我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层次化编址允许高效通告路由信息：</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网络层：4-59</a:t>
            </a:r>
            <a:fld id="{C4204591-24BD-A542-B9D5-F8D8A88D2FEE}" type="slidenum">
              <a:rPr lang="en-US" smtClean="0"/>
              <a:pPr/>
              <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层次化编址：更具体的路由</a:t>
            </a:r>
            <a:r>
              <a:rPr lang="en-US" altLang="en-US" sz="4800" dirty="0">
                <a:ea typeface="ＭＳ Ｐゴシック" panose="020B0600070205080204" pitchFamily="34" charset="-128"/>
              </a:rPr>
              <a:t/>
            </a:r>
            <a:r>
              <a:rPr lang="en-US" sz="4800" dirty="0"/>
              <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“把所有</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地址以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开头的内容发给我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互联网</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“把所有</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地址以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开头的内容发给我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从 Fly-By-Night-ISP 迁移到 ISPs-R-Us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现在向 Organization 1 通告一条更具体的路由</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“或 200.23.18.0/23”</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网络层：4-60</a:t>
            </a:r>
            <a:fld id="{C4204591-24BD-A542-B9D5-F8D8A88D2FEE}" type="slidenum">
              <a:rPr lang="en-US" smtClean="0"/>
              <a:pPr/>
              <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层次化编址：更具体的路由</a:t>
            </a:r>
            <a:r>
              <a:rPr lang="en-US" altLang="en-US" sz="4800" dirty="0">
                <a:ea typeface="ＭＳ Ｐゴシック" panose="020B0600070205080204" pitchFamily="34" charset="-128"/>
              </a:rPr>
              <a:t/>
            </a:r>
            <a:r>
              <a:rPr lang="en-US" sz="4800" dirty="0"/>
              <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“把所有</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地址以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开头的内容发给我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互联网</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“把所有</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地址以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开头的内容发给我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从 Fly-By-Night-ISP 迁移到 ISPs-R-Us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现在向 Organization 1 通告一条更具体的路由</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“或 200.23.18.0/23”</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网络层：4-61</a:t>
            </a:r>
            <a:fld id="{C4204591-24BD-A542-B9D5-F8D8A88D2FEE}" type="slidenum">
              <a:rPr lang="en-US" smtClean="0"/>
              <a:pPr/>
              <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编址：最后几句话……</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问：ISP 如何获得地址块？</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答：ICANN：互联网名称与数字地址分配机构 http://www.icann.org/</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通过 5 个区域注册机构（RR）分配 IP 地址（区域注册机构可再分配给本地注册机构）</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管理 DNS 根区，包括委派各个 TLD（.com、.edu 等）的管理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问：32 位 IP 地址足够吗？</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于 2011 年把最后一批 IPv4 地址分配给各 RR</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NAT（下一节）有助于缓解 IPv4 地址空间耗尽</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具有 128 位地址空间</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“谁知道我们到底需要多少地址空间？”Vint Cerf（回顾把 IPv4 地址定为 32 位的决定）</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网络层：4-62</a:t>
            </a:r>
            <a:fld id="{C4204591-24BD-A542-B9D5-F8D8A88D2FEE}" type="slidenum">
              <a:rPr lang="en-US" smtClean="0"/>
              <a:pPr/>
              <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网络层：“数据平面”路线图</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网络层：概览</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数据平面</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控制平面</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路由器内部有什么</a:t>
            </a:r>
            <a:r>
              <a:rPr lang="en-US" altLang="ja-JP" sz="3200" dirty="0">
                <a:solidFill>
                  <a:schemeClr val="bg1">
                    <a:lumMod val="75000"/>
                  </a:schemeClr>
                </a:solidFill>
                <a:ea typeface="ＭＳ Ｐゴシック" panose="020B0600070205080204" pitchFamily="34" charset="-128"/>
                <a:cs typeface="Arial" panose="020B0604020202020204" pitchFamily="34" charset="0"/>
              </a:rPr>
              <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输入端口、交换、输出端口</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缓冲区管理、调度</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IP：互联网协议</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数据报格式</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编址</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网络地址转换</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通用转发、SDN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匹配+动作</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OpenFlow：匹配+动作的实践</a:t>
            </a:r>
            <a:r>
              <a:rPr lang="en-US" altLang="en-US" sz="2800" dirty="0" err="1">
                <a:solidFill>
                  <a:schemeClr val="bg1">
                    <a:lumMod val="75000"/>
                  </a:schemeClr>
                </a:solidFill>
                <a:ea typeface="ＭＳ Ｐゴシック" panose="020B0600070205080204" pitchFamily="34" charset="-128"/>
              </a:rPr>
              <a:t/>
            </a:r>
            <a:r>
              <a:rPr lang="en-US" altLang="en-US" sz="2800" dirty="0">
                <a:solidFill>
                  <a:schemeClr val="bg1">
                    <a:lumMod val="75000"/>
                  </a:schemeClr>
                </a:solidFill>
                <a:ea typeface="ＭＳ Ｐゴシック" panose="020B0600070205080204" pitchFamily="34" charset="-128"/>
              </a:rPr>
              <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中间盒</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网络层：4-63</a:t>
            </a:r>
            <a:fld id="{C4204591-24BD-A542-B9D5-F8D8A88D2FEE}" type="slidenum">
              <a:rPr lang="en-US" smtClean="0"/>
              <a:pPr/>
              <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本地网络（例如家庭网络）10.0.0/24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其余</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互联网</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NAT：网络地址转换</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源或目的位于该网络内的数据报，其源/目的地址照常使用 10.0.0/24 地址</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所有离开本地网络的数据报都具有相同源 NAT IP 地址 138.76.29.7，但源端口号不同</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NAT：从外部世界看，本地网络中的所有设备共享一个 IPv4 地址</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网络层：4-64</a:t>
            </a:r>
            <a:fld id="{C4204591-24BD-A542-B9D5-F8D8A88D2FEE}" type="slidenum">
              <a:rPr lang="en-US" smtClean="0"/>
              <a:pPr/>
              <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本地网络中的所有设备都在“私有”IP 地址空间（10/8、172.16/12、192.168/16 前缀）中拥有 32 位地址，这些地址只能在本地网络中使用</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优点：</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所有设备只需从提供商 ISP 获取一个 IP 地址</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可更改本地网络中主机的地址，而无需通知外部世界</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可更换 ISP，而无需改变本地网络中设备的地址</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安全性：本地网络内部设备不能被外部世界直接寻址或看到</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NAT：网络地址转换</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网络层：4-65</a:t>
            </a:r>
            <a:fld id="{C4204591-24BD-A542-B9D5-F8D8A88D2FEE}" type="slidenum">
              <a:rPr lang="en-US" smtClean="0"/>
              <a:pPr/>
              <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实现：NAT 路由器必须（透明地）：</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外出数据报：把每个外出数据报的（源 IP 地址，端口号）替换为（NAT IP 地址，新端口号）</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远程客户机/服务器会使用（NAT IP 地址，新端口号）作为目的地址进行响应</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在 NAT 转换表中记住每个（源 IP 地址，端口号）到（NAT IP 地址，新端口号）的转换对</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进入数据报：把每个进入数据报目的字段中的（NAT IP 地址，新端口号）替换为 NAT 表中存储的对应（源 IP 地址，端口号）</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NAT：网络地址转换</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网络层：4-66</a:t>
            </a:r>
            <a:fld id="{C4204591-24BD-A542-B9D5-F8D8A88D2FEE}" type="slidenum">
              <a:rPr lang="en-US" smtClean="0"/>
              <a:pPr/>
              <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NAT：网络地址转换</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转换表</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侧地址        LAN 侧地址</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更新表</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网络层：4-67</a:t>
            </a:r>
            <a:fld id="{C4204591-24BD-A542-B9D5-F8D8A88D2FEE}" type="slidenum">
              <a:rPr lang="en-US" smtClean="0"/>
              <a:pPr/>
              <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一直存在争议：</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路由器“应该”只处理到第 3 层</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地址“短缺”应由 IPv6 解决</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违反端到端原则（网络层设备操纵端口号）</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穿越：如果客户机想连接 NAT 后面的服务器怎么办？</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但 NAT 已经会长期存在：</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广泛用于家庭和机构网络、4G/5G 蜂窝网络</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NAT：网络地址转换</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网络层：4-68</a:t>
            </a:r>
            <a:fld id="{C4204591-24BD-A542-B9D5-F8D8A88D2FEE}" type="slidenum">
              <a:rPr lang="en-US" smtClean="0"/>
              <a:pPr/>
              <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最初动机：32 位 IPv4 地址空间将被完全分配完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额外动机：</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加速处理/转发：40 字节固定长度首部</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支持对“流”进行不同的网络层处理</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IPv6：动机</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网络层：4-69</a:t>
            </a:r>
            <a:fld id="{C4204591-24BD-A542-B9D5-F8D8A88D2FEE}" type="slidenum">
              <a:rPr lang="en-US" smtClean="0"/>
              <a:pPr/>
              <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数据报格式</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载荷（数据）</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目的地址</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比特）</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源地址</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比特）</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载荷长度</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下一个首部</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跳数限制</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流标签</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优先级</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版本</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比特</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优先级：标识流中数据报的优先级</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流标签：标识同一“流”中的数据报（“流”的概念并未明确定义）。</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 位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地址</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缺少了什么（与 IPv4 相比）：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没有校验和（以加快路由器处理速度）</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分片/重组</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没有选项（在路由器处作为上层/下一首部协议提供）</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网络层：4-70</a:t>
            </a:r>
            <a:fld id="{C4204591-24BD-A542-B9D5-F8D8A88D2FEE}" type="slidenum">
              <a:rPr lang="en-US" smtClean="0"/>
              <a:pPr/>
              <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并非所有路由器都能同时升级</a:t>
            </a:r>
          </a:p>
          <a:p>
            <a:pPr lvl="1">
              <a:lnSpc>
                <a:spcPct val="75000"/>
              </a:lnSpc>
            </a:pPr>
            <a:r>
              <a:rPr lang="en-US" altLang="en-US" sz="2800" dirty="0">
                <a:ea typeface="ＭＳ Ｐゴシック" panose="020B0600070205080204" pitchFamily="34" charset="-128"/>
              </a:rPr>
              <a:t>没有“统一切换日”</a:t>
            </a:r>
            <a:r>
              <a:rPr lang="en-US" altLang="ja-JP" sz="2800" dirty="0">
                <a:ea typeface="ＭＳ Ｐゴシック" panose="020B0600070205080204" pitchFamily="34" charset="-128"/>
              </a:rPr>
              <a:t/>
            </a:r>
          </a:p>
          <a:p>
            <a:pPr lvl="1">
              <a:lnSpc>
                <a:spcPct val="75000"/>
              </a:lnSpc>
            </a:pPr>
            <a:r>
              <a:rPr lang="en-US" altLang="en-US" sz="2800" dirty="0">
                <a:ea typeface="ＭＳ Ｐゴシック" panose="020B0600070205080204" pitchFamily="34" charset="-128"/>
              </a:rPr>
              <a:t>网络中混有 IPv4 和 IPv6 路由器时如何运行？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从 IPv4 过渡到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源、目的地址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首部字段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数据报</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数据报</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载荷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载荷</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源、目的地址</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首部字段</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隧道：在 IPv4 路由器之间，IPv6 数据报作为 IPv4 数据报载荷携带（“分组中的分组”）</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隧道也广泛用于其他场景（4G/5G）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网络层：4-71</a:t>
            </a:r>
            <a:fld id="{C4204591-24BD-A542-B9D5-F8D8A88D2FEE}" type="slidenum">
              <a:rPr lang="en-US" smtClean="0"/>
              <a:pPr/>
              <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隧道与封装</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连接两个 IPv6 路由器的 Ethernet：</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连接两个 IPv6 路由器</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链路层帧</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数据报</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通常情况：数据报作为链路层帧的载荷</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网络</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连接两个 IPv6 路由器的 IPv4 网络</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网络层：4-72</a:t>
            </a:r>
            <a:fld id="{C4204591-24BD-A542-B9D5-F8D8A88D2FEE}" type="slidenum">
              <a:rPr lang="en-US" smtClean="0"/>
              <a:pPr/>
              <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隧道与封装</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连接两个 IPv6 路由器的 Ethernet：</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连接两个 IPv6 路由器</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连接两个 IPv6 路由器的 IPv4 隧道</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隧道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连接 IPv6 路由器</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链路层帧</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数据报</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通常情况：数据报作为链路层帧的载荷</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数据报</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数据报</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隧道：IPv6 数据报作为 IPv4 数据报的载荷</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网络层：4-73</a:t>
            </a:r>
            <a:fld id="{C4204591-24BD-A542-B9D5-F8D8A88D2FEE}" type="slidenum">
              <a:rPr lang="en-US" smtClean="0"/>
              <a:pPr/>
              <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 到 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位于</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流：X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源：A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目的：F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数据</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源：B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目的：E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隧道</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物理视图：</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逻辑视图：</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隧道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连接 IPv6 路由器</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流：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数据</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流：X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源：A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目的：F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数据</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源：B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目的：E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 到 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位于</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流：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数据</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 到 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位于</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流：X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源：A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目的：F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数据</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源：B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目的：E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注意源地址和目的地址！</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网络层：4-74</a:t>
            </a:r>
            <a:fld id="{C4204591-24BD-A542-B9D5-F8D8A88D2FEE}" type="slidenum">
              <a:rPr lang="en-US" smtClean="0"/>
              <a:pPr/>
              <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Google1：约 30% 的客户通过 IPv6 访问服务</a:t>
            </a:r>
            <a:r>
              <a:rPr lang="en-US" altLang="en-US" sz="3200" baseline="30000" dirty="0">
                <a:ea typeface="ＭＳ Ｐゴシック" panose="020B0600070205080204" pitchFamily="34" charset="-128"/>
                <a:cs typeface="ＭＳ Ｐゴシック" panose="020B0600070205080204" pitchFamily="34" charset="-128"/>
              </a:rPr>
              <a:t/>
            </a:r>
            <a:r>
              <a:rPr lang="en-US" altLang="en-US" sz="3200" dirty="0">
                <a:ea typeface="ＭＳ Ｐゴシック" panose="020B0600070205080204" pitchFamily="34" charset="-128"/>
                <a:cs typeface="ＭＳ Ｐゴシック" panose="020B0600070205080204" pitchFamily="34" charset="-128"/>
              </a:rPr>
              <a:t/>
            </a:r>
          </a:p>
          <a:p>
            <a:pPr marL="471488" indent="-341313"/>
            <a:r>
              <a:rPr lang="en-US" altLang="en-US" sz="3200" dirty="0">
                <a:ea typeface="ＭＳ Ｐゴシック" panose="020B0600070205080204" pitchFamily="34" charset="-128"/>
                <a:cs typeface="ＭＳ Ｐゴシック" panose="020B0600070205080204" pitchFamily="34" charset="-128"/>
              </a:rPr>
              <a:t>NIST：三分之一的美国政府域名支持 IPv6</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IPv6：采用情况</a:t>
            </a:r>
          </a:p>
        </p:txBody>
      </p:sp>
      <p:grpSp>
        <p:nvGrpSpPr>
          <p:cNvPr id="5" name="Group 4">
            <a:extLst>
              <a:ext uri="{FF2B5EF4-FFF2-40B4-BE49-F238E27FC236}">
                <a16:creationId xmlns:a16="http://schemas.microsoft.com/office/drawing/2014/main" id="{ADBF531C-BE87-EB49-B479-7855BE4CF21B}"/>
              </a:ext>
            </a:extLst>
          </p:cNvPr>
          <p:cNvGrpSpPr/>
          <p:nvPr/>
        </p:nvGrpSpPr>
        <p:grpSpPr>
          <a:xfrm>
            <a:off x="1284513" y="2612571"/>
            <a:ext cx="10450286" cy="4049486"/>
            <a:chOff x="1284513" y="2612571"/>
            <a:chExt cx="10450286" cy="4049486"/>
          </a:xfrm>
        </p:grpSpPr>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3A076BA1-0C02-564F-A83C-F71E4CB4A5F0}"/>
                </a:ext>
              </a:extLst>
            </p:cNvPr>
            <p:cNvPicPr>
              <a:picLocks noChangeAspect="1"/>
            </p:cNvPicPr>
            <p:nvPr/>
          </p:nvPicPr>
          <p:blipFill>
            <a:blip r:embed="rId3"/>
            <a:stretch>
              <a:fillRect/>
            </a:stretch>
          </p:blipFill>
          <p:spPr>
            <a:xfrm>
              <a:off x="1284513" y="2612571"/>
              <a:ext cx="7411254" cy="4049486"/>
            </a:xfrm>
            <a:prstGeom prst="rect">
              <a:avLst/>
            </a:prstGeom>
          </p:spPr>
        </p:pic>
      </p:gr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网络层：4-75</a:t>
            </a:r>
            <a:fld id="{C4204591-24BD-A542-B9D5-F8D8A88D2FEE}" type="slidenum">
              <a:rPr lang="en-US" smtClean="0"/>
              <a:pPr/>
              <a:t/>
            </a:fld>
            <a:endParaRPr lang="en-US" dirty="0"/>
          </a:p>
        </p:txBody>
      </p:sp>
    </p:spTree>
    <p:extLst>
      <p:ext uri="{BB962C8B-B14F-4D97-AF65-F5344CB8AC3E}">
        <p14:creationId xmlns:p14="http://schemas.microsoft.com/office/powerpoint/2010/main" val="667897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Google1：约 30% 的客户通过 IPv6 访问服务</a:t>
            </a:r>
            <a:r>
              <a:rPr lang="en-US" altLang="en-US" sz="3200" baseline="30000" dirty="0">
                <a:ea typeface="ＭＳ Ｐゴシック" panose="020B0600070205080204" pitchFamily="34" charset="-128"/>
                <a:cs typeface="ＭＳ Ｐゴシック" panose="020B0600070205080204" pitchFamily="34" charset="-128"/>
              </a:rPr>
              <a:t/>
            </a:r>
            <a:r>
              <a:rPr lang="en-US" altLang="en-US" sz="3200" dirty="0">
                <a:ea typeface="ＭＳ Ｐゴシック" panose="020B0600070205080204" pitchFamily="34" charset="-128"/>
                <a:cs typeface="ＭＳ Ｐゴシック" panose="020B0600070205080204" pitchFamily="34" charset="-128"/>
              </a:rPr>
              <a:t/>
            </a:r>
          </a:p>
          <a:p>
            <a:pPr marL="471488" indent="-341313"/>
            <a:r>
              <a:rPr lang="en-US" altLang="en-US" sz="3200" dirty="0">
                <a:ea typeface="ＭＳ Ｐゴシック" panose="020B0600070205080204" pitchFamily="34" charset="-128"/>
                <a:cs typeface="ＭＳ Ｐゴシック" panose="020B0600070205080204" pitchFamily="34" charset="-128"/>
              </a:rPr>
              <a:t>NIST：三分之一的美国政府域名支持 IPv6</a:t>
            </a:r>
          </a:p>
          <a:p>
            <a:pPr marL="471488" indent="-341313"/>
            <a:r>
              <a:rPr lang="en-US" altLang="en-US" sz="3200" dirty="0">
                <a:ea typeface="ＭＳ Ｐゴシック" panose="020B0600070205080204" pitchFamily="34" charset="-128"/>
                <a:cs typeface="ＭＳ Ｐゴシック" panose="020B0600070205080204" pitchFamily="34" charset="-128"/>
              </a:rPr>
              <a:t>部署和使用花费了很长（很长！）时间</a:t>
            </a:r>
          </a:p>
          <a:p>
            <a:pPr marL="914400" lvl="1" indent="-328613"/>
            <a:r>
              <a:rPr lang="en-US" altLang="en-US" sz="2800" dirty="0">
                <a:ea typeface="ＭＳ Ｐゴシック" panose="020B0600070205080204" pitchFamily="34" charset="-128"/>
              </a:rPr>
              <a:t>已经 25 年，而且仍在继续！</a:t>
            </a:r>
          </a:p>
          <a:p>
            <a:pPr marL="914400" lvl="1" indent="-328613"/>
            <a:r>
              <a:rPr lang="en-US" altLang="en-US" sz="2800" dirty="0">
                <a:ea typeface="ＭＳ Ｐゴシック" panose="020B0600070205080204" pitchFamily="34" charset="-128"/>
              </a:rPr>
              <a:t>想想过去 25 年应用层的变化：WWW、社交媒体、流媒体、游戏、远程呈现等</a:t>
            </a:r>
          </a:p>
          <a:p>
            <a:pPr marL="914400" lvl="1" indent="-328613"/>
            <a:r>
              <a:rPr lang="en-US" altLang="en-US" sz="2800" i="1" dirty="0">
                <a:solidFill>
                  <a:srgbClr val="CC0000"/>
                </a:solidFill>
                <a:ea typeface="ＭＳ Ｐゴシック" panose="020B0600070205080204" pitchFamily="34" charset="-128"/>
              </a:rPr>
              <a:t>为什么？</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IPv6：采用情况</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网络层：4-76</a:t>
            </a:r>
            <a:fld id="{C4204591-24BD-A542-B9D5-F8D8A88D2FEE}" type="slidenum">
              <a:rPr lang="en-US" smtClean="0"/>
              <a:pPr/>
              <a:t/>
            </a:fld>
            <a:endParaRPr lang="en-US" dirty="0"/>
          </a:p>
        </p:txBody>
      </p:sp>
    </p:spTree>
    <p:extLst>
      <p:ext uri="{BB962C8B-B14F-4D97-AF65-F5344CB8AC3E}">
        <p14:creationId xmlns:p14="http://schemas.microsoft.com/office/powerpoint/2010/main" val="161186506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网络层：“数据平面”路线图</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网络层：概览</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数据平面</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控制平面</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通用转发、SDN</a:t>
            </a:r>
          </a:p>
          <a:p>
            <a:pPr lvl="1">
              <a:lnSpc>
                <a:spcPct val="100000"/>
              </a:lnSpc>
              <a:spcBef>
                <a:spcPts val="0"/>
              </a:spcBef>
            </a:pPr>
            <a:r>
              <a:rPr lang="en-US" altLang="en-US" sz="2800" dirty="0" err="1">
                <a:ea typeface="ＭＳ Ｐゴシック" panose="020B0600070205080204" pitchFamily="34" charset="-128"/>
              </a:rPr>
              <a:t>匹配+动作</a:t>
            </a:r>
            <a:endParaRPr lang="en-US" altLang="en-US" sz="2800" dirty="0">
              <a:ea typeface="ＭＳ Ｐゴシック" panose="020B0600070205080204" pitchFamily="34" charset="-128"/>
            </a:endParaRPr>
          </a:p>
          <a:p>
            <a:pPr lvl="1">
              <a:lnSpc>
                <a:spcPct val="100000"/>
              </a:lnSpc>
              <a:spcBef>
                <a:spcPts val="0"/>
              </a:spcBef>
            </a:pPr>
            <a:r>
              <a:rPr lang="en-US" altLang="en-US" sz="2800" dirty="0">
                <a:ea typeface="ＭＳ Ｐゴシック" panose="020B0600070205080204" pitchFamily="34" charset="-128"/>
              </a:rPr>
              <a:t>OpenFlow：匹配+动作的实践</a:t>
            </a:r>
            <a:r>
              <a:rPr lang="en-US" altLang="en-US" sz="2800" dirty="0" err="1">
                <a:ea typeface="ＭＳ Ｐゴシック" panose="020B0600070205080204" pitchFamily="34" charset="-128"/>
              </a:rPr>
              <a:t/>
            </a:r>
            <a:r>
              <a:rPr lang="en-US" altLang="en-US" sz="2800" dirty="0">
                <a:ea typeface="ＭＳ Ｐゴシック" panose="020B0600070205080204" pitchFamily="34" charset="-128"/>
              </a:rPr>
              <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中间盒</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网络层：4-77</a:t>
            </a:r>
            <a:fld id="{C4204591-24BD-A542-B9D5-F8D8A88D2FEE}" type="slidenum">
              <a:rPr lang="en-US" smtClean="0"/>
              <a:pPr/>
              <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路由器内部有什么</a:t>
            </a:r>
            <a:r>
              <a:rPr lang="en-US" altLang="ja-JP" sz="3200" dirty="0">
                <a:solidFill>
                  <a:schemeClr val="bg1">
                    <a:lumMod val="75000"/>
                  </a:schemeClr>
                </a:solidFill>
                <a:ea typeface="ＭＳ Ｐゴシック" panose="020B0600070205080204" pitchFamily="34" charset="-128"/>
                <a:cs typeface="Arial" panose="020B0604020202020204" pitchFamily="34" charset="0"/>
              </a:rPr>
              <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输入端口、交换、输出端口</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缓冲区管理、调度</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IP：互联网协议</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数据报格式</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编址</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网络地址转换</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到达分组中的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分组首部</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通用转发：匹配加动作</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回顾：每台路由器都包含一张转发表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“匹配加动作”抽象：匹配到达分组中的比特，然后采取动作</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通用转发： </a:t>
            </a:r>
            <a:r>
              <a:rPr kumimoji="0" lang="en-US" altLang="en-US" sz="2800" b="0" i="1" u="none" strike="noStrike" kern="1200" cap="none" spc="0" normalizeH="0" baseline="0" noProof="0" dirty="0" err="1">
                <a:ln>
                  <a:noFill/>
                </a:ln>
                <a:solidFill>
                  <a:srgbClr val="0013A3"/>
                </a:solidFill>
                <a:effectLst/>
                <a:uLnTx/>
                <a:uFillTx/>
                <a:latin typeface="Calibri" panose="020F0502020204030204"/>
                <a:ea typeface="ＭＳ Ｐゴシック" panose="020B0600070205080204" pitchFamily="34" charset="-128"/>
                <a:cs typeface="+mn-cs"/>
              </a:rPr>
              <a:t/>
            </a: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许多首部字段都可决定动作</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可能有许多动作：丢弃/复制/修改/记录分组</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转发表</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（又称：流表）</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（又称：流表）</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基于目的地址的转发：基于目的 IP 地址转发</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网络层：4-78</a:t>
            </a:r>
            <a:fld id="{C4204591-24BD-A542-B9D5-F8D8A88D2FEE}" type="slidenum">
              <a:rPr lang="en-US" smtClean="0"/>
              <a:pPr/>
              <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流：由首部字段值定义（链路层、网络层、传输层字段）</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通用转发：简单分组处理规则</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
            </a:r>
          </a:p>
          <a:p>
            <a:pPr lvl="1"/>
            <a:r>
              <a:rPr lang="en-US" altLang="en-US" dirty="0">
                <a:solidFill>
                  <a:srgbClr val="0000A8"/>
                </a:solidFill>
                <a:latin typeface="Calibri" panose="020F0502020204030204" pitchFamily="34" charset="0"/>
                <a:ea typeface="ＭＳ Ｐゴシック" panose="020B0600070205080204" pitchFamily="34" charset="-128"/>
              </a:rPr>
              <a:t>匹配：分组首部字段中的模式值</a:t>
            </a:r>
            <a:r>
              <a:rPr lang="en-US" altLang="en-US" dirty="0">
                <a:solidFill>
                  <a:srgbClr val="000090"/>
                </a:solidFill>
                <a:latin typeface="Calibri" panose="020F0502020204030204" pitchFamily="34" charset="0"/>
                <a:ea typeface="ＭＳ Ｐゴシック" panose="020B0600070205080204" pitchFamily="34" charset="-128"/>
              </a:rPr>
              <a:t/>
            </a:r>
            <a:r>
              <a:rPr lang="en-US" altLang="en-US" dirty="0">
                <a:latin typeface="Calibri" panose="020F0502020204030204" pitchFamily="34" charset="0"/>
                <a:ea typeface="ＭＳ Ｐゴシック" panose="020B0600070205080204" pitchFamily="34" charset="-128"/>
              </a:rPr>
              <a:t/>
            </a:r>
            <a:r>
              <a:rPr lang="en-US" altLang="en-US" dirty="0">
                <a:solidFill>
                  <a:srgbClr val="000090"/>
                </a:solidFill>
                <a:latin typeface="Calibri" panose="020F0502020204030204" pitchFamily="34" charset="0"/>
                <a:ea typeface="ＭＳ Ｐゴシック" panose="020B0600070205080204" pitchFamily="34" charset="-128"/>
              </a:rPr>
              <a:t/>
            </a:r>
            <a:r>
              <a:rPr lang="en-US" altLang="en-US" dirty="0">
                <a:latin typeface="Calibri" panose="020F0502020204030204" pitchFamily="34" charset="0"/>
                <a:ea typeface="ＭＳ Ｐゴシック" panose="020B0600070205080204" pitchFamily="34" charset="-128"/>
              </a:rPr>
              <a:t/>
            </a:r>
          </a:p>
          <a:p>
            <a:pPr lvl="1"/>
            <a:r>
              <a:rPr lang="en-US" altLang="en-US" dirty="0">
                <a:solidFill>
                  <a:srgbClr val="0000A8"/>
                </a:solidFill>
                <a:latin typeface="Calibri" panose="020F0502020204030204" pitchFamily="34" charset="0"/>
                <a:ea typeface="ＭＳ Ｐゴシック" panose="020B0600070205080204" pitchFamily="34" charset="-128"/>
              </a:rPr>
              <a:t>动作：对匹配分组执行丢弃、转发、修改，或将匹配分组发送给控制器 </a:t>
            </a:r>
            <a:r>
              <a:rPr lang="en-US" altLang="en-US" dirty="0">
                <a:latin typeface="Calibri" panose="020F0502020204030204" pitchFamily="34" charset="0"/>
                <a:ea typeface="ＭＳ Ｐゴシック" panose="020B0600070205080204" pitchFamily="34" charset="-128"/>
              </a:rPr>
              <a:t/>
            </a:r>
          </a:p>
          <a:p>
            <a:pPr lvl="1"/>
            <a:r>
              <a:rPr lang="en-US" altLang="en-US" dirty="0">
                <a:solidFill>
                  <a:srgbClr val="0000A8"/>
                </a:solidFill>
                <a:latin typeface="Calibri" panose="020F0502020204030204" pitchFamily="34" charset="0"/>
                <a:ea typeface="ＭＳ Ｐゴシック" panose="020B0600070205080204" pitchFamily="34" charset="-128"/>
              </a:rPr>
              <a:t>优先级：消解重叠模式的歧义</a:t>
            </a:r>
            <a:r>
              <a:rPr lang="en-US" altLang="en-US" dirty="0">
                <a:latin typeface="Calibri" panose="020F0502020204030204" pitchFamily="34" charset="0"/>
                <a:ea typeface="ＭＳ Ｐゴシック" panose="020B0600070205080204" pitchFamily="34" charset="-128"/>
              </a:rPr>
              <a:t/>
            </a:r>
          </a:p>
          <a:p>
            <a:pPr lvl="1"/>
            <a:r>
              <a:rPr lang="en-US" altLang="en-US" dirty="0">
                <a:solidFill>
                  <a:srgbClr val="0000A8"/>
                </a:solidFill>
                <a:latin typeface="Calibri" panose="020F0502020204030204" pitchFamily="34" charset="0"/>
                <a:ea typeface="ＭＳ Ｐゴシック" panose="020B0600070205080204" pitchFamily="34" charset="-128"/>
              </a:rPr>
              <a:t>计数器：字节数和分组数</a:t>
            </a:r>
            <a:r>
              <a:rPr lang="en-US" altLang="en-US" dirty="0">
                <a:latin typeface="Calibri" panose="020F0502020204030204" pitchFamily="34" charset="0"/>
                <a:ea typeface="ＭＳ Ｐゴシック" panose="020B0600070205080204" pitchFamily="34" charset="-128"/>
              </a:rPr>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流表抽象</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路由器流表定义该路由器的匹配+动作规则</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流表</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匹配</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动作</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网络层：4-79</a:t>
            </a:r>
            <a:fld id="{C4204591-24BD-A542-B9D5-F8D8A88D2FEE}" type="slidenum">
              <a:rPr lang="en-US" smtClean="0"/>
              <a:pPr/>
              <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流：由首部字段定义</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通用转发：简单分组处理规则</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
            </a:r>
          </a:p>
          <a:p>
            <a:pPr lvl="1"/>
            <a:r>
              <a:rPr lang="en-US" altLang="en-US" dirty="0">
                <a:solidFill>
                  <a:srgbClr val="0000A8"/>
                </a:solidFill>
                <a:latin typeface="Calibri" panose="020F0502020204030204" pitchFamily="34" charset="0"/>
                <a:ea typeface="ＭＳ Ｐゴシック" panose="020B0600070205080204" pitchFamily="34" charset="-128"/>
              </a:rPr>
              <a:t>匹配：分组首部字段中的模式值</a:t>
            </a:r>
            <a:r>
              <a:rPr lang="en-US" altLang="en-US" dirty="0">
                <a:solidFill>
                  <a:srgbClr val="000090"/>
                </a:solidFill>
                <a:latin typeface="Calibri" panose="020F0502020204030204" pitchFamily="34" charset="0"/>
                <a:ea typeface="ＭＳ Ｐゴシック" panose="020B0600070205080204" pitchFamily="34" charset="-128"/>
              </a:rPr>
              <a:t/>
            </a:r>
            <a:r>
              <a:rPr lang="en-US" altLang="en-US" dirty="0">
                <a:latin typeface="Calibri" panose="020F0502020204030204" pitchFamily="34" charset="0"/>
                <a:ea typeface="ＭＳ Ｐゴシック" panose="020B0600070205080204" pitchFamily="34" charset="-128"/>
              </a:rPr>
              <a:t/>
            </a:r>
            <a:r>
              <a:rPr lang="en-US" altLang="en-US" dirty="0">
                <a:solidFill>
                  <a:srgbClr val="000090"/>
                </a:solidFill>
                <a:latin typeface="Calibri" panose="020F0502020204030204" pitchFamily="34" charset="0"/>
                <a:ea typeface="ＭＳ Ｐゴシック" panose="020B0600070205080204" pitchFamily="34" charset="-128"/>
              </a:rPr>
              <a:t/>
            </a:r>
            <a:r>
              <a:rPr lang="en-US" altLang="en-US" dirty="0">
                <a:latin typeface="Calibri" panose="020F0502020204030204" pitchFamily="34" charset="0"/>
                <a:ea typeface="ＭＳ Ｐゴシック" panose="020B0600070205080204" pitchFamily="34" charset="-128"/>
              </a:rPr>
              <a:t/>
            </a:r>
          </a:p>
          <a:p>
            <a:pPr lvl="1"/>
            <a:r>
              <a:rPr lang="en-US" altLang="en-US" dirty="0">
                <a:solidFill>
                  <a:srgbClr val="0000A8"/>
                </a:solidFill>
                <a:latin typeface="Calibri" panose="020F0502020204030204" pitchFamily="34" charset="0"/>
                <a:ea typeface="ＭＳ Ｐゴシック" panose="020B0600070205080204" pitchFamily="34" charset="-128"/>
              </a:rPr>
              <a:t>动作：对匹配分组执行丢弃、转发、修改，或将匹配分组发送给控制器 </a:t>
            </a:r>
            <a:r>
              <a:rPr lang="en-US" altLang="en-US" dirty="0">
                <a:latin typeface="Calibri" panose="020F0502020204030204" pitchFamily="34" charset="0"/>
                <a:ea typeface="ＭＳ Ｐゴシック" panose="020B0600070205080204" pitchFamily="34" charset="-128"/>
              </a:rPr>
              <a:t/>
            </a:r>
          </a:p>
          <a:p>
            <a:pPr lvl="1"/>
            <a:r>
              <a:rPr lang="en-US" altLang="en-US" dirty="0">
                <a:solidFill>
                  <a:srgbClr val="0000A8"/>
                </a:solidFill>
                <a:latin typeface="Calibri" panose="020F0502020204030204" pitchFamily="34" charset="0"/>
                <a:ea typeface="ＭＳ Ｐゴシック" panose="020B0600070205080204" pitchFamily="34" charset="-128"/>
              </a:rPr>
              <a:t>优先级：消解重叠模式的歧义</a:t>
            </a:r>
            <a:r>
              <a:rPr lang="en-US" altLang="en-US" dirty="0">
                <a:latin typeface="Calibri" panose="020F0502020204030204" pitchFamily="34" charset="0"/>
                <a:ea typeface="ＭＳ Ｐゴシック" panose="020B0600070205080204" pitchFamily="34" charset="-128"/>
              </a:rPr>
              <a:t/>
            </a:r>
          </a:p>
          <a:p>
            <a:pPr lvl="1"/>
            <a:r>
              <a:rPr lang="en-US" altLang="en-US" dirty="0">
                <a:solidFill>
                  <a:srgbClr val="0000A8"/>
                </a:solidFill>
                <a:latin typeface="Calibri" panose="020F0502020204030204" pitchFamily="34" charset="0"/>
                <a:ea typeface="ＭＳ Ｐゴシック" panose="020B0600070205080204" pitchFamily="34" charset="-128"/>
              </a:rPr>
              <a:t>计数器：字节数和分组数</a:t>
            </a:r>
            <a:r>
              <a:rPr lang="en-US" altLang="en-US" dirty="0">
                <a:latin typeface="Calibri" panose="020F0502020204030204" pitchFamily="34" charset="0"/>
                <a:ea typeface="ＭＳ Ｐゴシック" panose="020B0600070205080204" pitchFamily="34" charset="-128"/>
              </a:rPr>
              <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流表</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匹配</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动作</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*：通配符</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=10.1.2.3,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=1.2.*.*,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 *.*.*.*,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流表抽象</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网络层：4-80</a:t>
            </a:r>
            <a:fld id="{C4204591-24BD-A542-B9D5-F8D8A88D2FEE}" type="slidenum">
              <a:rPr lang="en-US" smtClean="0"/>
              <a:pPr/>
              <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OpenFlow：流表项</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匹配</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动作</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统计</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把分组转发到端口</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丢弃分组</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修改首部中的字段</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封装并转发给控制器</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分组和字节计数器</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要匹配的首部字段：</a:t>
              </a:r>
              <a:endParaRPr kumimoji="0" lang="zh-TW" altLang="en-US" sz="1800" b="0" i="0" u="none" strike="noStrike" kern="1200" cap="none" spc="0" normalizeH="0" baseline="0" noProof="0" dirty="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入口端口</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源 MAC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目的 MAC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Eth 类型</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协议</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源地址</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链路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网络层</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传输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网络层：4-81</a:t>
            </a:r>
            <a:fld id="{C4204591-24BD-A542-B9D5-F8D8A88D2FEE}" type="slidenum">
              <a:rPr lang="en-US" smtClean="0"/>
              <a:pPr/>
              <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OpenFlow：示例</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目的 IP 地址为 51.6.0.8 的 IP 数据报应转发到路由器输出端口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阻止（不转发）所有目的为 TCP 端口 22（ssh 端口号）的数据报</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阻止（不转发）主机 128.119.1.1 发送的所有数据报</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基于目的地址的转发：</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交换机</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源</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目的</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动作</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防火墙：</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丢弃</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交换机</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源</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目的</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动作</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交换机</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源</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目的</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动作</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丢弃</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网络层：4-82</a:t>
            </a:r>
            <a:fld id="{C4204591-24BD-A542-B9D5-F8D8A88D2FEE}" type="slidenum">
              <a:rPr lang="en-US" smtClean="0"/>
              <a:pPr/>
              <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OpenFlow：示例</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第 2 层基于目的地址的转发：</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目的 MAC 地址为 22:A7:23:11:E1:02 的第 2 层帧应转发到输出端口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交换机</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源</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目的</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动作</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网络层：4-83</a:t>
            </a:r>
            <a:fld id="{C4204591-24BD-A542-B9D5-F8D8A88D2FEE}" type="slidenum">
              <a:rPr lang="en-US" smtClean="0"/>
              <a:pPr/>
              <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err="1">
                <a:solidFill>
                  <a:srgbClr val="C00000"/>
                </a:solidFill>
                <a:latin typeface="Calibri" panose="020F0502020204030204" pitchFamily="34" charset="0"/>
              </a:rPr>
              <a:t>匹配+动作：该抽象统一了不同类型的设备</a:t>
            </a:r>
            <a:r>
              <a:rPr lang="en-US" altLang="en-US" dirty="0">
                <a:solidFill>
                  <a:srgbClr val="C00000"/>
                </a:solidFill>
                <a:latin typeface="Calibri" panose="020F0502020204030204" pitchFamily="34" charset="0"/>
              </a:rPr>
              <a:t/>
            </a:r>
            <a:r>
              <a:rPr lang="en-US" altLang="en-US" dirty="0">
                <a:latin typeface="Calibri" panose="020F0502020204030204" pitchFamily="34" charset="0"/>
              </a:rPr>
              <a:t/>
            </a:r>
            <a:r>
              <a:rPr lang="en-US" altLang="en-US" dirty="0">
                <a:solidFill>
                  <a:srgbClr val="C00000"/>
                </a:solidFill>
                <a:latin typeface="Calibri" panose="020F0502020204030204" pitchFamily="34" charset="0"/>
              </a:rPr>
              <a:t/>
            </a:r>
            <a:r>
              <a:rPr lang="en-US" altLang="en-US" dirty="0">
                <a:latin typeface="Calibri" panose="020F0502020204030204" pitchFamily="34" charset="0"/>
              </a:rPr>
              <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抽象</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路由器</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匹配：最长目的 IP 前缀</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动作：从某条链路转发出去</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交换机</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匹配：目的 MAC 地址</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动作：转发或泛洪</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防火墙</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匹配：IP 地址和 TCP/UDP 端口号</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动作：允许或拒绝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匹配：IP 地址和端口</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动作：重写地址和端口</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网络层：4-84</a:t>
            </a:r>
            <a:fld id="{C4204591-24BD-A542-B9D5-F8D8A88D2FEE}" type="slidenum">
              <a:rPr lang="en-US" smtClean="0"/>
              <a:pPr/>
              <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示例</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控制器</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协同编排的表可以创建全网范围的行为，例如：</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来自主机 h5 和 h6 的数据报应经由 s1、再到 s2，发送到 h3 或 h4</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网络层：4-85</a:t>
            </a:r>
            <a:fld id="{C4204591-24BD-A542-B9D5-F8D8A88D2FEE}" type="slidenum">
              <a:rPr lang="en-US" smtClean="0"/>
              <a:pPr/>
              <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示例</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Src</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Dst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匹配</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动作</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匹配</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动作</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匹配</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动作</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控制器</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协同编排的表可以创建全网范围的行为，例如：</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来自主机 h5 和 h6 的数据报应经由 s1、再到 s2，发送到 h3 或 h4</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网络层：4-86</a:t>
            </a:r>
            <a:fld id="{C4204591-24BD-A542-B9D5-F8D8A88D2FEE}" type="slidenum">
              <a:rPr lang="en-US" smtClean="0"/>
              <a:pPr/>
              <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通用转发：小结</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“匹配加动作”抽象：匹配任意层到达分组首部中的比特，并采取动作</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可在多个字段上匹配（链路层、网络层、传输层）</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本地动作：丢弃、转发、修改，或把匹配分组发送给控制器</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“编程”全网范围的行为</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“网络可编程性”的简单形式</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可编程的逐分组“处理”</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历史根源：主动网络</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今天：更通用的编程：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P4（见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网络层：4-87</a:t>
            </a:r>
            <a:fld id="{C4204591-24BD-A542-B9D5-F8D8A88D2FEE}" type="slidenum">
              <a:rPr lang="en-US" smtClean="0"/>
              <a:pPr/>
              <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网络层：“数据平面”路线图</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网络层：4-88</a:t>
            </a:r>
            <a:fld id="{C4204591-24BD-A542-B9D5-F8D8A88D2FEE}" type="slidenum">
              <a:rPr lang="en-US" smtClean="0"/>
              <a:pPr/>
              <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网络层：概览</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路由器内部有什么</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IP：互联网协议</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通用转发</a:t>
            </a:r>
          </a:p>
          <a:p>
            <a:pPr marL="403225" indent="-285750">
              <a:spcBef>
                <a:spcPts val="800"/>
              </a:spcBef>
              <a:buClr>
                <a:srgbClr val="0013A3"/>
              </a:buClr>
            </a:pPr>
            <a:r>
              <a:rPr lang="en-US" sz="3600" dirty="0"/>
              <a:t>中间盒</a:t>
            </a:r>
          </a:p>
          <a:p>
            <a:pPr marL="746125" lvl="1" indent="-285750">
              <a:spcBef>
                <a:spcPts val="800"/>
              </a:spcBef>
              <a:buClr>
                <a:srgbClr val="0013A3"/>
              </a:buClr>
            </a:pPr>
            <a:r>
              <a:rPr lang="en-US" sz="2800" dirty="0"/>
              <a:t>中间盒功能</a:t>
            </a:r>
          </a:p>
          <a:p>
            <a:pPr marL="746125" lvl="1" indent="-285750">
              <a:spcBef>
                <a:spcPts val="800"/>
              </a:spcBef>
              <a:buClr>
                <a:srgbClr val="0013A3"/>
              </a:buClr>
            </a:pPr>
            <a:r>
              <a:rPr lang="en-US" sz="2800" dirty="0"/>
              <a:t>互联网的演进和体系结构原则</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中间盒</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“源主机与目的主机之间数据路径上，执行 IP 路由器正常标准功能之外其他功能的任何中间设备”</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中间盒（RFC 3234）</a:t>
            </a:r>
          </a:p>
        </p:txBody>
      </p:sp>
    </p:spTree>
    <p:extLst>
      <p:ext uri="{BB962C8B-B14F-4D97-AF65-F5344CB8AC3E}">
        <p14:creationId xmlns:p14="http://schemas.microsoft.com/office/powerpoint/2010/main" val="415840361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a:t>中间盒无处不在！</a:t>
            </a:r>
            <a:endParaRPr lang="en-US" dirty="0"/>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企业</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网络层</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全国或全球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数据中心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网络层</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NAT：家庭、蜂窝、机构网络</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防火墙、IDS：企业、机构、服务提供商、ISP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负载均衡器：企业、服务提供商、数据中心、移动网络</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缓存：服务提供商、移动网络、CDN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特定应用：服务提供商、机构、CDN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中间盒</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最初：专有（封闭）硬件方案</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转向实现开放 API 的“白盒”硬件</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
            </a:r>
            <a:r>
              <a:rPr kumimoji="0" lang="en-US" sz="2800" b="0" i="0" u="none" strike="noStrike" kern="1200" cap="none" spc="0" normalizeH="0" baseline="0" noProof="0" dirty="0" err="1">
                <a:ln>
                  <a:noFill/>
                </a:ln>
                <a:solidFill>
                  <a:srgbClr val="0000A8"/>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摆脱专有硬件方案</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通过匹配+动作实现可编程本地动作</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转向软件中的创新/差异化</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SDN：（逻辑上）集中式控制和配置管理，通常位于私有/公有云中</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网络功能虚拟化（NFV）：基于白盒网络、计算和存储的可编程服务</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IP 沙漏</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铜线   无线电   光纤</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互联网的“细腰”：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一个网络层协议：IP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必须由每一台（数十亿台）互联网连接设备实现</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物理层、链路层、传输层和应用层有许多协议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中年时期的 IP 沙漏</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铜线   无线电   光纤</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互联网中年时期的“赘肉”？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在网络内部运行的中间盒</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防火墙</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互联网体系结构原则</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“互联网社区中的许多成员会认为并不存在体系结构，只有传统；在最初 25 年里，这些传统并未被写下来（至少不是由 IAB 写下）。然而，从非常一般的角度看，社区相信：</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目标是连通性，工具是互联网协议，智能位于端到端，而不是隐藏在网络内部。”</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三项基石信念：</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简单连通性</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协议：那条窄腰</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智能和复杂性位于网络边缘</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端到端原则</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某些网络功能（例如可靠数据传输、拥塞控制）可以在网络内部实现，也可以在网络边缘实现</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可靠数据传输的端到端实现</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数据链路层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数据链路层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数据链路层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应用层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传输层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数据链路层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网络层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链路层</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物理层</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逐跳（网络内部）实现可靠数据传输</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端到端原则</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所讨论的功能只有借助通信系统端点处应用的知识和帮助，才能被完整且正确地实现。因此，把该功能作为通信系统本身的特性来提供是不可能的。（有时，通信系统提供的该功能的不完整版本可作为性能增强而有用。）</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我们把这种反对在低层实现功能的推理称为“端到端原则”。</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Saltzer、Reed、Clark，1981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某些网络功能（例如可靠数据传输、拥塞控制）可以在网络内部实现，也可以在网络边缘实现</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智能在哪里？</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 世纪电话网：</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智能/计算位于网络交换机</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互联网（2005 年前）</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智能和计算位于边缘</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互联网（2005 年后）</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可编程网络设备</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智能、计算和大规模应用层基础设施位于边缘</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问题：转发表（基于目的地址的转发）或流表（通用转发）如何计算？</a:t>
            </a:r>
            <a:r>
              <a:rPr lang="en-US" altLang="en-US" dirty="0">
                <a:ea typeface="ＭＳ Ｐゴシック" panose="020B0600070205080204" pitchFamily="34" charset="-128"/>
                <a:cs typeface="ＭＳ Ｐゴシック" panose="020B0600070205080204" pitchFamily="34" charset="-128"/>
              </a:rPr>
              <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答案：由控制平面计算（下一章）</a:t>
            </a:r>
            <a:r>
              <a:rPr lang="en-US" altLang="en-US" dirty="0">
                <a:ea typeface="ＭＳ Ｐゴシック" panose="020B0600070205080204" pitchFamily="34" charset="-128"/>
                <a:cs typeface="ＭＳ Ｐゴシック" panose="020B0600070205080204" pitchFamily="34" charset="-128"/>
              </a:rPr>
              <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第 4 章：结束！</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通用转发、SDN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中间盒</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网络层：概览</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路由器内部有什么</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IP：互联网协议</a:t>
              </a:r>
            </a:p>
          </p:txBody>
        </p:sp>
      </p:grpSp>
    </p:spTree>
    <p:extLst>
      <p:ext uri="{BB962C8B-B14F-4D97-AF65-F5344CB8AC3E}">
        <p14:creationId xmlns:p14="http://schemas.microsoft.com/office/powerpoint/2010/main" val="3430021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第 4 章补充幻灯片</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网络层：4-99</a:t>
            </a:r>
            <a:fld id="{C4204591-24BD-A542-B9D5-F8D8A88D2FEE}" type="slidenum">
              <a:rPr lang="en-US" smtClean="0"/>
              <a:pPr/>
              <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网络链路具有 MTU（最大传输大小），即可能的最大链路层帧</a:t>
            </a:r>
          </a:p>
          <a:p>
            <a:pPr lvl="1"/>
            <a:r>
              <a:rPr lang="en-US" altLang="en-US" dirty="0">
                <a:ea typeface="ＭＳ Ｐゴシック" panose="020B0600070205080204" pitchFamily="34" charset="-128"/>
              </a:rPr>
              <a:t>不同链路类型具有不同 MTU </a:t>
            </a:r>
          </a:p>
          <a:p>
            <a:r>
              <a:rPr lang="en-US" altLang="en-US" dirty="0">
                <a:ea typeface="ＭＳ Ｐゴシック" panose="020B0600070205080204" pitchFamily="34" charset="-128"/>
                <a:cs typeface="ＭＳ Ｐゴシック" panose="020B0600070205080204" pitchFamily="34" charset="-128"/>
              </a:rPr>
              <a:t>大的 IP 数据报在网络内部被划分（“分片”）</a:t>
            </a:r>
            <a:r>
              <a:rPr lang="en-US" altLang="ja-JP" dirty="0">
                <a:ea typeface="ＭＳ Ｐゴシック" panose="020B0600070205080204" pitchFamily="34" charset="-128"/>
                <a:cs typeface="ＭＳ Ｐゴシック" panose="020B0600070205080204" pitchFamily="34" charset="-128"/>
              </a:rPr>
              <a:t/>
            </a:r>
          </a:p>
          <a:p>
            <a:pPr lvl="1"/>
            <a:r>
              <a:rPr lang="en-US" altLang="en-US" dirty="0">
                <a:ea typeface="ＭＳ Ｐゴシック" panose="020B0600070205080204" pitchFamily="34" charset="-128"/>
              </a:rPr>
              <a:t>一个数据报变成多个数据报</a:t>
            </a:r>
          </a:p>
          <a:p>
            <a:pPr lvl="1"/>
            <a:r>
              <a:rPr lang="en-US" altLang="ja-JP" dirty="0">
                <a:ea typeface="ＭＳ Ｐゴシック" panose="020B0600070205080204" pitchFamily="34" charset="-128"/>
              </a:rPr>
              <a:t>只在目的端“重组”</a:t>
            </a:r>
            <a:r>
              <a:rPr lang="en-US" altLang="ja-JP" i="1" dirty="0">
                <a:ea typeface="ＭＳ Ｐゴシック" panose="020B0600070205080204" pitchFamily="34" charset="-128"/>
              </a:rPr>
              <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首部比特用于标识相关分片并排序</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分片/重组</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网络层：4-100</a:t>
            </a:r>
            <a:fld id="{C4204591-24BD-A542-B9D5-F8D8A88D2FEE}" type="slidenum">
              <a:rPr lang="en-US" smtClean="0"/>
              <a:pPr/>
              <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分片： </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输入：一个大数据报</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输出：3 个较小数据报</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重组</a:t>
              </a:r>
              <a:endPar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分片/重组</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网络层：4-101</a:t>
            </a:r>
            <a:fld id="{C4204591-24BD-A542-B9D5-F8D8A88D2FEE}" type="slidenum">
              <a:rPr lang="en-US" smtClean="0"/>
              <a:pPr/>
              <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一个大数据报变成</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多个较小数据报</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示例：</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字节数据报</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数据字段中有 1480 字节</a:t>
            </a:r>
            <a:b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48259" y="236193"/>
            <a:ext cx="10515600" cy="894622"/>
          </a:xfrm>
        </p:spPr>
        <p:txBody>
          <a:bodyPr/>
          <a:lstStyle/>
          <a:p>
            <a:r>
              <a:rPr lang="en-US" dirty="0"/>
              <a:t>DHCP：Wireshark 输出（家庭 LAN）</a:t>
            </a:r>
            <a:r>
              <a:rPr lang="en-US" sz="4000" dirty="0"/>
              <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网络层：4-102</a:t>
            </a:r>
            <a:fld id="{C4204591-24BD-A542-B9D5-F8D8A88D2FEE}" type="slidenum">
              <a:rPr lang="en-US" smtClean="0"/>
              <a:pPr/>
              <a:t/>
            </a:fld>
            <a:endParaRPr lang="en-US" dirty="0"/>
          </a:p>
        </p:txBody>
      </p:sp>
      <p:sp>
        <p:nvSpPr>
          <p:cNvPr id="62" name="Text Box 4">
            <a:extLst>
              <a:ext uri="{FF2B5EF4-FFF2-40B4-BE49-F238E27FC236}">
                <a16:creationId xmlns:a16="http://schemas.microsoft.com/office/drawing/2014/main" id="{4D1E3A18-01A8-4E44-AEA3-54BCC376618E}"/>
              </a:ext>
            </a:extLst>
          </p:cNvPr>
          <p:cNvSpPr txBox="1">
            <a:spLocks noChangeArrowheads="1"/>
          </p:cNvSpPr>
          <p:nvPr/>
        </p:nvSpPr>
        <p:spPr bwMode="auto">
          <a:xfrm>
            <a:off x="6509140" y="1334125"/>
            <a:ext cx="5682860" cy="527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报文类型：Boot Reply (2)</a:t>
            </a:r>
            <a:r>
              <a:rPr lang="en-US" altLang="en-US" sz="1400" b="1" dirty="0">
                <a:solidFill>
                  <a:srgbClr val="FF0000"/>
                </a:solidFill>
              </a:rPr>
              <a:t/>
            </a:r>
          </a:p>
          <a:p>
            <a:pPr>
              <a:lnSpc>
                <a:spcPct val="90000"/>
              </a:lnSpc>
            </a:pPr>
            <a:r>
              <a:rPr lang="en-US" altLang="en-US" sz="1400" dirty="0"/>
              <a:t>硬件类型：Ethernet</a:t>
            </a:r>
          </a:p>
          <a:p>
            <a:pPr>
              <a:lnSpc>
                <a:spcPct val="90000"/>
              </a:lnSpc>
            </a:pPr>
            <a:r>
              <a:rPr lang="en-US" altLang="en-US" sz="1400" dirty="0"/>
              <a:t>硬件地址长度：6</a:t>
            </a:r>
          </a:p>
          <a:p>
            <a:pPr>
              <a:lnSpc>
                <a:spcPct val="90000"/>
              </a:lnSpc>
            </a:pPr>
            <a:r>
              <a:rPr lang="en-US" altLang="en-US" sz="1400" dirty="0"/>
              <a:t>跳数：0</a:t>
            </a:r>
          </a:p>
          <a:p>
            <a:pPr>
              <a:lnSpc>
                <a:spcPct val="90000"/>
              </a:lnSpc>
            </a:pPr>
            <a:r>
              <a:rPr lang="en-US" altLang="en-US" sz="1400" b="1" dirty="0">
                <a:solidFill>
                  <a:srgbClr val="FF0000"/>
                </a:solidFill>
              </a:rPr>
              <a:t>事务 ID：0x6b3a11b7</a:t>
            </a:r>
          </a:p>
          <a:p>
            <a:pPr>
              <a:lnSpc>
                <a:spcPct val="90000"/>
              </a:lnSpc>
            </a:pPr>
            <a:r>
              <a:rPr lang="en-US" altLang="en-US" sz="1400" dirty="0"/>
              <a:t>已过秒数：0</a:t>
            </a:r>
          </a:p>
          <a:p>
            <a:pPr>
              <a:lnSpc>
                <a:spcPct val="90000"/>
              </a:lnSpc>
            </a:pPr>
            <a:r>
              <a:rPr lang="en-US" altLang="en-US" sz="1400" dirty="0" err="1"/>
              <a:t>Bootp 标志：0x0000（单播）</a:t>
            </a:r>
            <a:r>
              <a:rPr lang="en-US" altLang="en-US" sz="1400" dirty="0"/>
              <a:t/>
            </a:r>
          </a:p>
          <a:p>
            <a:pPr>
              <a:lnSpc>
                <a:spcPct val="90000"/>
              </a:lnSpc>
            </a:pPr>
            <a:r>
              <a:rPr lang="en-US" altLang="en-US" sz="1400" b="1" dirty="0">
                <a:solidFill>
                  <a:srgbClr val="FF0000"/>
                </a:solidFill>
              </a:rPr>
              <a:t>客户机 IP 地址：192.168.1.101 (192.168.1.101)</a:t>
            </a:r>
          </a:p>
          <a:p>
            <a:pPr>
              <a:lnSpc>
                <a:spcPct val="90000"/>
              </a:lnSpc>
            </a:pPr>
            <a:r>
              <a:rPr lang="en-US" altLang="en-US" sz="1400" dirty="0"/>
              <a:t>你的（客户机）IP 地址：0.0.0.0 (0.0.0.0)</a:t>
            </a:r>
          </a:p>
          <a:p>
            <a:pPr>
              <a:lnSpc>
                <a:spcPct val="90000"/>
              </a:lnSpc>
            </a:pPr>
            <a:r>
              <a:rPr lang="en-US" altLang="en-US" sz="1400" b="1" dirty="0">
                <a:solidFill>
                  <a:srgbClr val="FF0000"/>
                </a:solidFill>
              </a:rPr>
              <a:t>下一服务器 IP 地址：192.168.1.1 (192.168.1.1)</a:t>
            </a:r>
          </a:p>
          <a:p>
            <a:pPr>
              <a:lnSpc>
                <a:spcPct val="90000"/>
              </a:lnSpc>
            </a:pPr>
            <a:r>
              <a:rPr lang="en-US" altLang="en-US" sz="1400" dirty="0"/>
              <a:t>中继代理 IP 地址：0.0.0.0 (0.0.0.0)</a:t>
            </a:r>
          </a:p>
          <a:p>
            <a:pPr>
              <a:lnSpc>
                <a:spcPct val="90000"/>
              </a:lnSpc>
            </a:pPr>
            <a:r>
              <a:rPr lang="en-US" altLang="en-US" sz="1400" dirty="0"/>
              <a:t>客户机 MAC 地址：Wistron_23:68:8a (00:16:d3:23:68:8a)</a:t>
            </a:r>
          </a:p>
          <a:p>
            <a:pPr>
              <a:lnSpc>
                <a:spcPct val="90000"/>
              </a:lnSpc>
            </a:pPr>
            <a:r>
              <a:rPr lang="en-US" altLang="en-US" sz="1400" dirty="0"/>
              <a:t>未给出服务器主机名</a:t>
            </a:r>
          </a:p>
          <a:p>
            <a:pPr>
              <a:lnSpc>
                <a:spcPct val="90000"/>
              </a:lnSpc>
            </a:pPr>
            <a:r>
              <a:rPr lang="en-US" altLang="en-US" sz="1400" dirty="0"/>
              <a:t>未给出启动文件名</a:t>
            </a:r>
          </a:p>
          <a:p>
            <a:pPr>
              <a:lnSpc>
                <a:spcPct val="90000"/>
              </a:lnSpc>
            </a:pPr>
            <a:r>
              <a:rPr lang="en-US" altLang="en-US" sz="1400" dirty="0"/>
              <a:t>Magic cookie：（OK）</a:t>
            </a:r>
          </a:p>
          <a:p>
            <a:pPr>
              <a:lnSpc>
                <a:spcPct val="90000"/>
              </a:lnSpc>
            </a:pPr>
            <a:r>
              <a:rPr lang="en-US" altLang="en-US" sz="1400" b="1" dirty="0">
                <a:solidFill>
                  <a:srgbClr val="FF0000"/>
                </a:solidFill>
              </a:rPr>
              <a:t>选项：(t=53,l=1) DHCP 报文类型 = DHCP ACK</a:t>
            </a:r>
          </a:p>
          <a:p>
            <a:pPr>
              <a:lnSpc>
                <a:spcPct val="90000"/>
              </a:lnSpc>
            </a:pPr>
            <a:r>
              <a:rPr lang="en-US" altLang="en-US" sz="1400" b="1" dirty="0">
                <a:solidFill>
                  <a:srgbClr val="FF0000"/>
                </a:solidFill>
              </a:rPr>
              <a:t>Option: (t=54,l=4) Server Identifier = 192.168.1.1</a:t>
            </a:r>
          </a:p>
          <a:p>
            <a:pPr>
              <a:lnSpc>
                <a:spcPct val="90000"/>
              </a:lnSpc>
            </a:pPr>
            <a:r>
              <a:rPr lang="en-US" altLang="en-US" sz="1400" b="1" dirty="0">
                <a:solidFill>
                  <a:srgbClr val="FF0000"/>
                </a:solidFill>
              </a:rPr>
              <a:t>Option: (t=1,l=4) Subnet Mask = 255.255.255.0</a:t>
            </a:r>
          </a:p>
          <a:p>
            <a:pPr>
              <a:lnSpc>
                <a:spcPct val="90000"/>
              </a:lnSpc>
            </a:pPr>
            <a:r>
              <a:rPr lang="en-US" altLang="en-US" sz="1400" b="1" dirty="0">
                <a:solidFill>
                  <a:srgbClr val="FF0000"/>
                </a:solidFill>
              </a:rPr>
              <a:t>Option: (t=3,l=4) Router = 192.168.1.1</a:t>
            </a:r>
          </a:p>
          <a:p>
            <a:pPr>
              <a:lnSpc>
                <a:spcPct val="90000"/>
              </a:lnSpc>
            </a:pPr>
            <a:r>
              <a:rPr lang="en-US" altLang="en-US" sz="1400" b="1" dirty="0">
                <a:solidFill>
                  <a:srgbClr val="FF0000"/>
                </a:solidFill>
              </a:rPr>
              <a:t>Option: (6) Domain Name Server</a:t>
            </a:r>
          </a:p>
          <a:p>
            <a:pPr>
              <a:lnSpc>
                <a:spcPct val="90000"/>
              </a:lnSpc>
            </a:pPr>
            <a:r>
              <a:rPr lang="en-US" altLang="en-US" sz="1400" b="1" dirty="0">
                <a:solidFill>
                  <a:srgbClr val="FF0000"/>
                </a:solidFill>
              </a:rPr>
              <a:t>     Length: 12; Value: 445747E2445749F244574092; </a:t>
            </a:r>
          </a:p>
          <a:p>
            <a:pPr>
              <a:lnSpc>
                <a:spcPct val="90000"/>
              </a:lnSpc>
            </a:pPr>
            <a:r>
              <a:rPr lang="en-US" altLang="en-US" sz="1400" b="1" dirty="0">
                <a:solidFill>
                  <a:srgbClr val="FF0000"/>
                </a:solidFill>
              </a:rPr>
              <a:t>      IP Address: 68.87.71.226;</a:t>
            </a:r>
          </a:p>
          <a:p>
            <a:pPr>
              <a:lnSpc>
                <a:spcPct val="90000"/>
              </a:lnSpc>
            </a:pPr>
            <a:r>
              <a:rPr lang="en-US" altLang="en-US" sz="1400" b="1" dirty="0">
                <a:solidFill>
                  <a:srgbClr val="FF0000"/>
                </a:solidFill>
              </a:rPr>
              <a:t>      IP Address: 68.87.73.242; </a:t>
            </a:r>
          </a:p>
          <a:p>
            <a:pPr>
              <a:lnSpc>
                <a:spcPct val="90000"/>
              </a:lnSpc>
            </a:pPr>
            <a:r>
              <a:rPr lang="en-US" altLang="en-US" sz="1400" b="1" dirty="0">
                <a:solidFill>
                  <a:srgbClr val="FF0000"/>
                </a:solidFill>
              </a:rPr>
              <a:t>      IP Address: 68.87.64.146</a:t>
            </a:r>
          </a:p>
          <a:p>
            <a:pPr>
              <a:lnSpc>
                <a:spcPct val="90000"/>
              </a:lnSpc>
            </a:pPr>
            <a:r>
              <a:rPr lang="en-US" altLang="en-US" sz="1400" b="1" dirty="0">
                <a:solidFill>
                  <a:srgbClr val="FF0000"/>
                </a:solidFill>
              </a:rPr>
              <a:t>Option: (t=15,l=20) Domain Name = "hsd1.ma.comcast.net."</a:t>
            </a:r>
          </a:p>
          <a:p>
            <a:pPr>
              <a:lnSpc>
                <a:spcPct val="90000"/>
              </a:lnSpc>
            </a:pPr>
            <a:endParaRPr lang="en-US" altLang="en-US" sz="1000" dirty="0"/>
          </a:p>
        </p:txBody>
      </p:sp>
      <p:sp>
        <p:nvSpPr>
          <p:cNvPr id="63" name="Text Box 7">
            <a:extLst>
              <a:ext uri="{FF2B5EF4-FFF2-40B4-BE49-F238E27FC236}">
                <a16:creationId xmlns:a16="http://schemas.microsoft.com/office/drawing/2014/main" id="{630118D8-D72C-D54A-BCE3-1F6EE2364166}"/>
              </a:ext>
            </a:extLst>
          </p:cNvPr>
          <p:cNvSpPr txBox="1">
            <a:spLocks noChangeArrowheads="1"/>
          </p:cNvSpPr>
          <p:nvPr/>
        </p:nvSpPr>
        <p:spPr bwMode="auto">
          <a:xfrm>
            <a:off x="861699" y="1214204"/>
            <a:ext cx="5808925" cy="552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u="sng" dirty="0">
                <a:solidFill>
                  <a:srgbClr val="FF0000"/>
                </a:solidFill>
              </a:rPr>
              <a:t>Boot Request (1)</a:t>
            </a:r>
          </a:p>
          <a:p>
            <a:pPr>
              <a:lnSpc>
                <a:spcPct val="90000"/>
              </a:lnSpc>
            </a:pPr>
            <a:r>
              <a:rPr lang="en-US" altLang="en-US" sz="1400" dirty="0"/>
              <a:t>硬件类型：Ethernet</a:t>
            </a:r>
          </a:p>
          <a:p>
            <a:pPr>
              <a:lnSpc>
                <a:spcPct val="90000"/>
              </a:lnSpc>
            </a:pPr>
            <a:r>
              <a:rPr lang="en-US" altLang="en-US" sz="1400" dirty="0"/>
              <a:t>硬件地址长度：6</a:t>
            </a:r>
          </a:p>
          <a:p>
            <a:pPr>
              <a:lnSpc>
                <a:spcPct val="90000"/>
              </a:lnSpc>
            </a:pPr>
            <a:r>
              <a:rPr lang="en-US" altLang="en-US" sz="1400" dirty="0"/>
              <a:t>跳数：0</a:t>
            </a:r>
          </a:p>
          <a:p>
            <a:pPr>
              <a:lnSpc>
                <a:spcPct val="90000"/>
              </a:lnSpc>
            </a:pPr>
            <a:r>
              <a:rPr lang="en-US" altLang="en-US" sz="1400" b="1" dirty="0">
                <a:solidFill>
                  <a:srgbClr val="FF0000"/>
                </a:solidFill>
              </a:rPr>
              <a:t>事务 ID：0x6b3a11b7</a:t>
            </a:r>
          </a:p>
          <a:p>
            <a:pPr>
              <a:lnSpc>
                <a:spcPct val="90000"/>
              </a:lnSpc>
            </a:pPr>
            <a:r>
              <a:rPr lang="en-US" altLang="en-US" sz="1400" dirty="0"/>
              <a:t>已过秒数：0</a:t>
            </a:r>
          </a:p>
          <a:p>
            <a:pPr>
              <a:lnSpc>
                <a:spcPct val="90000"/>
              </a:lnSpc>
            </a:pPr>
            <a:r>
              <a:rPr lang="en-US" altLang="en-US" sz="1400" dirty="0" err="1"/>
              <a:t>Bootp 标志：0x0000（单播）</a:t>
            </a:r>
            <a:r>
              <a:rPr lang="en-US" altLang="en-US" sz="1400" dirty="0"/>
              <a:t/>
            </a:r>
          </a:p>
          <a:p>
            <a:pPr>
              <a:lnSpc>
                <a:spcPct val="90000"/>
              </a:lnSpc>
            </a:pPr>
            <a:r>
              <a:rPr lang="en-US" altLang="en-US" sz="1400" dirty="0"/>
              <a:t>Client IP address: 0.0.0.0 (0.0.0.0)</a:t>
            </a:r>
          </a:p>
          <a:p>
            <a:pPr>
              <a:lnSpc>
                <a:spcPct val="90000"/>
              </a:lnSpc>
            </a:pPr>
            <a:r>
              <a:rPr lang="en-US" altLang="en-US" sz="1400" dirty="0"/>
              <a:t>你的（客户机）IP 地址：0.0.0.0 (0.0.0.0)</a:t>
            </a:r>
          </a:p>
          <a:p>
            <a:pPr>
              <a:lnSpc>
                <a:spcPct val="90000"/>
              </a:lnSpc>
            </a:pPr>
            <a:r>
              <a:rPr lang="en-US" altLang="en-US" sz="1400" dirty="0"/>
              <a:t>Next server IP address: 0.0.0.0 (0.0.0.0)</a:t>
            </a:r>
          </a:p>
          <a:p>
            <a:pPr>
              <a:lnSpc>
                <a:spcPct val="90000"/>
              </a:lnSpc>
            </a:pPr>
            <a:r>
              <a:rPr lang="en-US" altLang="en-US" sz="1400" dirty="0"/>
              <a:t>中继代理 IP 地址：0.0.0.0 (0.0.0.0)</a:t>
            </a:r>
          </a:p>
          <a:p>
            <a:pPr>
              <a:lnSpc>
                <a:spcPct val="90000"/>
              </a:lnSpc>
            </a:pPr>
            <a:r>
              <a:rPr lang="en-US" altLang="en-US" sz="1400" b="1" dirty="0">
                <a:solidFill>
                  <a:srgbClr val="FF0000"/>
                </a:solidFill>
              </a:rPr>
              <a:t>客户机 MAC 地址：Wistron_23:68:8a (00:16:d3:23:68:8a)</a:t>
            </a:r>
          </a:p>
          <a:p>
            <a:pPr>
              <a:lnSpc>
                <a:spcPct val="90000"/>
              </a:lnSpc>
            </a:pPr>
            <a:r>
              <a:rPr lang="en-US" altLang="en-US" sz="1400" dirty="0"/>
              <a:t>未给出服务器主机名</a:t>
            </a:r>
          </a:p>
          <a:p>
            <a:pPr>
              <a:lnSpc>
                <a:spcPct val="90000"/>
              </a:lnSpc>
            </a:pPr>
            <a:r>
              <a:rPr lang="en-US" altLang="en-US" sz="1400" dirty="0"/>
              <a:t>未给出启动文件名</a:t>
            </a:r>
          </a:p>
          <a:p>
            <a:pPr>
              <a:lnSpc>
                <a:spcPct val="90000"/>
              </a:lnSpc>
            </a:pPr>
            <a:r>
              <a:rPr lang="en-US" altLang="en-US" sz="1400" dirty="0"/>
              <a:t>Magic cookie：（OK）</a:t>
            </a:r>
          </a:p>
          <a:p>
            <a:pPr>
              <a:lnSpc>
                <a:spcPct val="90000"/>
              </a:lnSpc>
            </a:pPr>
            <a:r>
              <a:rPr lang="en-US" altLang="en-US" sz="1400" dirty="0"/>
              <a:t>Option: (t=53,l=1) </a:t>
            </a:r>
            <a:r>
              <a:rPr lang="en-US" altLang="en-US" sz="1400" b="1" dirty="0">
                <a:solidFill>
                  <a:srgbClr val="FF0000"/>
                </a:solidFill>
              </a:rPr>
              <a:t>DHCP Message Type = DHCP Request</a:t>
            </a:r>
          </a:p>
          <a:p>
            <a:pPr>
              <a:lnSpc>
                <a:spcPct val="90000"/>
              </a:lnSpc>
            </a:pPr>
            <a:r>
              <a:rPr lang="en-US" altLang="en-US" sz="1400" dirty="0"/>
              <a:t>Option: (61) Client identifier</a:t>
            </a:r>
          </a:p>
          <a:p>
            <a:pPr>
              <a:lnSpc>
                <a:spcPct val="90000"/>
              </a:lnSpc>
            </a:pPr>
            <a:r>
              <a:rPr lang="en-US" altLang="en-US" sz="1400" dirty="0"/>
              <a:t>     Length: 7; Value: 010016D323688A; </a:t>
            </a:r>
          </a:p>
          <a:p>
            <a:pPr>
              <a:lnSpc>
                <a:spcPct val="90000"/>
              </a:lnSpc>
            </a:pPr>
            <a:r>
              <a:rPr lang="en-US" altLang="en-US" sz="1400" dirty="0"/>
              <a:t>     硬件类型：Ethernet</a:t>
            </a:r>
          </a:p>
          <a:p>
            <a:pPr>
              <a:lnSpc>
                <a:spcPct val="90000"/>
              </a:lnSpc>
            </a:pPr>
            <a:r>
              <a:rPr lang="en-US" altLang="en-US" sz="1400" dirty="0"/>
              <a:t>     客户机 MAC 地址：Wistron_23:68:8a (00:16:d3:23:68:8a)</a:t>
            </a:r>
          </a:p>
          <a:p>
            <a:pPr>
              <a:lnSpc>
                <a:spcPct val="90000"/>
              </a:lnSpc>
            </a:pPr>
            <a:r>
              <a:rPr lang="en-US" altLang="en-US" sz="1400" dirty="0"/>
              <a:t>Option: (t=50,l=4) Requested IP Address = 192.168.1.101</a:t>
            </a:r>
          </a:p>
          <a:p>
            <a:pPr>
              <a:lnSpc>
                <a:spcPct val="90000"/>
              </a:lnSpc>
            </a:pPr>
            <a:r>
              <a:rPr lang="en-US" altLang="en-US" sz="1400" dirty="0"/>
              <a:t>Option: (t=12,l=5) Host Name = "nomad"</a:t>
            </a:r>
          </a:p>
          <a:p>
            <a:pPr>
              <a:lnSpc>
                <a:spcPct val="90000"/>
              </a:lnSpc>
            </a:pPr>
            <a:r>
              <a:rPr lang="en-US" altLang="en-US" sz="1400" b="1" dirty="0">
                <a:solidFill>
                  <a:srgbClr val="FF0000"/>
                </a:solidFill>
              </a:rPr>
              <a:t>Option: (55) Parameter Request List</a:t>
            </a:r>
          </a:p>
          <a:p>
            <a:pPr>
              <a:lnSpc>
                <a:spcPct val="90000"/>
              </a:lnSpc>
            </a:pPr>
            <a:r>
              <a:rPr lang="en-US" altLang="en-US" sz="1400" dirty="0"/>
              <a:t>     Length: 11; Value: 010F03062C2E2F1F21F92B</a:t>
            </a:r>
          </a:p>
          <a:p>
            <a:pPr>
              <a:lnSpc>
                <a:spcPct val="90000"/>
              </a:lnSpc>
            </a:pPr>
            <a:r>
              <a:rPr lang="en-US" altLang="en-US" sz="1400" dirty="0"/>
              <a:t>     </a:t>
            </a:r>
            <a:r>
              <a:rPr lang="en-US" altLang="en-US" sz="1400" b="1" dirty="0">
                <a:solidFill>
                  <a:srgbClr val="FF0000"/>
                </a:solidFill>
              </a:rPr>
              <a:t>1 = Subnet Mask; 15 = Domain Name</a:t>
            </a:r>
          </a:p>
          <a:p>
            <a:pPr>
              <a:lnSpc>
                <a:spcPct val="90000"/>
              </a:lnSpc>
            </a:pPr>
            <a:r>
              <a:rPr lang="en-US" altLang="en-US" sz="1400" b="1" dirty="0">
                <a:solidFill>
                  <a:srgbClr val="FF0000"/>
                </a:solidFill>
              </a:rPr>
              <a:t>     3 = Router; 6 = Domain Name Server</a:t>
            </a:r>
          </a:p>
          <a:p>
            <a:pPr>
              <a:lnSpc>
                <a:spcPct val="90000"/>
              </a:lnSpc>
            </a:pPr>
            <a:r>
              <a:rPr lang="en-US" altLang="en-US" sz="1400" dirty="0"/>
              <a:t>     44 = NetBIOS over TCP/IP Name Server</a:t>
            </a:r>
          </a:p>
          <a:p>
            <a:pPr>
              <a:lnSpc>
                <a:spcPct val="90000"/>
              </a:lnSpc>
            </a:pPr>
            <a:r>
              <a:rPr lang="en-US" altLang="en-US" sz="1400" dirty="0"/>
              <a:t>     ……</a:t>
            </a:r>
            <a:endParaRPr lang="en-US" altLang="en-US" sz="1200" dirty="0"/>
          </a:p>
        </p:txBody>
      </p:sp>
      <p:sp>
        <p:nvSpPr>
          <p:cNvPr id="64" name="Text Box 6">
            <a:extLst>
              <a:ext uri="{FF2B5EF4-FFF2-40B4-BE49-F238E27FC236}">
                <a16:creationId xmlns:a16="http://schemas.microsoft.com/office/drawing/2014/main" id="{55694BCF-6BD1-9A40-AFC4-438E60922411}"/>
              </a:ext>
            </a:extLst>
          </p:cNvPr>
          <p:cNvSpPr txBox="1">
            <a:spLocks noChangeArrowheads="1"/>
          </p:cNvSpPr>
          <p:nvPr/>
        </p:nvSpPr>
        <p:spPr bwMode="auto">
          <a:xfrm>
            <a:off x="9687941" y="1610037"/>
            <a:ext cx="9653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回复</a:t>
            </a:r>
            <a:endParaRPr lang="en-US" altLang="en-US" dirty="0">
              <a:solidFill>
                <a:srgbClr val="0000A3"/>
              </a:solidFill>
            </a:endParaRPr>
          </a:p>
        </p:txBody>
      </p:sp>
      <p:sp>
        <p:nvSpPr>
          <p:cNvPr id="65" name="Text Box 8">
            <a:extLst>
              <a:ext uri="{FF2B5EF4-FFF2-40B4-BE49-F238E27FC236}">
                <a16:creationId xmlns:a16="http://schemas.microsoft.com/office/drawing/2014/main" id="{0443E57C-4222-EE4F-BA53-0172D32D39EF}"/>
              </a:ext>
            </a:extLst>
          </p:cNvPr>
          <p:cNvSpPr txBox="1">
            <a:spLocks noChangeArrowheads="1"/>
          </p:cNvSpPr>
          <p:nvPr/>
        </p:nvSpPr>
        <p:spPr bwMode="auto">
          <a:xfrm>
            <a:off x="3572396" y="1556166"/>
            <a:ext cx="13853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请求</a:t>
            </a:r>
          </a:p>
        </p:txBody>
      </p:sp>
    </p:spTree>
    <p:extLst>
      <p:ext uri="{BB962C8B-B14F-4D97-AF65-F5344CB8AC3E}">
        <p14:creationId xmlns:p14="http://schemas.microsoft.com/office/powerpoint/2010/main" val="2531178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12509</TotalTime>
  <Words>9084</Words>
  <Application>Microsoft Macintosh PowerPoint</Application>
  <PresentationFormat>Widescreen</PresentationFormat>
  <Paragraphs>2513</Paragraphs>
  <Slides>102</Slides>
  <Notes>100</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102</vt:i4>
      </vt:variant>
    </vt:vector>
  </HeadingPairs>
  <TitlesOfParts>
    <vt:vector size="115" baseType="lpstr">
      <vt:lpstr>Arial</vt:lpstr>
      <vt:lpstr>Calibri</vt:lpstr>
      <vt:lpstr>Calibri Light</vt:lpstr>
      <vt:lpstr>Comic Sans MS</vt:lpstr>
      <vt:lpstr>Courier New</vt:lpstr>
      <vt:lpstr>Gill Sans MT</vt:lpstr>
      <vt:lpstr>Symbol</vt:lpstr>
      <vt:lpstr>Tahoma</vt:lpstr>
      <vt:lpstr>Times</vt:lpstr>
      <vt:lpstr>Times New Roman</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The IP hourglass</vt:lpstr>
      <vt:lpstr>The IP hourglass, at middle age</vt:lpstr>
      <vt:lpstr>Architectural Principles of the Internet</vt:lpstr>
      <vt:lpstr>The end-end argument</vt:lpstr>
      <vt:lpstr>The end-end argument</vt:lpstr>
      <vt:lpstr>Where’s the intelligence?</vt:lpstr>
      <vt:lpstr>Chapter 4: done!</vt:lpstr>
      <vt:lpstr>Additional Chapter 4 slides</vt:lpstr>
      <vt:lpstr>IP fragmentation/reassembly</vt:lpstr>
      <vt:lpstr>IP fragmentation/reassembly</vt:lpstr>
      <vt:lpstr>DHCP: Wireshark output (home LAN)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James Kurose</cp:lastModifiedBy>
  <cp:revision>523</cp:revision>
  <dcterms:created xsi:type="dcterms:W3CDTF">2020-01-18T07:24:59Z</dcterms:created>
  <dcterms:modified xsi:type="dcterms:W3CDTF">2020-05-18T15:24:23Z</dcterms:modified>
</cp:coreProperties>
</file>