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10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271" r:id="rId9"/>
    <p:sldId id="1225" r:id="rId10"/>
    <p:sldId id="1227" r:id="rId11"/>
    <p:sldId id="1228" r:id="rId12"/>
    <p:sldId id="1272" r:id="rId13"/>
    <p:sldId id="1229" r:id="rId14"/>
    <p:sldId id="1230" r:id="rId15"/>
    <p:sldId id="1232" r:id="rId16"/>
    <p:sldId id="1233" r:id="rId17"/>
    <p:sldId id="1259" r:id="rId18"/>
    <p:sldId id="1231" r:id="rId19"/>
    <p:sldId id="1260" r:id="rId20"/>
    <p:sldId id="1273" r:id="rId21"/>
    <p:sldId id="1261" r:id="rId22"/>
    <p:sldId id="1262" r:id="rId23"/>
    <p:sldId id="1263" r:id="rId24"/>
    <p:sldId id="1264" r:id="rId25"/>
    <p:sldId id="1234" r:id="rId26"/>
    <p:sldId id="1238" r:id="rId27"/>
    <p:sldId id="1245" r:id="rId28"/>
    <p:sldId id="1244" r:id="rId29"/>
    <p:sldId id="1241" r:id="rId30"/>
    <p:sldId id="1242" r:id="rId31"/>
    <p:sldId id="1243" r:id="rId32"/>
    <p:sldId id="1246" r:id="rId33"/>
    <p:sldId id="1249" r:id="rId34"/>
    <p:sldId id="1250" r:id="rId35"/>
    <p:sldId id="1252" r:id="rId36"/>
    <p:sldId id="1253" r:id="rId37"/>
    <p:sldId id="1254" r:id="rId38"/>
    <p:sldId id="1255" r:id="rId39"/>
    <p:sldId id="1267" r:id="rId40"/>
    <p:sldId id="1268" r:id="rId41"/>
    <p:sldId id="1269" r:id="rId42"/>
    <p:sldId id="1274" r:id="rId43"/>
    <p:sldId id="1280" r:id="rId44"/>
    <p:sldId id="1281" r:id="rId45"/>
    <p:sldId id="1282" r:id="rId46"/>
    <p:sldId id="1284" r:id="rId47"/>
    <p:sldId id="1285" r:id="rId48"/>
    <p:sldId id="1286" r:id="rId49"/>
    <p:sldId id="1287" r:id="rId50"/>
    <p:sldId id="1276" r:id="rId51"/>
    <p:sldId id="1288" r:id="rId52"/>
    <p:sldId id="1289" r:id="rId53"/>
    <p:sldId id="1290" r:id="rId54"/>
    <p:sldId id="1291" r:id="rId55"/>
    <p:sldId id="1292" r:id="rId56"/>
    <p:sldId id="1293" r:id="rId57"/>
    <p:sldId id="1294" r:id="rId58"/>
    <p:sldId id="1295" r:id="rId59"/>
    <p:sldId id="1296" r:id="rId60"/>
    <p:sldId id="1302" r:id="rId61"/>
    <p:sldId id="1298" r:id="rId62"/>
    <p:sldId id="1299" r:id="rId63"/>
    <p:sldId id="1301" r:id="rId64"/>
    <p:sldId id="1297" r:id="rId65"/>
    <p:sldId id="1277" r:id="rId66"/>
    <p:sldId id="1303" r:id="rId67"/>
    <p:sldId id="1304" r:id="rId68"/>
    <p:sldId id="1305" r:id="rId69"/>
    <p:sldId id="1306" r:id="rId70"/>
    <p:sldId id="1307" r:id="rId71"/>
    <p:sldId id="1310" r:id="rId72"/>
    <p:sldId id="1309" r:id="rId73"/>
    <p:sldId id="1308" r:id="rId74"/>
    <p:sldId id="1311" r:id="rId75"/>
    <p:sldId id="1312" r:id="rId76"/>
    <p:sldId id="1313" r:id="rId77"/>
    <p:sldId id="1314" r:id="rId78"/>
    <p:sldId id="1315" r:id="rId79"/>
    <p:sldId id="1316" r:id="rId80"/>
    <p:sldId id="1317" r:id="rId81"/>
    <p:sldId id="1318" r:id="rId82"/>
    <p:sldId id="1320" r:id="rId83"/>
    <p:sldId id="1321" r:id="rId84"/>
    <p:sldId id="1323" r:id="rId85"/>
    <p:sldId id="1324" r:id="rId86"/>
    <p:sldId id="1325" r:id="rId87"/>
    <p:sldId id="1326" r:id="rId88"/>
    <p:sldId id="1278" r:id="rId89"/>
    <p:sldId id="1327" r:id="rId90"/>
    <p:sldId id="1328" r:id="rId91"/>
    <p:sldId id="1279" r:id="rId92"/>
    <p:sldId id="1329" r:id="rId93"/>
    <p:sldId id="1330" r:id="rId94"/>
    <p:sldId id="1332" r:id="rId95"/>
    <p:sldId id="1333" r:id="rId96"/>
    <p:sldId id="1334" r:id="rId97"/>
    <p:sldId id="1335" r:id="rId98"/>
    <p:sldId id="1338" r:id="rId99"/>
    <p:sldId id="1339" r:id="rId100"/>
    <p:sldId id="1340" r:id="rId101"/>
    <p:sldId id="1341" r:id="rId102"/>
    <p:sldId id="1342" r:id="rId103"/>
    <p:sldId id="1343" r:id="rId104"/>
    <p:sldId id="1337" r:id="rId105"/>
    <p:sldId id="1336" r:id="rId106"/>
    <p:sldId id="1038" r:id="rId107"/>
    <p:sldId id="1265" r:id="rId108"/>
    <p:sldId id="1266" r:id="rId10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48"/>
    <p:restoredTop sz="67184"/>
  </p:normalViewPr>
  <p:slideViewPr>
    <p:cSldViewPr snapToGrid="0" snapToObjects="1">
      <p:cViewPr varScale="1">
        <p:scale>
          <a:sx n="92" d="100"/>
          <a:sy n="92" d="100"/>
        </p:scale>
        <p:origin x="1408" y="176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heme" Target="theme/theme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notesMaster" Target="notesMasters/notesMaster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6/4/20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</a:t>
            </a:r>
            <a:r>
              <a:rPr lang="en-US"/>
              <a:t>of Bellman-Ford </a:t>
            </a:r>
            <a:r>
              <a:rPr lang="en-US" dirty="0"/>
              <a:t>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2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23" Type="http://schemas.openxmlformats.org/officeDocument/2006/relationships/image" Target="../media/image25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Relationship Id="rId22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1.jpe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35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《计算机网络：自顶向下方法》第 8 版 Jim Kurose、Keith Ross，Pearson，2020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r>
              <a:rPr lang="en-US" altLang="en-US" sz="1800" baseline="30000" dirty="0">
                <a:latin typeface="+mn-lt"/>
              </a:rPr>
              <a:t/>
            </a: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第 5 章 网络层：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/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控制平面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关于使用这些 PowerPoint 幻灯片的说明：</a:t>
            </a:r>
          </a:p>
          <a:p>
            <a:r>
              <a:rPr lang="en-US" altLang="en-US" sz="1400" dirty="0">
                <a:latin typeface="+mn-lt"/>
              </a:rPr>
              <a:t>我们将这些幻灯片免费提供给所有人（教师、学生、读者）使用。它们采用 PowerPoint 格式，因此你可以看到动画，也可以按需要添加、修改、删除幻灯片（包括本页）及其中内容。这些材料显然凝结了我们大量工作。作为使用回报，我们只提出以下要求：</a:t>
            </a:r>
            <a:r>
              <a:rPr lang="en-US" altLang="ja-JP" sz="1400" dirty="0">
                <a:latin typeface="+mn-lt"/>
              </a:rPr>
              <a:t/>
            </a:r>
            <a:r>
              <a:rPr lang="en-US" altLang="ja-JP" sz="1400" i="1" dirty="0">
                <a:latin typeface="+mn-lt"/>
              </a:rPr>
              <a:t/>
            </a:r>
            <a:r>
              <a:rPr lang="en-US" altLang="ja-JP" sz="1400" dirty="0">
                <a:latin typeface="+mn-lt"/>
              </a:rPr>
              <a:t/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如果你使用这些幻灯片（例如用于课堂），请说明其来源（毕竟，我们也希望大家使用我们的教材！）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/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如果你在网站上发布任何幻灯片，请注明它们改编自（或可能完全相同于）我们的幻灯片，并注明我们对这些材料拥有版权。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修订历史请参见本页的幻灯片备注。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感谢使用，祝学习愉快！JFK/KWR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所有材料版权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J.F. Kurose 和 K.W. Ross，保留所有权利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网络层控制平面：本章目标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理解网络控制平面背后的原理：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传统路由选择算法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控制器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网络管理、配置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在互联网中的实例化与实现：</a:t>
            </a:r>
          </a:p>
          <a:p>
            <a:pPr lvl="1"/>
            <a:r>
              <a:rPr lang="en-US" sz="2800" dirty="0"/>
              <a:t>OSPF、BGP</a:t>
            </a:r>
          </a:p>
          <a:p>
            <a:pPr lvl="1"/>
            <a:r>
              <a:rPr lang="en-US" sz="2800" dirty="0"/>
              <a:t>OpenFlow、ODL 和 ONOS 控制器</a:t>
            </a:r>
          </a:p>
          <a:p>
            <a:pPr lvl="1"/>
            <a:r>
              <a:rPr lang="en-US" sz="2800" dirty="0"/>
              <a:t>互联网控制报文协议：ICMP</a:t>
            </a:r>
          </a:p>
          <a:p>
            <a:pPr lvl="1"/>
            <a:r>
              <a:rPr lang="en-US" sz="2800" dirty="0"/>
              <a:t>SNMP、YANG/NETCONF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链路状态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距离向量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构建网络控制平面的两种方法：</a:t>
            </a:r>
          </a:p>
          <a:p>
            <a:pPr marL="466725" indent="-249238"/>
            <a:r>
              <a:rPr lang="en-US" dirty="0"/>
              <a:t>逐路由器控制（传统方式）</a:t>
            </a:r>
          </a:p>
          <a:p>
            <a:pPr marL="466725" indent="-249238"/>
            <a:r>
              <a:rPr lang="en-US" dirty="0"/>
              <a:t>逻辑集中式控制（软件定义网络）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网络层功能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转发：把分组从路由器输入移动到合适的路由器输出</a:t>
              </a:r>
              <a:r>
                <a:rPr lang="en-US" dirty="0"/>
                <a:t/>
              </a:r>
              <a:r>
                <a:rPr lang="en-US" altLang="ja-JP" dirty="0"/>
                <a:t/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数据平面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948416" y="2692736"/>
            <a:ext cx="10162404" cy="920619"/>
            <a:chOff x="977913" y="2913962"/>
            <a:chExt cx="10162404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3" y="2913962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路由选择：确定分组从源到目的地所经过的路径</a:t>
              </a:r>
              <a:r>
                <a:rPr lang="en-US" dirty="0"/>
                <a:t/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逐路由器控制平面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每台路由器中的各个路由算法组件在控制平面中相互交互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路由选择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算法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控制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到达分组中的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分组首部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软件定义网络（SDN）控制平面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远程控制器计算并在路由器中安装转发表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控制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远程控制器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到达分组中的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分组首部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链路状态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距离向量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路由选择协议目标：通过路由器网络，为发送主机到接收主机确定“好”的路径（也就是路由）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路径：分组从给定源主机到最终目的主机所经过的路由器序列</a:t>
            </a:r>
            <a:r>
              <a:rPr lang="en-US" dirty="0"/>
              <a:t/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“好”：最低“代价”、最快、最不拥塞</a:t>
            </a:r>
            <a:r>
              <a:rPr lang="en-US" dirty="0"/>
              <a:t/>
            </a:r>
          </a:p>
          <a:p>
            <a:pPr marL="407988" indent="-277813"/>
            <a:r>
              <a:rPr lang="en-US" dirty="0"/>
              <a:t>路由选择：网络领域十大挑战之一！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路由选择协议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网络层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应用层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传输层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网络层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链路层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物理层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应用层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传输层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网络层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链路层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物理层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网络层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链路层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物理层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网络层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链路层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物理层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网络层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链路层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物理层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网络层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链路层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物理层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网络层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链路层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物理层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网络层：5-8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图抽象：链路代价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网络层：5-9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图：G = (N,E)</a:t>
            </a:r>
            <a:r>
              <a:rPr lang="en-US" sz="2800" i="1" dirty="0">
                <a:latin typeface="+mn-lt"/>
              </a:rPr>
              <a:t/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ca,b：连接 a 和 b 的直接链路代价</a:t>
            </a:r>
            <a:r>
              <a:rPr lang="en-US" sz="2400" i="1" baseline="-250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>
                <a:solidFill>
                  <a:srgbClr val="0000A8"/>
                </a:solidFill>
              </a:rPr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</a:p>
          <a:p>
            <a:r>
              <a:rPr lang="en-US" sz="2400" dirty="0"/>
              <a:t>             例如，cw,z = 5，cu,z = ∞</a:t>
            </a:r>
            <a:r>
              <a:rPr lang="en-US" sz="2400" i="1" dirty="0"/>
              <a:t/>
            </a:r>
            <a:r>
              <a:rPr lang="en-US" sz="2400" i="1" baseline="-25000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i="1" baseline="-25000" dirty="0"/>
              <a:t/>
            </a:r>
            <a:r>
              <a:rPr lang="en-US" sz="2400" dirty="0"/>
              <a:t/>
            </a:r>
            <a:r>
              <a:rPr lang="en-US" sz="2400" dirty="0">
                <a:cs typeface="Arial" charset="0"/>
              </a:rPr>
              <a:t/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代价由网络运营者定义：可以恒为 1，也可以与带宽成反比，或与拥塞程度成反比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N：路由器集合 = { u, v, w, x, y, z }</a:t>
            </a:r>
            <a:r>
              <a:rPr lang="en-US" sz="2800" dirty="0">
                <a:latin typeface="+mn-lt"/>
              </a:rPr>
              <a:t/>
            </a:r>
            <a:r>
              <a:rPr lang="en-US" sz="2800" i="1" dirty="0">
                <a:latin typeface="+mn-lt"/>
              </a:rPr>
              <a:t/>
            </a:r>
            <a:r>
              <a:rPr lang="en-US" sz="2800" dirty="0">
                <a:latin typeface="+mn-lt"/>
              </a:rPr>
              <a:t/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E：链路集合 = { (u,v), (u,x), (v,x), (v,w), (x,w), (x,y), (w,y), (w,z), (y,z) }</a:t>
            </a:r>
            <a:r>
              <a:rPr lang="en-US" sz="2800" dirty="0">
                <a:latin typeface="+mn-lt"/>
              </a:rPr>
              <a:t/>
            </a:r>
            <a:r>
              <a:rPr lang="en-US" sz="3200" dirty="0">
                <a:latin typeface="+mn-lt"/>
              </a:rPr>
              <a:t/>
            </a:r>
            <a:r>
              <a:rPr lang="en-US" sz="3600" dirty="0">
                <a:latin typeface="+mn-lt"/>
              </a:rPr>
              <a:t/>
            </a:r>
            <a:r>
              <a:rPr lang="en-US" sz="2800" dirty="0">
                <a:latin typeface="+mn-lt"/>
              </a:rPr>
              <a:t/>
            </a:r>
            <a:r>
              <a:rPr lang="en-US" sz="2800" i="1" dirty="0">
                <a:latin typeface="+mn-lt"/>
              </a:rPr>
              <a:t/>
            </a:r>
            <a:r>
              <a:rPr lang="en-US" sz="2800" dirty="0">
                <a:latin typeface="+mn-lt"/>
              </a:rPr>
              <a:t/>
            </a:r>
            <a:r>
              <a:rPr lang="en-US" sz="3200" dirty="0">
                <a:latin typeface="+mn-lt"/>
              </a:rPr>
              <a:t/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路由选择算法分类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网络层：5-10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全局信息还是分散信息？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全局：所有路由器都拥有完整拓扑和链路代价信息</a:t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“链路状态”算法</a:t>
              </a:r>
              <a:r>
                <a:rPr lang="en-US" altLang="ja-JP" sz="2400" dirty="0"/>
                <a:t/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分散：与邻居进行计算和信息交换的迭代过程</a:t>
              </a:r>
              <a:r>
                <a:rPr lang="en-US" sz="2400" dirty="0"/>
                <a:t/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路由器最初只知道到相邻节点的链路代价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“距离向量”算法</a:t>
              </a:r>
              <a:r>
                <a:rPr lang="en-US" altLang="ja-JP" sz="2400" dirty="0"/>
                <a:t/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路由变化有多快？</a:t>
            </a:r>
            <a:r>
              <a:rPr lang="en-US" i="1"/>
              <a:t/>
            </a:r>
            <a:r>
              <a:rPr lang="en-US" i="1" dirty="0"/>
              <a:t/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动态：路由变化较快</a:t>
              </a:r>
              <a:r>
                <a:rPr lang="en-US" sz="2400" i="1" dirty="0">
                  <a:solidFill>
                    <a:srgbClr val="CC0000"/>
                  </a:solidFill>
                </a:rPr>
                <a:t/>
              </a:r>
              <a:r>
                <a:rPr lang="en-US" sz="2400" dirty="0"/>
                <a:t/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周期性更新，或响应链路代价变化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静态：路由随时间缓慢变化</a:t>
              </a:r>
              <a:r>
                <a:rPr lang="en-US" sz="2400" dirty="0"/>
                <a:t/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链路状态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距离向量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链路状态路由选择算法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网络层：5-12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集中式：所有节点都知道网络拓扑和链路代价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lvl="1"/>
            <a:r>
              <a:rPr lang="en-US" dirty="0"/>
              <a:t>通过“链路状态广播”实现 </a:t>
            </a:r>
            <a:r>
              <a:rPr lang="en-US" altLang="ja-JP" dirty="0"/>
              <a:t/>
            </a:r>
          </a:p>
          <a:p>
            <a:pPr lvl="1"/>
            <a:r>
              <a:rPr lang="en-US" dirty="0"/>
              <a:t>所有节点拥有相同信息</a:t>
            </a:r>
          </a:p>
          <a:p>
            <a:r>
              <a:rPr lang="en-US" dirty="0"/>
              <a:t>计算从一个节点（“源”）到所有其他节点的最低代价路径</a:t>
            </a:r>
            <a:r>
              <a:rPr lang="en-US" altLang="ja-JP" dirty="0"/>
              <a:t/>
            </a:r>
          </a:p>
          <a:p>
            <a:pPr lvl="1"/>
            <a:r>
              <a:rPr lang="en-US" dirty="0"/>
              <a:t>给出该节点的转发表</a:t>
            </a:r>
            <a:r>
              <a:rPr lang="en-US" i="1" dirty="0">
                <a:solidFill>
                  <a:srgbClr val="000099"/>
                </a:solidFill>
              </a:rPr>
              <a:t/>
            </a:r>
            <a:r>
              <a:rPr lang="en-US" dirty="0"/>
              <a:t/>
            </a:r>
          </a:p>
          <a:p>
            <a:r>
              <a:rPr lang="en-US" dirty="0">
                <a:solidFill>
                  <a:srgbClr val="0000A8"/>
                </a:solidFill>
              </a:rPr>
              <a:t>迭代式：经过 k 次迭代后，知道到 k 个目的地的最低代价路径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cx,y：从节点 x 到 y 的直接链路代价；若不是直接邻居则为 ∞</a:t>
              </a:r>
              <a:r>
                <a:rPr lang="en-US" i="1" baseline="-25000" dirty="0">
                  <a:solidFill>
                    <a:srgbClr val="000099"/>
                  </a:solidFill>
                </a:rPr>
                <a:t/>
              </a:r>
              <a:r>
                <a:rPr lang="en-US" i="1" dirty="0">
                  <a:solidFill>
                    <a:srgbClr val="000099"/>
                  </a:solidFill>
                </a:rPr>
                <a:t/>
              </a:r>
              <a:r>
                <a:rPr lang="en-US" sz="2400" i="1" dirty="0"/>
                <a:t/>
              </a:r>
              <a:r>
                <a:rPr lang="en-US" sz="2400" u="sng" dirty="0"/>
                <a:t/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D(v)：从源到目的地 v 的最低代价路径的当前估计代价</a:t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p(v)：从源到 v 的路径上的前驱节点</a:t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N'：最低代价路径已确定的节点集合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/>
              </a:r>
              <a:r>
                <a:rPr lang="en-US" i="1" dirty="0">
                  <a:solidFill>
                    <a:srgbClr val="000099"/>
                  </a:solidFill>
                </a:rPr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记号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链路状态路由选择算法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网络层：5-13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初始化：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/>
            </a:r>
            <a:r>
              <a:rPr lang="en-US" dirty="0">
                <a:solidFill>
                  <a:srgbClr val="0000A8"/>
                </a:solidFill>
                <a:latin typeface="+mn-lt"/>
              </a:rPr>
              <a:t/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直到所有节点都在 N' 中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/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/>
            </a:r>
            <a:r>
              <a:rPr lang="en-US" dirty="0">
                <a:solidFill>
                  <a:srgbClr val="0000A8"/>
                </a:solidFill>
                <a:latin typeface="+mn-lt"/>
              </a:rPr>
              <a:t/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找到不在 N' 中且 D(w) 最小的 w </a:t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i="1" dirty="0">
                <a:latin typeface="+mn-lt"/>
                <a:cs typeface="Arial" charset="0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</a:p>
          <a:p>
            <a:r>
              <a:rPr lang="en-US" dirty="0">
                <a:latin typeface="+mn-lt"/>
              </a:rPr>
              <a:t>把 w 加入 N' </a:t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i="1" dirty="0">
                <a:latin typeface="+mn-lt"/>
                <a:cs typeface="Arial" charset="0"/>
              </a:rPr>
              <a:t/>
            </a:r>
            <a:r>
              <a:rPr lang="en-US" i="1" dirty="0">
                <a:latin typeface="+mn-lt"/>
              </a:rPr>
              <a:t/>
            </a:r>
          </a:p>
          <a:p>
            <a:r>
              <a:rPr lang="en-US" dirty="0">
                <a:latin typeface="+mn-lt"/>
              </a:rPr>
              <a:t>对所有与 w 相邻且不在 N' 中的 v 更新 D(v)： </a:t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i="1" dirty="0">
                <a:latin typeface="+mn-lt"/>
                <a:cs typeface="Arial" charset="0"/>
              </a:rPr>
              <a:t/>
            </a:r>
            <a:r>
              <a:rPr lang="en-US" i="1" dirty="0">
                <a:latin typeface="+mn-lt"/>
              </a:rPr>
              <a:t/>
            </a:r>
            <a:r>
              <a:rPr lang="en-US" dirty="0">
                <a:latin typeface="+mn-lt"/>
              </a:rPr>
              <a:t/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到 v 的新最低路径代价，要么是旧的到 v 最低路径代价，要么是已知 </a:t>
            </a:r>
            <a:r>
              <a:rPr lang="en-US" sz="2000" i="1" dirty="0">
                <a:latin typeface="+mn-lt"/>
              </a:rPr>
              <a:t/>
            </a:r>
            <a:r>
              <a:rPr lang="en-US" sz="2000" dirty="0">
                <a:latin typeface="+mn-lt"/>
              </a:rPr>
              <a:t/>
            </a:r>
            <a:r>
              <a:rPr lang="en-US" sz="2000" i="1" dirty="0">
                <a:latin typeface="+mn-lt"/>
              </a:rPr>
              <a:t/>
            </a:r>
            <a:r>
              <a:rPr lang="en-US" sz="2000" dirty="0">
                <a:latin typeface="+mn-lt"/>
              </a:rPr>
              <a:t/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到 w 的最低路径代价加上从 w 到 v 的直接代价 */ </a:t>
            </a:r>
            <a:r>
              <a:rPr lang="en-US" sz="2000" i="1" dirty="0">
                <a:latin typeface="+mn-lt"/>
              </a:rPr>
              <a:t/>
            </a:r>
            <a:r>
              <a:rPr lang="en-US" sz="2000" dirty="0">
                <a:latin typeface="+mn-lt"/>
              </a:rPr>
              <a:t/>
            </a:r>
            <a:r>
              <a:rPr lang="en-US" sz="2000" i="1" dirty="0">
                <a:latin typeface="+mn-lt"/>
              </a:rPr>
              <a:t/>
            </a:r>
            <a:r>
              <a:rPr lang="en-US" sz="2000" dirty="0">
                <a:latin typeface="+mn-lt"/>
              </a:rPr>
              <a:t/>
            </a:r>
            <a:r>
              <a:rPr lang="en-US" sz="2000" i="1" dirty="0">
                <a:latin typeface="+mn-lt"/>
              </a:rPr>
              <a:t/>
            </a:r>
            <a:r>
              <a:rPr lang="en-US" sz="2000" dirty="0">
                <a:latin typeface="+mn-lt"/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算法：示例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网络层：5-14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步骤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算法：示例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网络层：5-15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从 u 出发得到的最低代价路径树：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u 中得到的转发表：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目的地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输出链路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从 u 直接到 v 的路由</a:t>
              </a:r>
              <a:r>
                <a:rPr lang="en-US" i="1" dirty="0"/>
                <a:t/>
              </a:r>
              <a:r>
                <a:rPr lang="en-US" dirty="0"/>
                <a:t/>
              </a:r>
              <a:r>
                <a:rPr lang="en-US" i="1" dirty="0"/>
                <a:t/>
              </a:r>
              <a:r>
                <a:rPr lang="en-US" dirty="0"/>
                <a:t/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从 u 经由 x 到所有其他目的地的路由 </a:t>
              </a:r>
              <a:r>
                <a:rPr lang="en-US" i="1" dirty="0"/>
                <a:t/>
              </a:r>
              <a:r>
                <a:rPr lang="en-US" dirty="0"/>
                <a:t/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算法：另一个示例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网络层：5-16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步骤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注：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算法：讨论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网络层：5-17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算法复杂度：n 个节点</a:t>
            </a:r>
            <a:r>
              <a:rPr lang="en-US" dirty="0">
                <a:solidFill>
                  <a:srgbClr val="FF0000"/>
                </a:solidFill>
              </a:rPr>
              <a:t/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>
              <a:defRPr/>
            </a:pPr>
            <a:r>
              <a:rPr lang="en-US" sz="2400" dirty="0"/>
              <a:t>n 次迭代中，每次都需要检查不在 N 中的所有节点 w</a:t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</a:p>
          <a:p>
            <a:pPr>
              <a:defRPr/>
            </a:pPr>
            <a:r>
              <a:rPr lang="en-US" sz="2400" i="1" dirty="0"/>
              <a:t>n(n+1)/2 次比较：O(n2) 复杂度</a:t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i="1" baseline="30000" dirty="0"/>
              <a:t/>
            </a:r>
            <a:r>
              <a:rPr lang="en-US" sz="2400" dirty="0"/>
              <a:t/>
            </a:r>
          </a:p>
          <a:p>
            <a:pPr>
              <a:defRPr/>
            </a:pPr>
            <a:r>
              <a:rPr lang="en-US" sz="2400" dirty="0"/>
              <a:t>可有更高效实现：O(nlogn)</a:t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报文复杂度： </a:t>
            </a:r>
            <a:r>
              <a:rPr lang="en-US" dirty="0">
                <a:solidFill>
                  <a:srgbClr val="FF0000"/>
                </a:solidFill>
              </a:rPr>
              <a:t/>
            </a:r>
          </a:p>
          <a:p>
            <a:pPr>
              <a:defRPr/>
            </a:pPr>
            <a:r>
              <a:rPr lang="en-US" sz="2400" dirty="0"/>
              <a:t>每台路由器必须向其他 n 台路由器广播自己的链路状态信息 </a:t>
            </a:r>
            <a:r>
              <a:rPr lang="en-US" sz="2400" i="1" dirty="0">
                <a:solidFill>
                  <a:srgbClr val="0000A8"/>
                </a:solidFill>
              </a:rPr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</a:p>
          <a:p>
            <a:pPr>
              <a:defRPr/>
            </a:pPr>
            <a:r>
              <a:rPr lang="en-US" sz="2400" dirty="0"/>
              <a:t>高效（且有趣！）的广播算法：从一个源扩散一条广播报文需要 O(n) 次链路穿越</a:t>
            </a:r>
            <a:r>
              <a:rPr lang="en-US" sz="2400" i="1" dirty="0"/>
              <a:t/>
            </a:r>
            <a:r>
              <a:rPr lang="en-US" sz="2400" dirty="0"/>
              <a:t/>
            </a:r>
          </a:p>
          <a:p>
            <a:pPr>
              <a:defRPr/>
            </a:pPr>
            <a:r>
              <a:rPr lang="en-US" sz="2400" dirty="0"/>
              <a:t>每台路由器的报文穿越 O(n) 条链路：总体报文复杂度为 O(n2)</a:t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i="1" baseline="30000" dirty="0"/>
              <a:t/>
            </a:r>
            <a:r>
              <a:rPr lang="en-US" sz="24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 算法：可能发生振荡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网络层：5-18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当链路代价依赖流量大小时，路由可能发生振荡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初始时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给定这些代价，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寻找新的路由……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得到新的代价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给定这些代价，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寻找新的路由……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得到新的代价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给定这些代价，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寻找新的路由……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得到新的代价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示例场景：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到目的地 a 的路由选择：流量分别以速率 1、e（&lt;1）、1 从 d、c、e 进入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链路状态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距离向量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基于 Bellman-Ford（BF）方程（动态规划）：</a:t>
            </a:r>
            <a:r>
              <a:rPr lang="en-US" sz="3200" i="1" dirty="0">
                <a:solidFill>
                  <a:srgbClr val="0000A8"/>
                </a:solidFill>
              </a:rPr>
              <a:t/>
            </a:r>
            <a:r>
              <a:rPr lang="en-US" sz="3200" dirty="0"/>
              <a:t/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距离向量算法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令 Dx(y) 为从 x 到 y 的最低代价路径的代价。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/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则：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方程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最小值在 x 的所有邻居 v 上取得</a:t>
              </a:r>
              <a:r>
                <a:rPr lang="en-US" dirty="0">
                  <a:latin typeface="+mn-lt"/>
                </a:rPr>
                <a:t/>
              </a:r>
              <a:r>
                <a:rPr lang="en-US" i="1" dirty="0">
                  <a:latin typeface="+mn-lt"/>
                </a:rPr>
                <a:t/>
              </a:r>
              <a:r>
                <a:rPr lang="en-US" dirty="0">
                  <a:latin typeface="+mn-lt"/>
                </a:rPr>
                <a:t/>
              </a:r>
              <a:r>
                <a:rPr lang="en-US" i="1" dirty="0">
                  <a:latin typeface="+mn-lt"/>
                </a:rPr>
                <a:t/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 到 y 的估计最低路径代价</a:t>
              </a:r>
              <a:r>
                <a:rPr lang="en-US" dirty="0">
                  <a:latin typeface="+mn-lt"/>
                </a:rPr>
                <a:t/>
              </a:r>
              <a:r>
                <a:rPr lang="en-US" i="1" dirty="0">
                  <a:latin typeface="+mn-lt"/>
                </a:rPr>
                <a:t/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从 x 到 v 的直接链路代价</a:t>
              </a:r>
              <a:r>
                <a:rPr lang="en-US" i="1" dirty="0">
                  <a:latin typeface="+mn-lt"/>
                </a:rPr>
                <a:t/>
              </a:r>
              <a:r>
                <a:rPr lang="en-US" dirty="0">
                  <a:latin typeface="+mn-lt"/>
                </a:rPr>
                <a:t/>
              </a:r>
              <a:r>
                <a:rPr lang="en-US" i="1" dirty="0">
                  <a:latin typeface="+mn-lt"/>
                </a:rPr>
                <a:t/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示例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假设 u 的相邻节点 x、v、w 知道到目的地 z：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/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方程说明：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取得最小值的节点（x）就是到目的地（z）的估计最低代价路径上的下一跳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距离向量算法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关键思想： </a:t>
            </a:r>
          </a:p>
          <a:p>
            <a:pPr marL="460375" indent="-330200">
              <a:defRPr/>
            </a:pPr>
            <a:r>
              <a:rPr lang="en-US" dirty="0"/>
              <a:t>每个节点不时向邻居发送自己的距离向量估计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在较弱且自然的条件下，估计 Dx(y) 会收敛到实际最低代价 dx(y) </a:t>
            </a:r>
            <a:r>
              <a:rPr lang="en-US" sz="2800" i="1" dirty="0">
                <a:cs typeface="Times New Roman" charset="0"/>
              </a:rPr>
              <a:t/>
            </a:r>
            <a:r>
              <a:rPr lang="en-US" sz="2800" i="1" baseline="-30000" dirty="0">
                <a:cs typeface="Times New Roman" charset="0"/>
              </a:rPr>
              <a:t/>
            </a:r>
            <a:r>
              <a:rPr lang="en-US" sz="2800" i="1" dirty="0">
                <a:cs typeface="Times New Roman" charset="0"/>
              </a:rPr>
              <a:t/>
            </a:r>
            <a:r>
              <a:rPr lang="en-US" sz="2800" dirty="0"/>
              <a:t/>
            </a:r>
            <a:r>
              <a:rPr lang="en-US" sz="2800" baseline="-25000" dirty="0"/>
              <a:t/>
            </a:r>
            <a:r>
              <a:rPr lang="en-US" sz="2800" dirty="0"/>
              <a:t/>
            </a:r>
            <a:r>
              <a:rPr lang="en-US" sz="2400" dirty="0"/>
              <a:t/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当 x 从任一邻居收到新的 DV 估计时，使用 B-F 方程更新自己的 DV：</a:t>
              </a:r>
              <a:r>
                <a:rPr lang="en-US" i="1" dirty="0"/>
                <a:t/>
              </a:r>
              <a:r>
                <a:rPr lang="en-US" dirty="0"/>
                <a:t/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距离向量算法：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迭代、异步：每次本地迭代由以下事件触发： </a:t>
            </a:r>
            <a:r>
              <a:rPr lang="en-US" dirty="0">
                <a:solidFill>
                  <a:srgbClr val="FF0000"/>
                </a:solidFill>
              </a:rPr>
              <a:t/>
            </a:r>
            <a:r>
              <a:rPr lang="en-US" sz="2400" dirty="0"/>
              <a:t/>
            </a:r>
          </a:p>
          <a:p>
            <a:pPr marL="460375" indent="-223838"/>
            <a:r>
              <a:rPr lang="en-US" sz="2400" dirty="0"/>
              <a:t>本地链路代价变化 </a:t>
            </a:r>
          </a:p>
          <a:p>
            <a:pPr marL="460375" indent="-223838"/>
            <a:r>
              <a:rPr lang="en-US" sz="2400" dirty="0"/>
              <a:t>来自邻居的 DV 更新报文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等待（本地链路代价变化或来自邻居的报文）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/>
            </a:r>
            <a:r>
              <a:rPr lang="en-US" sz="2800" dirty="0">
                <a:latin typeface="+mn-lt"/>
              </a:rPr>
              <a:t/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每个节点：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分布式、自停止：每个节点仅在自己的 DV 改变时通知邻居</a:t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邻居随后通知它们的邻居，但仅在必要时</a:t>
            </a:r>
            <a:r>
              <a:rPr lang="en-US" i="1" dirty="0"/>
              <a:t/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未收到通知，则不采取动作！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使用从邻居收到的 DV 重新计算 DV 估计</a:t>
              </a:r>
              <a:r>
                <a:rPr lang="en-US" sz="2800" dirty="0">
                  <a:latin typeface="+mn-lt"/>
                </a:rPr>
                <a:t/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如果到任一目的地的 DV 发生变化，则通知邻居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/>
              </a:r>
              <a:r>
                <a:rPr lang="en-US" sz="2800" dirty="0">
                  <a:latin typeface="+mn-lt"/>
                </a:rPr>
                <a:t/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距离向量：示例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所有节点都只拥有到最近邻居的距离估计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一些不对称：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缺失链路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较大代价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所有节点向邻居发送自己的本地距离向量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距离向量示例：迭代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距离向量示例：迭代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距离向量示例：迭代</a:t>
            </a:r>
            <a:r>
              <a:rPr lang="en-US" dirty="0">
                <a:solidFill>
                  <a:srgbClr val="0000A8"/>
                </a:solidFill>
              </a:rPr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距离向量示例：迭代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距离向量示例：迭代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网络层：5-29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计算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距离向量示例：迭代</a:t>
            </a:r>
            <a:r>
              <a:rPr lang="en-US" dirty="0">
                <a:solidFill>
                  <a:srgbClr val="0000A8"/>
                </a:solidFill>
              </a:rPr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所有节点：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从邻居接收距离向量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计算新的本地距离向量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把新的本地距离向量发送给邻居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距离向量示例：迭代</a:t>
            </a:r>
            <a:r>
              <a:rPr lang="en-US" dirty="0">
                <a:solidFill>
                  <a:srgbClr val="0000A8"/>
                </a:solidFill>
              </a:rPr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……以此类推</a:t>
            </a:r>
          </a:p>
          <a:p>
            <a:endParaRPr lang="en-US" sz="2800" dirty="0"/>
          </a:p>
          <a:p>
            <a:r>
              <a:rPr lang="en-US" sz="2800" dirty="0"/>
              <a:t>接下来看看各节点上的迭代计算</a:t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距离向量示例：计算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从 a、c、e 收到 DV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距离向量示例：计算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计算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距离向量示例：计算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从 b 收到 DV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距离向量示例：计算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从 b 收到 DV 后计算：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计算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距离向量示例：计算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从 b、d、f、h 收到 DV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计算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距离向量：状态信息扩散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t=0 时 c 的状态只在 c 处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t=0 时 c 的状态已传播到 b，并可能影响 1 跳范围内（即 b 处）的距离向量计算</a:t>
              </a:r>
              <a:r>
                <a:rPr lang="en-US" sz="2400" b="1" dirty="0">
                  <a:solidFill>
                    <a:srgbClr val="0000A8"/>
                  </a:solidFill>
                </a:rPr>
                <a:t/>
              </a:r>
              <a:r>
                <a:rPr lang="en-US" sz="2000" dirty="0"/>
                <a:t/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t=0 时 c 的状态现在可能影响最多 2 跳范围内的距离向量计算，即 b 以及 a、e</a:t>
              </a:r>
              <a:r>
                <a:rPr lang="en-US" sz="2400" b="1" dirty="0">
                  <a:solidFill>
                    <a:srgbClr val="0000A8"/>
                  </a:solidFill>
                </a:rPr>
                <a:t/>
              </a:r>
              <a:r>
                <a:rPr lang="en-US" sz="2000" dirty="0"/>
                <a:t/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484676"/>
            <a:ext cx="5999480" cy="978729"/>
            <a:chOff x="657860" y="4484676"/>
            <a:chExt cx="5999480" cy="978729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484676"/>
              <a:ext cx="49981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t=0 时 c 的状态可能影响最多 3 跳范围内的距离向量计算，即 b、a、e 以及 c、f、h</a:t>
              </a:r>
              <a:r>
                <a:rPr lang="en-US" sz="2400" b="1" dirty="0">
                  <a:solidFill>
                    <a:srgbClr val="0000A8"/>
                  </a:solidFill>
                </a:rPr>
                <a:t/>
              </a:r>
              <a:r>
                <a:rPr lang="en-US" sz="2000" dirty="0"/>
                <a:t/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524662"/>
            <a:ext cx="5918200" cy="978729"/>
            <a:chOff x="657860" y="5499610"/>
            <a:chExt cx="5918200" cy="97872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499610"/>
              <a:ext cx="4937760" cy="9787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t=0 时 c 的状态可能影响最多 4 跳范围内的距离向量计算，即 b、a、e、c、f、h 以及 g、i</a:t>
              </a:r>
              <a:r>
                <a:rPr lang="en-US" sz="2400" b="1" dirty="0">
                  <a:solidFill>
                    <a:srgbClr val="0000A8"/>
                  </a:solidFill>
                </a:rPr>
                <a:t/>
              </a:r>
              <a:r>
                <a:rPr lang="en-US" sz="2000" dirty="0"/>
                <a:t/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迭代通信和计算步骤使信息在网络中扩散：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距离向量：链路代价变化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“好消息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/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传播得快”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table,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distance table.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链路代价变化：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节点检测到本地链路代价变化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更新路由信息，重新计算本地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如果 DV 变化，则通知邻居 </a:t>
            </a:r>
            <a:r>
              <a:rPr lang="en-US" sz="2400" dirty="0"/>
              <a:t/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  <p:bldP spid="8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距离向量：链路代价变化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网络层：5-39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链路代价变化：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节点检测到本地链路代价变化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“坏消息传播得慢”——计数到无穷问题：</a:t>
            </a:r>
            <a:r>
              <a:rPr lang="en-US" sz="2800" dirty="0"/>
              <a:t/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解决方法见教材。分布式算法很微妙！</a:t>
            </a:r>
            <a:r>
              <a:rPr lang="en-US" sz="2800" i="1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LS 与 DV 算法比较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报文复杂度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LS：n 台路由器，发送 O(n2) 条报文  </a:t>
            </a:r>
            <a:r>
              <a:rPr lang="en-US" i="1" dirty="0">
                <a:solidFill>
                  <a:srgbClr val="0000A8"/>
                </a:solidFill>
              </a:rPr>
              <a:t/>
            </a:r>
            <a:r>
              <a:rPr lang="en-US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i="1" baseline="30000" dirty="0"/>
              <a:t/>
            </a:r>
            <a:r>
              <a:rPr lang="en-US" dirty="0"/>
              <a:t/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DV：邻居之间交换；收敛时间不定</a:t>
            </a:r>
            <a:r>
              <a:rPr lang="en-US" dirty="0"/>
              <a:t/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收敛速度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LS：O(n2) 算法，O(n2) 条报文</a:t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b="1" i="1" baseline="30000" dirty="0"/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i="1" baseline="30000" dirty="0"/>
              <a:t/>
            </a:r>
            <a:r>
              <a:rPr lang="en-US" sz="2400" dirty="0"/>
              <a:t/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可能发生振荡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DV：收敛时间不定</a:t>
            </a:r>
            <a:r>
              <a:rPr lang="en-US" sz="2400" dirty="0"/>
              <a:t/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可能出现路由环路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计数到无穷问题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健壮性：如果路由器故障或被攻陷会怎样？</a:t>
            </a:r>
            <a:r>
              <a:rPr lang="en-US" dirty="0"/>
              <a:t/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路由器可能通告错误链路代价</a:t>
            </a:r>
            <a:r>
              <a:rPr lang="en-US" i="1" dirty="0">
                <a:solidFill>
                  <a:srgbClr val="000099"/>
                </a:solidFill>
              </a:rPr>
              <a:t/>
            </a:r>
            <a:r>
              <a:rPr lang="en-US" dirty="0"/>
              <a:t/>
            </a:r>
          </a:p>
          <a:p>
            <a:pPr marL="522288" lvl="1" indent="-236538"/>
            <a:r>
              <a:rPr lang="en-US" dirty="0"/>
              <a:t>每台路由器只计算自己的表</a:t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路由器可能通告错误路径代价（“我到任何地方的代价都很低”）：黑洞</a:t>
            </a:r>
            <a:r>
              <a:rPr lang="en-US" i="1" dirty="0">
                <a:solidFill>
                  <a:srgbClr val="000099"/>
                </a:solidFill>
              </a:rPr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marL="460375" lvl="1" indent="-223838"/>
            <a:r>
              <a:rPr lang="en-US" dirty="0"/>
              <a:t>每台路由器的表会被其他路由器使用：错误会在网络中传播</a:t>
            </a:r>
            <a:r>
              <a:rPr lang="en-US" altLang="ja-JP" dirty="0"/>
              <a:t/>
            </a:r>
            <a:r>
              <a:rPr lang="en-US" sz="24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网络层：5-41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到目前为止我们的路由学习是理想化的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所有路由器相同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网络是“扁平”的</a:t>
            </a:r>
          </a:p>
          <a:p>
            <a:pPr marL="130175" indent="0">
              <a:buNone/>
            </a:pPr>
            <a:r>
              <a:rPr lang="en-US" dirty="0"/>
              <a:t>……实际中并非如此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使路由选择可扩展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规模：数十亿目的地：</a:t>
            </a:r>
            <a:r>
              <a:rPr lang="en-US" kern="0" dirty="0"/>
              <a:t/>
            </a:r>
          </a:p>
          <a:p>
            <a:r>
              <a:rPr lang="en-US" sz="2400" kern="0" dirty="0"/>
              <a:t>无法在路由表中存储所有目的地！</a:t>
            </a:r>
            <a:r>
              <a:rPr lang="en-US" altLang="ja-JP" sz="2400" kern="0" dirty="0"/>
              <a:t/>
            </a:r>
          </a:p>
          <a:p>
            <a:r>
              <a:rPr lang="en-US" sz="2400" kern="0" dirty="0"/>
              <a:t>交换路由表会淹没链路！ </a:t>
            </a:r>
            <a:r>
              <a:rPr lang="en-US" kern="0" dirty="0"/>
              <a:t/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管理自治：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互联网：网络的网络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每个网络管理员可能希望控制自己网络中的路由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把路由器聚合为称为“自治系统”（AS，也称“域”）的区域</a:t>
            </a:r>
            <a:r>
              <a:rPr lang="en-US" sz="3200" dirty="0">
                <a:solidFill>
                  <a:srgbClr val="0000A8"/>
                </a:solidFill>
              </a:rPr>
              <a:t/>
            </a:r>
            <a:r>
              <a:rPr lang="en-US" sz="3200" dirty="0"/>
              <a:t/>
            </a:r>
            <a:r>
              <a:rPr lang="en-US" sz="3200" dirty="0">
                <a:solidFill>
                  <a:srgbClr val="0000A8"/>
                </a:solidFill>
              </a:rPr>
              <a:t/>
            </a:r>
            <a:r>
              <a:rPr lang="en-US" sz="3200" dirty="0"/>
              <a:t/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互联网的可扩展路由方法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AS 内部（也称“域内”）：同一 AS（“网络”）内部的路由选择</a:t>
            </a:r>
            <a:r>
              <a:rPr lang="en-US" kern="0" dirty="0"/>
              <a:t/>
            </a:r>
            <a:r>
              <a:rPr lang="en-US" i="1" kern="0" dirty="0"/>
              <a:t/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AS 中所有路由器必须运行相同的域内协议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不同 AS 中的路由器可以运行不同的域内路由协议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网关路由器：位于自身 AS 的“边缘”，具有到其他 AS 路由器的链路</a:t>
            </a:r>
            <a:r>
              <a:rPr lang="en-US" sz="2400" kern="0" dirty="0"/>
              <a:t/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AS 间（也称“域间”）：AS 之间的路由选择</a:t>
            </a:r>
            <a:r>
              <a:rPr lang="en-US" kern="0" dirty="0">
                <a:cs typeface="+mn-cs"/>
              </a:rPr>
              <a:t/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网关执行域间路由（同时也执行域内路由）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互连的 AS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路由选择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路由选择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路由选择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AS 间路由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转发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转发表由 AS 内和 AS 间路由算法配置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路由选择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路由选择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AS 内路由决定 AS 内目的地的表项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AS 间和 AS 内路由共同决定外部目的地的表项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AS 间路由：在域内转发中的作用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其他</a:t>
            </a:r>
          </a:p>
          <a:p>
            <a:r>
              <a:rPr lang="en-US" sz="1400" dirty="0"/>
              <a:t>网络s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其他</a:t>
            </a:r>
          </a:p>
          <a:p>
            <a:r>
              <a:rPr lang="en-US" sz="1400" dirty="0"/>
              <a:t>网络s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假设 AS1 中的路由器收到目的地在 AS1 外部的数据报：</a:t>
            </a:r>
            <a:r>
              <a:rPr lang="en-US" sz="2400" dirty="0">
                <a:latin typeface="Arial"/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dirty="0">
                <a:latin typeface="Arial"/>
                <a:cs typeface="Arial"/>
              </a:rPr>
              <a:t/>
            </a:r>
            <a:r>
              <a:rPr lang="en-US" sz="2400" dirty="0"/>
              <a:t/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AS1 的域间路由必须：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/>
            </a:r>
            <a:r>
              <a:rPr lang="en-US" sz="2800" dirty="0">
                <a:solidFill>
                  <a:srgbClr val="CC0000"/>
                </a:solidFill>
              </a:rPr>
              <a:t/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学习哪些目的地可经 AS2 到达，哪些可经 AS3 到达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把该可达性信息传播给 AS1 中所有路由器</a:t>
            </a:r>
            <a:r>
              <a:rPr lang="en-US" sz="2400" dirty="0">
                <a:cs typeface="Arial"/>
              </a:rPr>
              <a:t/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路由器应把分组转发给 AS1 中的网关路由器，但应该是哪一个？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AS 间路由：AS 内部的路由选择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最常见的 AS 内路由协议：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RIP：路由信息协议 [RFC 1723]</a:t>
            </a:r>
            <a:r>
              <a:rPr lang="en-US" dirty="0"/>
              <a:t/>
            </a:r>
            <a:r>
              <a:rPr lang="en-US" sz="2400" dirty="0"/>
              <a:t/>
            </a:r>
          </a:p>
          <a:p>
            <a:pPr lvl="1">
              <a:defRPr/>
            </a:pPr>
            <a:r>
              <a:rPr lang="en-US" dirty="0"/>
              <a:t>经典 DV：每 30 秒交换一次 DV</a:t>
            </a:r>
          </a:p>
          <a:p>
            <a:pPr lvl="1">
              <a:defRPr/>
            </a:pPr>
            <a:r>
              <a:rPr lang="en-US" dirty="0"/>
              <a:t>已不再广泛使用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EIGRP：增强型内部网关路由协议</a:t>
            </a:r>
          </a:p>
          <a:p>
            <a:pPr lvl="1">
              <a:defRPr/>
            </a:pPr>
            <a:r>
              <a:rPr lang="en-US" dirty="0"/>
              <a:t>基于 DV</a:t>
            </a:r>
          </a:p>
          <a:p>
            <a:pPr lvl="1">
              <a:defRPr/>
            </a:pPr>
            <a:r>
              <a:rPr lang="en-US" dirty="0"/>
              <a:t>此前数十年为 Cisco 专有协议（2013 年开放 [RFC 7868]）</a:t>
            </a:r>
          </a:p>
          <a:p>
            <a:pPr>
              <a:defRPr/>
            </a:pPr>
            <a:r>
              <a:rPr lang="en-US" dirty="0"/>
              <a:t> OSPF：开放最短路径优先 [RFC 2328]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sz="2000" dirty="0">
                <a:solidFill>
                  <a:srgbClr val="C00000"/>
                </a:solidFill>
              </a:rPr>
              <a:t/>
            </a:r>
          </a:p>
          <a:p>
            <a:pPr lvl="1">
              <a:defRPr/>
            </a:pPr>
            <a:r>
              <a:rPr lang="en-US" dirty="0"/>
              <a:t>链路状态路由选择</a:t>
            </a:r>
          </a:p>
          <a:p>
            <a:pPr lvl="1">
              <a:defRPr/>
            </a:pPr>
            <a:r>
              <a:rPr lang="en-US" dirty="0"/>
              <a:t>IS-IS 协议（ISO 标准，非 RFC 标准）本质上与 OSPF 相同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OSPF（开放最短路径优先）路由选择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“开放”：公开可用</a:t>
            </a:r>
          </a:p>
          <a:p>
            <a:pPr marL="285750" indent="-274638"/>
            <a:r>
              <a:rPr lang="en-US" altLang="ja-JP" sz="3200" dirty="0"/>
              <a:t>经典链路状态 </a:t>
            </a:r>
          </a:p>
          <a:p>
            <a:pPr lvl="1"/>
            <a:r>
              <a:rPr lang="en-US" altLang="ja-JP" sz="2800" dirty="0"/>
              <a:t>每台路由器向整个 AS 中所有其他路由器泛洪 OSPF 链路状态通告（直接运行在 IP 之上，而不是使用 TCP/UDP）</a:t>
            </a:r>
          </a:p>
          <a:p>
            <a:pPr lvl="1"/>
            <a:r>
              <a:rPr lang="en-US" altLang="ja-JP" sz="2800" dirty="0"/>
              <a:t>可使用多种链路代价度量：带宽、时延</a:t>
            </a:r>
          </a:p>
          <a:p>
            <a:pPr lvl="1"/>
            <a:r>
              <a:rPr lang="en-US" altLang="ja-JP" sz="2800" dirty="0"/>
              <a:t>每台路由器都有完整拓扑，并使用 Dijkstra 算法计算转发表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安全性：所有 OSPF 报文都经过认证（防止恶意入侵） </a:t>
            </a:r>
            <a:r>
              <a:rPr lang="en-US" altLang="ja-JP" dirty="0"/>
              <a:t/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层次化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网络层：5-48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两级层次结构：本地区域、骨干。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链路状态通告只在区域或骨干中泛洪</a:t>
            </a:r>
            <a:r>
              <a:rPr lang="en-US" sz="2800" kern="0" dirty="0">
                <a:solidFill>
                  <a:srgbClr val="000000"/>
                </a:solidFill>
              </a:rPr>
              <a:t/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每个节点拥有所在区域的详细拓扑；只知道到达其他目的地的方向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区域边界路由器：“汇总”到本区域目的地的距离，并在骨干中通告</a:t>
              </a:r>
              <a:r>
                <a:rPr lang="en-US" altLang="ja-JP" sz="2000" dirty="0"/>
                <a:t/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路由器s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骨干路由器：只在骨干中运行 OSPF</a:t>
              </a:r>
              <a:r>
                <a:rPr lang="en-US" altLang="ja-JP" sz="2000" dirty="0"/>
                <a:t/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边界路由器：连接到其他 AS</a:t>
              </a:r>
              <a:r>
                <a:rPr lang="en-US" altLang="ja-JP" sz="2000" dirty="0"/>
                <a:t/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本地路由器：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只在区域内泛洪 LS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计算区域内路由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经区域边界路由器把分组转发到外部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网络层：5-49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BGP（边界网关协议）：事实上的域间路由协议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“把互联网粘合在一起的胶水”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允许子网向互联网其他部分通告自身存在以及可到达的目的地：“我在这里，这是我能到达谁以及如何到达”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/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/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为每个 AS 提供一种手段，用于：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eBGP：从相邻 AS 获得子网可达性信息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iBGP：把可达性信息传播给 AS 内部所有路由器。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基于可达性信息和策略，确定到其他网络的“好”路由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/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互联网 AS 间路由：BGP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eBGP、iBGP 连接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连通性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逻辑 iBGP 连通性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网关路由器同时运行 eBGP 和 iBGP 协议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基础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当 AS3 网关 3a 向 AS2 网关 2c 通告路径 AS3,X 时：</a:t>
            </a:r>
            <a:r>
              <a:rPr lang="en-US" dirty="0">
                <a:solidFill>
                  <a:srgbClr val="0000A8"/>
                </a:solidFill>
              </a:rPr>
              <a:t/>
            </a:r>
            <a:r>
              <a:rPr lang="en-US" sz="2400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</a:p>
          <a:p>
            <a:pPr marL="685800" lvl="1" indent="-228600"/>
            <a:r>
              <a:rPr lang="en-US" dirty="0"/>
              <a:t>AS3 向 AS2 承诺会把数据报转发到 X</a:t>
            </a:r>
            <a:r>
              <a:rPr lang="en-US" i="1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会话：两个 BGP 路由器（“对等体”）通过半永久 TCP 连接交换 BGP 报文：</a:t>
            </a:r>
            <a:r>
              <a:rPr lang="en-US" sz="2800" dirty="0">
                <a:solidFill>
                  <a:srgbClr val="FF0000"/>
                </a:solidFill>
              </a:rPr>
              <a:t/>
            </a:r>
            <a:r>
              <a:rPr lang="en-US" sz="2800" dirty="0"/>
              <a:t/>
            </a:r>
            <a:r>
              <a:rPr lang="en-US" altLang="ja-JP" sz="2800" dirty="0"/>
              <a:t/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向不同目的网络前缀通告路径（BGP 是一种“路径向量”协议）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/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/>
            </a:r>
            <a:r>
              <a:rPr lang="en-US" sz="2400" dirty="0">
                <a:cs typeface="Gill Sans MT"/>
              </a:rPr>
              <a:t/>
            </a:r>
            <a:r>
              <a:rPr lang="en-US" altLang="ja-JP" sz="2400" dirty="0">
                <a:cs typeface="Gill Sans MT"/>
              </a:rPr>
              <a:t/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通告：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路径属性与 BGP 路由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通告的路由：前缀 + 属性 </a:t>
            </a:r>
          </a:p>
          <a:p>
            <a:pPr lvl="1" indent="-290513"/>
            <a:r>
              <a:rPr lang="en-US" sz="2800" dirty="0"/>
              <a:t>前缀：被通告的目的地</a:t>
            </a:r>
          </a:p>
          <a:p>
            <a:pPr lvl="1" indent="-290513"/>
            <a:r>
              <a:rPr lang="en-US" sz="2800" dirty="0"/>
              <a:t>两个重要属性：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AS-PATH：该前缀通告经过的 AS 列表</a:t>
            </a:r>
            <a:r>
              <a:rPr lang="en-US" dirty="0"/>
              <a:t/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NEXT-HOP：指向下一跳 AS 的特定 AS 内部路由器</a:t>
            </a:r>
            <a:r>
              <a:rPr lang="en-US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基于策略的路由选择：</a:t>
            </a:r>
          </a:p>
          <a:p>
            <a:pPr lvl="1"/>
            <a:r>
              <a:rPr lang="en-US" sz="2800" dirty="0"/>
              <a:t>接收路由通告的网关使用导入策略接受/拒绝路径（例如永不经过 AS Y 路由）。</a:t>
            </a:r>
            <a:r>
              <a:rPr lang="en-US" sz="2800" i="1" dirty="0">
                <a:solidFill>
                  <a:srgbClr val="0000A8"/>
                </a:solidFill>
              </a:rPr>
              <a:t/>
            </a:r>
            <a:r>
              <a:rPr lang="en-US" sz="2800" dirty="0"/>
              <a:t/>
            </a:r>
          </a:p>
          <a:p>
            <a:pPr lvl="1"/>
            <a:r>
              <a:rPr lang="en-US" sz="2800" dirty="0"/>
              <a:t>AS 策略还决定是否向其他相邻 AS 通告该路径</a:t>
            </a:r>
            <a:r>
              <a:rPr lang="en-US" sz="2800" i="1" dirty="0">
                <a:solidFill>
                  <a:srgbClr val="0000A8"/>
                </a:solidFill>
              </a:rPr>
              <a:t/>
            </a:r>
            <a:r>
              <a:rPr lang="en-US" sz="2800" dirty="0">
                <a:solidFill>
                  <a:srgbClr val="0000A8"/>
                </a:solidFill>
              </a:rPr>
              <a:t/>
            </a:r>
            <a:r>
              <a:rPr lang="en-US" sz="2800" dirty="0"/>
              <a:t/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路径通告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根据 AS2 策略，AS2 路由器 2c 接受路径 AS3,X，并通过 iBGP 传播给所有 AS2 路由器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路由器 2c 从 AS3 路由器 3a 经 eBGP 收到路径通告 AS3,X</a:t>
            </a:r>
            <a:r>
              <a:rPr lang="en-US" sz="2400" dirty="0">
                <a:solidFill>
                  <a:srgbClr val="CC0000"/>
                </a:solidFill>
              </a:rPr>
              <a:t/>
            </a:r>
            <a:r>
              <a:rPr lang="en-US" sz="2400" dirty="0"/>
              <a:t/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根据 AS2 策略，AS2 路由器 2a 经 eBGP 向 AS1 路由器 1c 通告路径 AS2, AS3, X</a:t>
            </a:r>
            <a:r>
              <a:rPr lang="en-US" sz="2400" dirty="0">
                <a:solidFill>
                  <a:srgbClr val="CC0000"/>
                </a:solidFill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路径通告（更多）</a:t>
            </a:r>
            <a:r>
              <a:rPr lang="en-US" sz="3600" dirty="0"/>
              <a:t/>
            </a:r>
            <a:r>
              <a:rPr lang="en-US" dirty="0"/>
              <a:t/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AS1 网关路由器 1c 从 2a 学到路径 AS2,AS3,X</a:t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i="1" dirty="0">
                <a:solidFill>
                  <a:srgbClr val="CC0000"/>
                </a:solidFill>
              </a:rPr>
              <a:t/>
            </a:r>
            <a:r>
              <a:rPr lang="en-US" sz="2400" dirty="0"/>
              <a:t/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网关路由器可能学到到同一目的地的多条路径：</a:t>
            </a:r>
            <a:r>
              <a:rPr lang="en-US" dirty="0">
                <a:solidFill>
                  <a:srgbClr val="000090"/>
                </a:solidFill>
              </a:rPr>
              <a:t/>
            </a:r>
            <a:r>
              <a:rPr lang="en-US" dirty="0"/>
              <a:t/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AS1 网关路由器 1c 从 3a 学到路径 AS3,X</a:t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i="1" dirty="0">
                <a:solidFill>
                  <a:srgbClr val="CC0000"/>
                </a:solidFill>
              </a:rPr>
              <a:t/>
            </a:r>
            <a:r>
              <a:rPr lang="en-US" sz="2400" dirty="0"/>
              <a:t/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根据策略，AS1 网关路由器 1c 选择路径 AS3,X，并通过 iBGP 在 AS1 内通告</a:t>
            </a:r>
            <a:r>
              <a:rPr lang="en-US" sz="2400" i="1" dirty="0">
                <a:solidFill>
                  <a:srgbClr val="0000A8"/>
                </a:solidFill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  <a:r>
              <a:rPr lang="en-US" sz="2400" i="1" dirty="0">
                <a:solidFill>
                  <a:srgbClr val="CC0000"/>
                </a:solidFill>
              </a:rPr>
              <a:t/>
            </a:r>
            <a:r>
              <a:rPr lang="en-US" sz="2400" dirty="0"/>
              <a:t/>
            </a:r>
            <a:r>
              <a:rPr lang="en-US" sz="2400" dirty="0">
                <a:cs typeface="Arial"/>
              </a:rPr>
              <a:t/>
            </a:r>
            <a:r>
              <a:rPr lang="en-US" sz="2400" dirty="0"/>
              <a:t/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报文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网络层：5-56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报文通过 TCP 连接在对等体之间交换</a:t>
            </a:r>
          </a:p>
          <a:p>
            <a:pPr indent="-290513"/>
            <a:r>
              <a:rPr lang="en-US" sz="3200" dirty="0"/>
              <a:t>BGP 报文：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OPEN：打开到远程 BGP 对等体的 TCP 连接，并认证发送方 BGP 对等体</a:t>
            </a:r>
            <a:r>
              <a:rPr lang="en-US" sz="2800" dirty="0"/>
              <a:t/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UPDATE：通告新路径（或撤销旧路径）</a:t>
            </a:r>
            <a:r>
              <a:rPr lang="en-US" sz="2800" dirty="0"/>
              <a:t/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KEEPALIVE：在没有 UPDATE 时保持连接存活；也确认 OPEN 请求</a:t>
            </a:r>
            <a:r>
              <a:rPr lang="en-US" sz="2800" dirty="0"/>
              <a:t/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NOTIFICATION：报告先前报文中的错误；也用于关闭连接</a:t>
            </a:r>
            <a:r>
              <a:rPr lang="en-US" sz="2800" dirty="0"/>
              <a:t/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路径通告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网络层：5-57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回顾：1a、1b、1d 通过 iBGP 从 1c 学到：“到 X 的路径经过 1c”</a:t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1d：OSPF 域内路由指明，要到 1c，使用接口 1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本地链路接口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1d：要到 X，使用接口 1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路径通告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网络层：5-58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回顾：1a、1b、1d 通过 iBGP 从 1c 学到：“到 X 的路径经过 1c”</a:t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  <a:r>
              <a:rPr lang="en-US" sz="2400" kern="0" dirty="0">
                <a:cs typeface="Arial"/>
              </a:rPr>
              <a:t/>
            </a:r>
            <a:r>
              <a:rPr lang="en-US" sz="2400" kern="0" dirty="0"/>
              <a:t/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1d：OSPF 域内路由指明，要到 1c，使用接口 1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1d：要到 X，使用接口 1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1a：OSPF 域内路由指明，要到 1c，使用接口 2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在 1a：要到 X，使用接口 2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为什么 AS 内和 AS 间路由不同？ </a:t>
            </a:r>
            <a:r>
              <a:rPr lang="en-US" sz="6000" dirty="0"/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网络层：5-59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策略： </a:t>
            </a:r>
            <a:r>
              <a:rPr lang="en-US" dirty="0">
                <a:solidFill>
                  <a:srgbClr val="C00000"/>
                </a:solidFill>
              </a:rPr>
              <a:t/>
            </a:r>
          </a:p>
          <a:p>
            <a:pPr marL="460375" indent="-223838"/>
            <a:r>
              <a:rPr lang="en-US" dirty="0"/>
              <a:t>AS 间：管理员希望控制其流量如何路由，以及谁能经过其网络路由 </a:t>
            </a:r>
          </a:p>
          <a:p>
            <a:pPr marL="460375" indent="-223838"/>
            <a:r>
              <a:rPr lang="en-US" dirty="0"/>
              <a:t>AS 内：单一管理员，因此策略问题较少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规模：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层次化路由减少表大小和更新流量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性能： </a:t>
            </a:r>
          </a:p>
          <a:p>
            <a:pPr marL="460375" indent="-223838"/>
            <a:r>
              <a:rPr lang="en-US" dirty="0"/>
              <a:t>AS 内：可以关注性能</a:t>
            </a:r>
          </a:p>
          <a:p>
            <a:pPr marL="460375" indent="-223838"/>
            <a:r>
              <a:rPr lang="en-US" dirty="0"/>
              <a:t>AS 间：策略优先于性能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热土豆路由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网络层：5-60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通过 iBGP 学到，它可经 2a 或 2c 到达 X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热土豆路由：选择域内代价最低的本地网关（例如 2d 选择 2a，即使到 X 的 AS 跳数更多）：不关心域间代价！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链路权重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BGP：通过通告实现策略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网络层：5-61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图例：</a:t>
              </a:r>
              <a:r>
                <a:rPr lang="en-US" sz="1700" b="1" dirty="0">
                  <a:solidFill>
                    <a:srgbClr val="000000"/>
                  </a:solidFill>
                </a:rPr>
                <a:t/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客户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网络：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提供商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网络层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向 B 和 C 通告路径 Aw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选择不向 C 通告 BAw！ 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/>
            </a:r>
            <a:r>
              <a:rPr lang="en-US" sz="2400" dirty="0">
                <a:latin typeface="+mn-lt"/>
              </a:rPr>
              <a:t/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为 CBAw 路由得不到“收入”，因为 C、A、w 都不是 B 的客户</a:t>
            </a:r>
            <a:r>
              <a:rPr lang="en-US" sz="2400" dirty="0"/>
              <a:t/>
            </a:r>
            <a:r>
              <a:rPr lang="en-US" altLang="ja-JP" sz="2400" dirty="0">
                <a:latin typeface="+mn-lt"/>
              </a:rPr>
              <a:t/>
            </a:r>
            <a:r>
              <a:rPr lang="en-US" altLang="ja-JP" sz="2400" dirty="0"/>
              <a:t/>
            </a:r>
            <a:r>
              <a:rPr lang="en-US" altLang="ja-JP" sz="2400" dirty="0">
                <a:latin typeface="+mn-lt"/>
              </a:rPr>
              <a:t/>
            </a:r>
            <a:r>
              <a:rPr lang="en-US" altLang="ja-JP" sz="2400" dirty="0"/>
              <a:t/>
            </a:r>
            <a:r>
              <a:rPr lang="en-US" altLang="ja-JP" sz="2400" dirty="0">
                <a:latin typeface="+mn-lt"/>
              </a:rPr>
              <a:t/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不会学到 CBAw 路径</a:t>
            </a:r>
            <a:r>
              <a:rPr lang="en-US" altLang="ja-JP" sz="2400" i="1" dirty="0">
                <a:latin typeface="+mn-lt"/>
              </a:rPr>
              <a:t/>
            </a:r>
            <a:r>
              <a:rPr lang="en-US" altLang="ja-JP" sz="2400" dirty="0">
                <a:latin typeface="+mn-lt"/>
              </a:rPr>
              <a:t/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将使用 CAw（不经过 B）到达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只希望路由往返其客户网络的流量（不希望承载其他 ISP 之间的中转流量，这是典型“现实世界”策略）</a:t>
            </a:r>
            <a:r>
              <a:rPr lang="en-US" sz="2400" dirty="0"/>
              <a:t/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BGP：通过通告实现策略（更多）</a:t>
            </a:r>
            <a:r>
              <a:rPr lang="en-US" sz="4000" dirty="0"/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网络层：5-62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只希望路由往返其客户网络的流量（不希望承载其他 ISP 之间的中转流量，这是典型“现实世界”策略）</a:t>
            </a:r>
            <a:r>
              <a:rPr lang="en-US" sz="2400" dirty="0"/>
              <a:t/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A、B、C 是提供商网络</a:t>
            </a:r>
            <a:r>
              <a:rPr lang="en-US" sz="2400" dirty="0">
                <a:solidFill>
                  <a:srgbClr val="C00000"/>
                </a:solidFill>
              </a:rPr>
              <a:t/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x、w、y 是客户网络（提供商网络的客户）</a:t>
            </a:r>
            <a:r>
              <a:rPr lang="en-US" sz="2400" dirty="0">
                <a:solidFill>
                  <a:srgbClr val="C00000"/>
                </a:solidFill>
              </a:rPr>
              <a:t/>
            </a:r>
            <a:r>
              <a:rPr lang="en-US" sz="2400" dirty="0"/>
              <a:t/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是双归属的：连接到两个网络</a:t>
            </a:r>
            <a:r>
              <a:rPr lang="en-US" sz="2400" i="1" dirty="0"/>
              <a:t/>
            </a:r>
            <a:r>
              <a:rPr lang="en-US" sz="2400" dirty="0">
                <a:solidFill>
                  <a:srgbClr val="C00000"/>
                </a:solidFill>
              </a:rPr>
              <a:t/>
            </a:r>
            <a:r>
              <a:rPr lang="en-US" sz="2400" dirty="0"/>
              <a:t/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要执行的策略：x 不希望从 B 到 C 的流量经由 x 路由 </a:t>
            </a:r>
            <a:r>
              <a:rPr lang="en-US" sz="2400" dirty="0"/>
              <a:t/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……因此 x 不会向 B 通告到 C 的路由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图例：</a:t>
              </a:r>
              <a:r>
                <a:rPr lang="en-US" sz="1700" b="1" dirty="0">
                  <a:solidFill>
                    <a:srgbClr val="000000"/>
                  </a:solidFill>
                </a:rPr>
                <a:t/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客户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网络：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提供商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网络层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路由器可能学到到目的 AS 的多条路由，并基于以下因素选择：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本地偏好值属性：策略决策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最短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最近 NEXT-HOP 路由器：热土豆路由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其他准则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路由选择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网络层：5-63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网络层：5-64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互联网网络层历史上通过分布式、逐路由器控制方法实现：</a:t>
            </a:r>
            <a:r>
              <a:rPr lang="en-US" dirty="0"/>
              <a:t/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一体化路由器包含交换硬件，并在专有路由器 OS（例如 Cisco IOS）中运行互联网标准协议（IP、RIP、IS-IS、OSPF、BGP）的专有实现</a:t>
            </a:r>
            <a:r>
              <a:rPr lang="en-US" sz="2800" dirty="0"/>
              <a:t/>
            </a:r>
          </a:p>
          <a:p>
            <a:pPr lvl="1"/>
            <a:r>
              <a:rPr lang="en-US" sz="2800" dirty="0"/>
              <a:t>不同网络层功能使用不同“中间盒”：防火墙、负载均衡器、NAT 盒等</a:t>
            </a:r>
          </a:p>
          <a:p>
            <a:pPr indent="-290513"/>
            <a:r>
              <a:rPr lang="en-US" sz="3200" dirty="0"/>
              <a:t>约 2005 年：重新思考网络控制平面的兴趣复兴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网络层：5-65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逐路由器控制平面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每台路由器中的各个路由算法组件在控制平面中相互交互，以计算转发表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路由选择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算法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控制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到达分组中的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分组首部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网络层：5-66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软件定义网络（SDN）控制平面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远程控制器计算并在路由器中安装转发表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控制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远程控制器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到达分组中的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分组首部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网络层：5-67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/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为什么需要逻辑集中式控制平面？</a:t>
            </a:r>
            <a:r>
              <a:rPr lang="en-US" sz="3200" dirty="0">
                <a:solidFill>
                  <a:srgbClr val="CC0000"/>
                </a:solidFill>
              </a:rPr>
              <a:t/>
            </a:r>
            <a:r>
              <a:rPr lang="en-US" sz="3200" dirty="0"/>
              <a:t/>
            </a:r>
            <a:r>
              <a:rPr lang="en-US" sz="3200" dirty="0">
                <a:solidFill>
                  <a:srgbClr val="CC0000"/>
                </a:solidFill>
              </a:rPr>
              <a:t/>
            </a:r>
            <a:r>
              <a:rPr lang="en-US" sz="3200" i="1" dirty="0">
                <a:solidFill>
                  <a:srgbClr val="CC0000"/>
                </a:solidFill>
              </a:rPr>
              <a:t/>
            </a:r>
            <a:r>
              <a:rPr lang="en-US" sz="3200" dirty="0">
                <a:solidFill>
                  <a:srgbClr val="000000"/>
                </a:solidFill>
              </a:rPr>
              <a:t/>
            </a:r>
          </a:p>
          <a:p>
            <a:pPr marL="635000" indent="-400050"/>
            <a:r>
              <a:rPr lang="en-US" dirty="0"/>
              <a:t>更容易的网络管理：避免路由器错误配置，提升流量流的灵活性</a:t>
            </a:r>
          </a:p>
          <a:p>
            <a:pPr marL="635000" indent="-400050"/>
            <a:r>
              <a:rPr lang="en-US" dirty="0"/>
              <a:t>基于表的转发（回顾 OpenFlow API）允许对路由器“编程”</a:t>
            </a:r>
          </a:p>
          <a:p>
            <a:pPr marL="1035050" lvl="1" indent="-176213"/>
            <a:r>
              <a:rPr lang="en-US" dirty="0"/>
              <a:t>集中式“编程”更容易：集中计算表并分发</a:t>
            </a:r>
          </a:p>
          <a:p>
            <a:pPr marL="1035050" lvl="1" indent="-176213"/>
            <a:r>
              <a:rPr lang="en-US" dirty="0"/>
              <a:t>分布式“编程”更困难：表由每台路由器实现的分布式算法（协议）计算得到 </a:t>
            </a:r>
          </a:p>
          <a:p>
            <a:pPr marL="635000" indent="-400050"/>
            <a:r>
              <a:rPr lang="en-US" dirty="0"/>
              <a:t>控制平面的开放（非专有）实现</a:t>
            </a:r>
          </a:p>
          <a:p>
            <a:pPr marL="977900" lvl="1" indent="-400050"/>
            <a:r>
              <a:rPr lang="en-US" dirty="0"/>
              <a:t>促进创新：让千花齐放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网络层：5-68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类比：大型机到 PC 的革命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网络层：5-69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垂直集成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封闭、专有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创新缓慢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小规模产业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专用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操作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系统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专用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硬件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专用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应用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水平分层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开放接口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快速创新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庞大产业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开放接口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开放接口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流量工程：传统路由很难实现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问：如果网络运营者希望 u 到 z 的流量走 uvwz，而不是 uxyz，怎么办？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答：需要重新定义链路权重，使流量路由算法计算出相应路由（或者需要新的路由算法）！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链路权重是唯一控制“旋钮”：控制力不强！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流量工程：传统路由很难实现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问：如果网络运营者想把 u 到 z 的流量分到 uvwz 和 uxyz 两条路径上（负载均衡），怎么办？</a:t>
            </a:r>
            <a:r>
              <a:rPr lang="en-US" sz="2800" dirty="0"/>
              <a:t/>
            </a:r>
            <a:r>
              <a:rPr lang="en-US" sz="2800" i="1" dirty="0">
                <a:solidFill>
                  <a:srgbClr val="CC0000"/>
                </a:solidFill>
              </a:rPr>
              <a:t/>
            </a:r>
            <a:r>
              <a:rPr lang="en-US" sz="2800" dirty="0"/>
              <a:t/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答：做不到（或需要新的路由算法）</a:t>
            </a:r>
            <a:r>
              <a:rPr lang="en-US" sz="2800" dirty="0"/>
              <a:t/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流量工程：传统路由很难实现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问：如果 w 想把从 w 到 z 的蓝色和红色流量走不同路由，怎么办？</a:t>
            </a:r>
            <a:r>
              <a:rPr lang="en-US" sz="2800" dirty="0"/>
              <a:t/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答：做不到（使用基于目的地址的转发以及 LS、DV 路由时）</a:t>
            </a:r>
            <a:r>
              <a:rPr lang="en-US" sz="2800" dirty="0"/>
              <a:t/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第 4 章中我们学到，通用转发和 SDN 可用于实现任何期望的路由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数据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平面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控制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平面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远程控制器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1：通用“基于流”的转发（例如 OpenFlow）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控制平面与数据平面分离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3. 控制平面功能位于数据平面交换机之外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/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/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路由选择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负载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均衡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可编程控制应用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数据平面交换机：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快速、简单、商品化交换机，在硬件中实现通用数据平面转发（第 4.4 节）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流（转发）表在控制器监督下计算并安装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用于基于表的交换机控制的 API（例如 OpenFlow）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定义哪些可控制、哪些不可控制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与控制器通信的协议（例如 OpenFlow）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数据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控制器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（网络操作系统）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路由选择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访问控制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控制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负载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均衡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南向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北向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 控制的交换机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网络控制应用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控制器（网络 OS）：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维护网络状态信息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通过北向 API 与“上方”的网络控制应用交互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通过南向 API 与“下方”的网络交换机交互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作为分布式系统实现，以获得性能、可扩展性、容错性和健壮性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数据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控制器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（网络操作系统）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路由选择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访问控制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控制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负载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均衡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南向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北向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 控制的交换机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网络控制应用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软件定义网络（SDN）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网络控制应用：</a:t>
            </a:r>
          </a:p>
          <a:p>
            <a:pPr>
              <a:lnSpc>
                <a:spcPct val="100000"/>
              </a:lnSpc>
            </a:pPr>
            <a:r>
              <a:rPr lang="en-US" dirty="0"/>
              <a:t>控制的“大脑”：使用 SDN 控制器提供的较低层服务和 API 实现控制功能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解耦：可由第三方提供，独立于路由设备厂商或 SDN 控制器</a:t>
            </a:r>
            <a:r>
              <a:rPr lang="en-US" dirty="0"/>
              <a:t/>
            </a:r>
            <a:r>
              <a:rPr lang="en-US" baseline="30000" dirty="0"/>
              <a:t/>
            </a:r>
            <a:r>
              <a:rPr lang="en-US" dirty="0"/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数据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平面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控制器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（网络操作系统）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路由选择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访问控制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控制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负载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均衡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南向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北向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 控制的交换机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网络控制应用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控制器组件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全网范围的分布式、健壮状态管理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与受控设备之间的通信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链路状态信息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交换机信息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主机信息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统计信息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流表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网络图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意图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面向网络控制应用的接口和抽象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路由选择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访问控制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负载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均衡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网络-wide state management ： state of 网络s 链路s, switches, services： a distributed database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/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协议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运行于控制器与交换机之间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使用 TCP 交换报文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可选加密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三类 OpenFlow 报文：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控制器到交换机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异步（交换机到控制器）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对称（杂项）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不同于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用于指定通用转发动作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控制器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OpenFlow：控制器到交换机报文</a:t>
            </a:r>
            <a:r>
              <a:rPr lang="en-US" dirty="0"/>
              <a:t/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网络层：5-79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关键控制器到交换机报文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features：控制器查询交换机特性，交换机回复</a:t>
            </a:r>
            <a:r>
              <a:rPr lang="en-US" sz="2800" dirty="0"/>
              <a:t/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configure：控制器查询/设置交换机配置参数</a:t>
            </a:r>
            <a:r>
              <a:rPr lang="en-US" sz="2800" dirty="0"/>
              <a:t/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modify-state：在 OpenFlow 表中添加、删除、修改流表项</a:t>
            </a:r>
            <a:r>
              <a:rPr lang="en-US" sz="2800" dirty="0"/>
              <a:t/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packet-out：控制器可让该分组从特定交换机端口发出</a:t>
            </a:r>
            <a:r>
              <a:rPr lang="en-US" sz="2800" dirty="0"/>
              <a:t/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控制器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5400" dirty="0"/>
              <a:t>OpenFlow：交换机到控制器报文</a:t>
            </a:r>
            <a:r>
              <a:rPr lang="en-US" sz="4800" dirty="0"/>
              <a:t/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关键交换机到控制器报文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packet-in：把分组（及其控制）传给控制器。参见控制器的 packet-out 报文</a:t>
            </a:r>
            <a:r>
              <a:rPr lang="en-US" sz="2800" dirty="0"/>
              <a:t/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flow-removed：交换机中的流表项被删除</a:t>
            </a:r>
            <a:r>
              <a:rPr lang="en-US" sz="2800" dirty="0"/>
              <a:t/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status：告知控制器某端口发生变化。</a:t>
            </a:r>
            <a:r>
              <a:rPr lang="en-US" sz="2800" dirty="0"/>
              <a:t/>
            </a:r>
            <a:r>
              <a:rPr lang="en-US" sz="3200" dirty="0"/>
              <a:t/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幸运的是，网络运营者不会通过直接创建/发送 OpenFlow 报文来“编程”交换机，而是在控制器上使用更高层抽象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控制器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SDN：控制/数据平面交互示例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链路状态信息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交换机信息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主机信息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统计信息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流表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网络图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意图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 链路状态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路由选择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 发生链路故障，使用 OpenFlow port status 报文通知控制器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控制器收到 OpenFlow 报文，更新链路状态信息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 路由算法应用先前已注册，以便链路状态变化时被调用。此时它被调用。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 路由算法访问控制器中的网络图信息和链路状态信息，并计算新路由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SDN：控制/数据平面交互示例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链路状态信息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交换机信息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主机信息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统计信息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流表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网络图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意图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 链路状态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路由选择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链路状态路由应用与 SDN 控制器中的流表计算组件交互，后者计算所需的新流表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控制器使用 OpenFlow 在需要更新的交换机中安装新表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OpenDaylight（ODL）控制器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网络编排与应用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南向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服务抽象层（SAL）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配置和运行数据存储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消息传递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北向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流量工程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防火墙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负载均衡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基本网络功能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增强服务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转发规则管理器</a:t>
                </a:r>
                <a:r>
                  <a:rPr lang="en-US" sz="1600" dirty="0"/>
                  <a:t/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主机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管理器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交换机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管理器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处理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服务抽象层：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互连内部和外部应用与服务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控制器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网络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南向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北向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流量工程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防火墙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负载均衡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南向抽象，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协议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设备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链路层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主机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流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分组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北向抽象，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协议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统计信息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链路s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路径s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流规则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拓扑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意图框架：服务的高层规范：说明做什么，而不是怎么做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加固控制平面：构建可信、可靠、性能可扩展、安全的分布式系统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故障健壮性：利用可靠分布式系统的强理论来构建控制平面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可信性和安全性：是否从一开始就“内建”？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满足任务特定需求的网络和协议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例如实时、超可靠、超安全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互联网级扩展：超越单个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在 5G 蜂窝网络中至关重要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SDN：若干挑战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 计算的转发表与路由器计算的转发表：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这只是逻辑集中式计算与协议计算的一个例子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可以想象由 SDN 计算的拥塞控制：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控制器根据路由器向控制器报告的拥塞程度设置发送方速率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与传统网络协议的未来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网络功能实现（SDN 与协议）将如何演进？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网络层：5-87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ICMP：互联网控制报文协议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主机和路由器用它传递网络层信息</a:t>
            </a:r>
          </a:p>
          <a:p>
            <a:pPr lvl="1"/>
            <a:r>
              <a:rPr lang="en-US" dirty="0"/>
              <a:t>差错报告：主机、网络、端口、协议不可达</a:t>
            </a:r>
          </a:p>
          <a:p>
            <a:pPr lvl="1"/>
            <a:r>
              <a:rPr lang="en-US" dirty="0"/>
              <a:t>回显请求/回复（ping 使用）</a:t>
            </a:r>
            <a:r>
              <a:rPr lang="en-US" sz="2000" dirty="0"/>
              <a:t/>
            </a:r>
          </a:p>
          <a:p>
            <a:pPr indent="-295275"/>
            <a:r>
              <a:rPr lang="en-US" dirty="0"/>
              <a:t>位于 IP “之上”的网络层协议：</a:t>
            </a:r>
            <a:r>
              <a:rPr lang="en-US" altLang="ja-JP" dirty="0"/>
              <a:t/>
            </a:r>
          </a:p>
          <a:p>
            <a:pPr lvl="1"/>
            <a:r>
              <a:rPr lang="en-US" dirty="0"/>
              <a:t>ICMP 报文承载在 IP 数据报中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报文：类型、代码，以及导致错误的 IP 数据报前 8 字节</a:t>
            </a:r>
            <a:r>
              <a:rPr lang="en-US" i="1" dirty="0"/>
              <a:t/>
            </a:r>
            <a:r>
              <a:rPr lang="en-US" dirty="0"/>
              <a:t/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类型  代码  描述</a:t>
            </a:r>
            <a:r>
              <a:rPr lang="en-US" sz="1800" dirty="0"/>
              <a:t/>
            </a:r>
            <a:r>
              <a:rPr lang="en-US" sz="1800" u="sng" dirty="0"/>
              <a:t/>
            </a:r>
            <a:r>
              <a:rPr lang="en-US" sz="1800" dirty="0"/>
              <a:t/>
            </a:r>
            <a:r>
              <a:rPr lang="en-US" sz="1800" u="sng" dirty="0"/>
              <a:t/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0     dest. 网络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2     dest 协议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6     dest 网络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控制，未使用）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0     路由器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与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网络层：5-89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当 ICMP 报文到达源端时：记录 RTT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停止准则：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报文段最终到达目的主机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目的地主机返回 ICMP “端口不可达”报文（类型 3，代码 3）</a:t>
            </a:r>
            <a:r>
              <a:rPr lang="ja-JP" altLang="en-US" sz="2400"/>
              <a:t/>
            </a:r>
            <a:r>
              <a:rPr lang="en-US" altLang="ja-JP" sz="2400" dirty="0"/>
              <a:t/>
            </a:r>
            <a:r>
              <a:rPr lang="ja-JP" altLang="en-US" sz="2400"/>
              <a:t/>
            </a:r>
            <a:r>
              <a:rPr lang="en-US" altLang="ja-JP" sz="2400" dirty="0"/>
              <a:t/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源端停止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个探测分组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个探测分组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个探测分组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源端向目的地发送多组 UDP 报文段</a:t>
            </a:r>
          </a:p>
          <a:p>
            <a:pPr marL="565150" lvl="1" indent="-222250">
              <a:defRPr/>
            </a:pPr>
            <a:r>
              <a:rPr lang="en-US" dirty="0"/>
              <a:t>第 1 组 TTL=1，第 2 组 TTL=2，依此类推</a:t>
            </a:r>
            <a:r>
              <a:rPr lang="en-US" baseline="30000" dirty="0"/>
              <a:t/>
            </a:r>
            <a:r>
              <a:rPr lang="en-US" dirty="0"/>
              <a:t/>
            </a:r>
            <a:r>
              <a:rPr lang="en-US" baseline="30000" dirty="0"/>
              <a:t/>
            </a:r>
            <a:r>
              <a:rPr lang="en-US" dirty="0"/>
              <a:t/>
            </a:r>
          </a:p>
          <a:p>
            <a:pPr marL="282575" indent="-282575">
              <a:defRPr/>
            </a:pPr>
            <a:r>
              <a:rPr lang="en-US" dirty="0"/>
              <a:t>第 n 组中的数据报到达第 n 台路由器：</a:t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marL="523875" lvl="1" indent="-180975">
              <a:defRPr/>
            </a:pPr>
            <a:r>
              <a:rPr lang="en-US" dirty="0"/>
              <a:t>路由器丢弃数据报，并向源端发送 ICMP 报文（类型 11，代码 0）</a:t>
            </a:r>
          </a:p>
          <a:p>
            <a:pPr marL="523875" lvl="1" indent="-180975">
              <a:defRPr/>
            </a:pPr>
            <a:r>
              <a:rPr lang="en-US" dirty="0"/>
              <a:t>ICMP 报文可能包含路由器名称和 IP 地址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网络层：“控制平面”路线图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网络层：5-90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自治系统（也称“网络”）：数千个相互作用的硬件/软件组件</a:t>
            </a:r>
            <a:r>
              <a:rPr lang="en-US" sz="3200" dirty="0"/>
              <a:t/>
            </a:r>
          </a:p>
          <a:p>
            <a:pPr indent="-284163">
              <a:defRPr/>
            </a:pPr>
            <a:r>
              <a:rPr lang="en-US" sz="3200" dirty="0"/>
              <a:t>其他需要监测、配置和控制的复杂系统：</a:t>
            </a:r>
          </a:p>
          <a:p>
            <a:pPr lvl="1">
              <a:defRPr/>
            </a:pPr>
            <a:r>
              <a:rPr lang="en-US" sz="3000" dirty="0"/>
              <a:t>喷气式飞机、核电站，还有哪些？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什么是网络管理？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“网络管理包括硬件、软件和人员要素的部署、集成 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/>
              </a:r>
              <a:r>
                <a:rPr lang="en-US" sz="2000" dirty="0">
                  <a:latin typeface="Arial"/>
                  <a:cs typeface="Arial"/>
                </a:rPr>
                <a:t/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和协调，目的是监测、测试、轮询、配置、分析、评估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并控制网络及网元资源，以满足实时性、运行性能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和服务质量要求，并保持合理成本。”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实时性、运行性能和服务质量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要求，并保持合理成本。” </a:t>
              </a:r>
              <a:r>
                <a:rPr lang="en-US" dirty="0">
                  <a:latin typeface="Arial"/>
                  <a:cs typeface="Arial"/>
                </a:rPr>
                <a:t/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75" name="Clip" r:id="rId3" imgW="2870200" imgH="4089400" progId="MS_ClipArt_Gallery.2">
                    <p:embed/>
                  </p:oleObj>
                </mc:Choice>
                <mc:Fallback>
                  <p:oleObj name="Clip" r:id="rId3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网络管理组件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被管理设备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管理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服务器/控制器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管理服务器：应用，通常带有网络</a:t>
            </a:r>
            <a:r>
              <a:rPr lang="en-US" sz="2000" dirty="0"/>
              <a:t/>
            </a:r>
          </a:p>
          <a:p>
            <a:pPr>
              <a:lnSpc>
                <a:spcPct val="90000"/>
              </a:lnSpc>
            </a:pPr>
            <a:r>
              <a:rPr lang="en-US" sz="2000" dirty="0"/>
              <a:t>管理者（人）参与其中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网络管理协议：管理服务器用它查询、配置和管理设备；设备用它把数据和事件通知管理服务器。</a:t>
              </a:r>
              <a:r>
                <a:rPr lang="en-US" sz="2000" dirty="0"/>
                <a:t/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网络运营者的管理方法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被管理设备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被管理设备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管理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服务器/控制器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CLI（命令行接口） </a:t>
            </a:r>
            <a:r>
              <a:rPr lang="en-US" sz="2600" dirty="0"/>
              <a:t/>
            </a:r>
            <a:endParaRPr lang="en-US" sz="3000" dirty="0"/>
          </a:p>
          <a:p>
            <a:pPr lvl="1"/>
            <a:r>
              <a:rPr lang="en-US" sz="2200" dirty="0"/>
              <a:t>运营者直接向单个设备发出命令（输入、脚本等，例如通过 ssh）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运营者使用简单网络管理协议（SNMP）查询/设置设备数据（MIB）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更抽象、全网范围、更整体化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YANG：数据建模语言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协议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被管理设备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代理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管理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服务器/控制器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请求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响应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报文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传递 MIB 信息和命令的两种方式：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请求/响应模式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被管理设备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代理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数据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管理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服务器/控制器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数据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模式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协议：报文类型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管理器到代理：“给我数据”</a:t>
              </a:r>
              <a:r>
                <a:rPr lang="ja-JP" altLang="en-US" sz="2000">
                  <a:cs typeface="Arial"/>
                </a:rPr>
                <a:t/>
              </a:r>
              <a:r>
                <a:rPr lang="en-US" sz="2000" dirty="0">
                  <a:cs typeface="Arial"/>
                </a:rPr>
                <a:t/>
              </a:r>
              <a:r>
                <a:rPr lang="ja-JP" altLang="en-US" sz="2000">
                  <a:cs typeface="Arial"/>
                </a:rPr>
                <a:t/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（数据实例、列表中的下一项数据，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数据块）。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报文类型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功能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管理器到代理：设置 MIB 值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代理到管理器：数值，对请求的响应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代理到管理器：通知管理器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异常事件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协议：报文格式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请求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名称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值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名称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值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首部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要获取/设置的变量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报文类型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代理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地址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类型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专用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时间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戳记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名称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值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被管理设备的运行数据（以及部分配置数据）</a:t>
            </a:r>
          </a:p>
          <a:p>
            <a:pPr>
              <a:lnSpc>
                <a:spcPct val="100000"/>
              </a:lnSpc>
            </a:pPr>
            <a:r>
              <a:rPr lang="en-US" dirty="0"/>
              <a:t>汇集到设备 MIB 模块中</a:t>
            </a:r>
            <a:r>
              <a:rPr lang="en-US" dirty="0">
                <a:solidFill>
                  <a:srgbClr val="C00000"/>
                </a:solidFill>
              </a:rPr>
              <a:t/>
            </a:r>
          </a:p>
          <a:p>
            <a:pPr lvl="1">
              <a:lnSpc>
                <a:spcPct val="100000"/>
              </a:lnSpc>
            </a:pPr>
            <a:r>
              <a:rPr lang="en-US" dirty="0"/>
              <a:t>RFC 中定义了 400 个 MIB 模块；还有更多厂商特定 MIB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SNMP：管理信息库（MIB）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对象 ID           名称                      类型                  注释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</a:t>
              </a:r>
              <a:r>
                <a:rPr lang="en-US" altLang="en-US" dirty="0" err="1"/>
                <a:t>UDPInDatagrams</a:t>
              </a:r>
              <a:r>
                <a:rPr lang="en-US" altLang="en-US" dirty="0"/>
                <a:t>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</a:t>
              </a:r>
              <a:r>
                <a:rPr lang="en-US" altLang="en-US" dirty="0" err="1"/>
                <a:t>UDPNoPorts</a:t>
              </a:r>
              <a:r>
                <a:rPr lang="en-US" altLang="en-US" dirty="0"/>
                <a:t>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</a:t>
              </a:r>
              <a:r>
                <a:rPr lang="en-US" altLang="en-US" dirty="0" err="1"/>
                <a:t>UDInErrors</a:t>
              </a:r>
              <a:r>
                <a:rPr lang="en-US" altLang="en-US" dirty="0"/>
                <a:t>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</a:t>
              </a:r>
              <a:r>
                <a:rPr lang="en-US" altLang="en-US" dirty="0" err="1"/>
                <a:t>UDPOutDatagrams</a:t>
              </a:r>
              <a:r>
                <a:rPr lang="en-US" altLang="en-US" dirty="0"/>
                <a:t>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</a:t>
              </a:r>
              <a:r>
                <a:rPr lang="en-US" altLang="en-US" dirty="0" err="1"/>
                <a:t>udpTable</a:t>
              </a:r>
              <a:r>
                <a:rPr lang="en-US" altLang="en-US" dirty="0"/>
                <a:t>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代理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管理信息结构（SMI）：数据定义语言</a:t>
            </a:r>
            <a:r>
              <a:rPr lang="en-US" altLang="en-US" dirty="0"/>
              <a:t/>
            </a:r>
          </a:p>
          <a:p>
            <a:r>
              <a:rPr lang="en-US" altLang="en-US" dirty="0"/>
              <a:t>UDP 协议的示例 MIB 变量：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目标：在全网范围主动管理/配置设备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  <a:r>
              <a:rPr lang="en-US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</a:p>
          <a:p>
            <a:pPr indent="-284163"/>
            <a:r>
              <a:rPr lang="en-US" dirty="0"/>
              <a:t>运行在管理服务器与被管理网络设备之间</a:t>
            </a:r>
          </a:p>
          <a:p>
            <a:pPr lvl="1"/>
            <a:r>
              <a:rPr lang="en-US" sz="2800" dirty="0"/>
              <a:t>动作：获取、设置、修改、激活配置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跨多个设备的原子提交动作</a:t>
            </a:r>
            <a:r>
              <a:rPr lang="en-US" sz="2800" dirty="0"/>
              <a:t/>
            </a:r>
          </a:p>
          <a:p>
            <a:pPr lvl="1"/>
            <a:r>
              <a:rPr lang="en-US" sz="2800" dirty="0"/>
              <a:t>查询运行数据和统计信息</a:t>
            </a:r>
          </a:p>
          <a:p>
            <a:pPr lvl="1"/>
            <a:r>
              <a:rPr lang="en-US" sz="2800" dirty="0"/>
              <a:t>订阅来自设备的通知</a:t>
            </a:r>
          </a:p>
          <a:p>
            <a:pPr indent="-284163"/>
            <a:r>
              <a:rPr lang="en-US" dirty="0"/>
              <a:t>远程过程调用（RPC）范式</a:t>
            </a:r>
          </a:p>
          <a:p>
            <a:pPr lvl="1"/>
            <a:r>
              <a:rPr lang="en-US" dirty="0"/>
              <a:t>NETCONF 协议报文以 XML 编码</a:t>
            </a:r>
          </a:p>
          <a:p>
            <a:pPr lvl="1"/>
            <a:r>
              <a:rPr lang="en-US" dirty="0"/>
              <a:t>通过安全、可靠的传输协议（例如 TLS）交换</a:t>
            </a:r>
            <a:r>
              <a:rPr lang="en-US" sz="2000" dirty="0"/>
              <a:t/>
            </a:r>
            <a:r>
              <a:rPr lang="en-US" dirty="0"/>
              <a:t/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概览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初始化、交换与关闭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网络层：5-99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会话发起，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能力交换：&lt;hello&gt;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会话关闭：&lt;close-session&gt;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管理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服务器/控制器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代理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部分 NETCONF 操作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网络层：5-100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操作说明</a:t>
            </a:r>
          </a:p>
          <a:p>
            <a:pPr marL="2635250" indent="-2635250"/>
            <a:r>
              <a:rPr lang="en-US" sz="2400" dirty="0"/>
              <a:t>&lt;get-config&gt;                获取给定配置的全部或部分。一个设备可以有多个配置。 </a:t>
            </a:r>
            <a:r>
              <a:rPr lang="en-US" sz="2000" dirty="0"/>
              <a:t/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获取配置状态和运行状态数据的全部或部分。</a:t>
            </a:r>
            <a:r>
              <a:rPr lang="en-US" sz="2000" dirty="0"/>
              <a:t/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修改被管理设备上的指定配置（可能是运行中配置）。被管理设备的 &lt;rpc-reply&gt; 包含 &lt;ok&gt; 或带回滚的 &lt;rpcerror&gt;。</a:t>
            </a:r>
            <a:r>
              <a:rPr lang="en-US" sz="2000" dirty="0"/>
              <a:t/>
            </a:r>
            <a:r>
              <a:rPr lang="en-US" sz="2000" dirty="0" err="1"/>
              <a:t/>
            </a:r>
            <a:r>
              <a:rPr lang="en-US" sz="2000" dirty="0"/>
              <a:t/>
            </a:r>
            <a:r>
              <a:rPr lang="en-US" sz="2000" dirty="0" err="1"/>
              <a:t/>
            </a:r>
            <a:r>
              <a:rPr lang="en-US" sz="2000" dirty="0"/>
              <a:t/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&lt;lock&gt;、&lt;unlock&gt;        锁定（解锁）被管理设备上的配置数据存储（阻止来自其他来源的 NETCONF、SNMP 或 CLI 命令）。</a:t>
            </a:r>
            <a:r>
              <a:rPr lang="en-US" sz="2000" dirty="0"/>
              <a:t/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    启用来自被管理设备的事件通知订阅</a:t>
            </a:r>
            <a:r>
              <a:rPr lang="en-US" sz="2400" dirty="0"/>
              <a:t/>
            </a:r>
            <a:r>
              <a:rPr lang="en-US" sz="2000" dirty="0"/>
              <a:t/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RPC 报文示例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网络层：5-101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注意报文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修改运行中配置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把 Ethernet 0/0 接口的 MTU 改为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修改配置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用于指定 NETCONF 网络管理数据结构、语法和语义的数据建模语言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具有内置数据类型，类似 SMI</a:t>
            </a:r>
          </a:p>
          <a:p>
            <a:r>
              <a:rPr lang="en-US" dirty="0"/>
              <a:t>可由 YANG 描述生成描述设备和能力的 XML 文档</a:t>
            </a:r>
          </a:p>
          <a:p>
            <a:r>
              <a:rPr lang="en-US" dirty="0"/>
              <a:t>可以表达有效 NETCONF 配置必须满足的数据约束</a:t>
            </a:r>
          </a:p>
          <a:p>
            <a:pPr lvl="1"/>
            <a:r>
              <a:rPr lang="en-US" dirty="0"/>
              <a:t>确保 NETCONF 配置满足正确性和一致性约束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网络层：5-102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代理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管理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服务器/控制器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数据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 生成的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生成的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网络层：小结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/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网络层：5-103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我们学了很多！</a:t>
            </a:r>
            <a:endParaRPr lang="en-US" sz="3200" dirty="0"/>
          </a:p>
          <a:p>
            <a:pPr>
              <a:defRPr/>
            </a:pPr>
            <a:r>
              <a:rPr lang="en-US" dirty="0"/>
              <a:t>网络控制平面方法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逐路由器控制（传统方式）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逻辑集中式控制（软件定义网络）</a:t>
            </a:r>
            <a:endParaRPr lang="en-US" dirty="0"/>
          </a:p>
          <a:p>
            <a:pPr>
              <a:defRPr/>
            </a:pPr>
            <a:r>
              <a:rPr lang="en-US" dirty="0"/>
              <a:t>传统路由选择算法</a:t>
            </a:r>
          </a:p>
          <a:p>
            <a:pPr lvl="1">
              <a:defRPr/>
            </a:pPr>
            <a:r>
              <a:rPr lang="en-US" dirty="0"/>
              <a:t>在互联网中的实现：OSPF、BGP</a:t>
            </a:r>
          </a:p>
          <a:p>
            <a:pPr>
              <a:defRPr/>
            </a:pPr>
            <a:r>
              <a:rPr lang="en-US" dirty="0"/>
              <a:t>SDN 控制器</a:t>
            </a:r>
          </a:p>
          <a:p>
            <a:pPr lvl="1">
              <a:defRPr/>
            </a:pPr>
            <a:r>
              <a:rPr lang="en-US" dirty="0"/>
              <a:t>实际实现：ODL、ONOS</a:t>
            </a:r>
          </a:p>
          <a:p>
            <a:pPr>
              <a:defRPr/>
            </a:pPr>
            <a:r>
              <a:rPr lang="en-US" dirty="0"/>
              <a:t>互联网控制报文协议</a:t>
            </a:r>
          </a:p>
          <a:p>
            <a:pPr>
              <a:defRPr/>
            </a:pPr>
            <a:r>
              <a:rPr lang="en-US" dirty="0"/>
              <a:t>网络管理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下一站：链路层！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网络层，控制平面：完成！</a:t>
            </a:r>
            <a:r>
              <a:rPr lang="en-US" altLang="en-US" dirty="0">
                <a:cs typeface="Calibri" panose="020F0502020204030204" pitchFamily="34" charset="0"/>
              </a:rPr>
              <a:t/>
            </a:r>
            <a:r>
              <a:rPr lang="en-US" altLang="en-US" sz="4400" dirty="0">
                <a:cs typeface="Calibri" panose="020F0502020204030204" pitchFamily="34" charset="0"/>
              </a:rPr>
              <a:t/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/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网络管理、配置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路由选择协议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链路状态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距离向量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内部路由选择：OSPF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ISP 之间的路由选择：BGP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控制平面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互联网控制报文协议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网络层：5-104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第 5 章补充幻灯片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网络层：5-105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距离向量：另一个示例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网络层：5-106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距离向量：另一个示例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网络层：5-107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到……的代价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来自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来自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到……的代价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19418</TotalTime>
  <Words>10913</Words>
  <Application>Microsoft Macintosh PowerPoint</Application>
  <PresentationFormat>Widescreen</PresentationFormat>
  <Paragraphs>2768</Paragraphs>
  <Slides>107</Slides>
  <Notes>53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107</vt:i4>
      </vt:variant>
    </vt:vector>
  </HeadingPairs>
  <TitlesOfParts>
    <vt:vector size="120" baseType="lpstr"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Times New Roman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Inter-AS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Hot potato routing</vt:lpstr>
      <vt:lpstr>BGP: achieving policy via advertisements</vt:lpstr>
      <vt:lpstr>BGP: achieving policy via advertisements (more)</vt:lpstr>
      <vt:lpstr>BGP route selection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704</cp:revision>
  <dcterms:created xsi:type="dcterms:W3CDTF">2020-01-18T07:24:59Z</dcterms:created>
  <dcterms:modified xsi:type="dcterms:W3CDTF">2020-06-04T07:16:12Z</dcterms:modified>
</cp:coreProperties>
</file>