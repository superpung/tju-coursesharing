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tags/tag64.xml" ContentType="application/vnd.openxmlformats-officedocument.presentationml.tags+xml"/>
  <Override PartName="/ppt/notesSlides/notesSlide1.xml" ContentType="application/vnd.openxmlformats-officedocument.presentationml.notesSlide+xml"/>
  <Override PartName="/ppt/tags/tag65.xml" ContentType="application/vnd.openxmlformats-officedocument.presentationml.tags+xml"/>
  <Override PartName="/ppt/notesSlides/notesSlide2.xml" ContentType="application/vnd.openxmlformats-officedocument.presentationml.notesSlide+xml"/>
  <Override PartName="/ppt/tags/tag66.xml" ContentType="application/vnd.openxmlformats-officedocument.presentationml.tags+xml"/>
  <Override PartName="/ppt/notesSlides/notesSlide3.xml" ContentType="application/vnd.openxmlformats-officedocument.presentationml.notesSlide+xml"/>
  <Override PartName="/ppt/tags/tag67.xml" ContentType="application/vnd.openxmlformats-officedocument.presentationml.tags+xml"/>
  <Override PartName="/ppt/notesSlides/notesSlide4.xml" ContentType="application/vnd.openxmlformats-officedocument.presentationml.notesSlide+xml"/>
  <Override PartName="/ppt/tags/tag68.xml" ContentType="application/vnd.openxmlformats-officedocument.presentationml.tags+xml"/>
  <Override PartName="/ppt/notesSlides/notesSlide5.xml" ContentType="application/vnd.openxmlformats-officedocument.presentationml.notesSlide+xml"/>
  <Override PartName="/ppt/tags/tag69.xml" ContentType="application/vnd.openxmlformats-officedocument.presentationml.tags+xml"/>
  <Override PartName="/ppt/notesSlides/notesSlide6.xml" ContentType="application/vnd.openxmlformats-officedocument.presentationml.notesSlide+xml"/>
  <Override PartName="/ppt/tags/tag70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96" r:id="rId2"/>
    <p:sldId id="263" r:id="rId3"/>
    <p:sldId id="297" r:id="rId4"/>
    <p:sldId id="298" r:id="rId5"/>
    <p:sldId id="299" r:id="rId6"/>
    <p:sldId id="300" r:id="rId7"/>
    <p:sldId id="301" r:id="rId8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1" userDrawn="1">
          <p15:clr>
            <a:srgbClr val="A4A3A4"/>
          </p15:clr>
        </p15:guide>
        <p15:guide id="2" pos="386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D7A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588" y="57"/>
      </p:cViewPr>
      <p:guideLst>
        <p:guide orient="horz" pos="2291"/>
        <p:guide pos="386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我们将主要讲述如下几个部分，包括</a:t>
            </a:r>
            <a:r>
              <a:rPr lang="zh-CN" altLang="en-US" dirty="0"/>
              <a:t>回归任务，普通最小二乘以及他的六个必要的假设、还有解决不满足假设的</a:t>
            </a:r>
            <a:r>
              <a:rPr lang="zh-CN" altLang="en-US" dirty="0">
                <a:sym typeface="+mn-ea"/>
              </a:rPr>
              <a:t>一些模型和最后的总结</a:t>
            </a:r>
            <a:r>
              <a:rPr lang="zh-CN" altLang="en-US" dirty="0"/>
              <a:t>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80EA2-E28B-143D-BDEC-89BDB2DA9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C64FB65-6698-1921-E9F0-507EB52A9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409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DB65B-1194-0D3C-F98F-4FBE9FFE8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B9851D1-C857-455E-8774-EA4688D19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15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3807C-4612-280D-1CD5-CBCC4CE49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5EE8B1E-6135-C8B7-FFE2-1F735D288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812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A1F74-098C-AE57-A39E-056FBFE5B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D6BA741-C061-44F3-C2E2-E84AA2A7D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262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09F2A-A7A9-D3FF-E57D-F82683337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91892C0-DD6F-19F0-DB20-C02093C57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079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2025/12/2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zh-C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453A1CD-271E-45CF-AF0B-9DC1411594B8}" type="datetimeFigureOut">
              <a:rPr lang="zh-CN" altLang="en-US"/>
              <a:t>2025/12/2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E99EACB-CC34-4F72-BE1B-F423AC0DCF20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4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5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6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8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9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0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9275956" cy="844460"/>
          </a:xfrm>
        </p:spPr>
        <p:txBody>
          <a:bodyPr/>
          <a:lstStyle/>
          <a:p>
            <a:r>
              <a:rPr lang="zh-CN" altLang="en-US" dirty="0">
                <a:solidFill>
                  <a:srgbClr val="003D7A"/>
                </a:solidFill>
                <a:latin typeface="Times New Roman" panose="02020603050405020304"/>
              </a:rPr>
              <a:t>树莓派烧录</a:t>
            </a:r>
            <a:endParaRPr lang="zh-CN" altLang="en-US" b="1" dirty="0">
              <a:solidFill>
                <a:srgbClr val="003D7A"/>
              </a:solidFill>
              <a:latin typeface="Times New Roman" panose="020206030504050203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2192000" cy="20446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0" y="6653538"/>
            <a:ext cx="12192000" cy="20446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txBody>
          <a:bodyPr anchor="ctr"/>
          <a:lstStyle/>
          <a:p>
            <a:r>
              <a:rPr lang="en-US" sz="1400" b="1">
                <a:solidFill>
                  <a:schemeClr val="lt1"/>
                </a:solidFill>
                <a:latin typeface="Times New Roman" panose="02020603050405020304"/>
                <a:sym typeface="+mn-ea"/>
              </a:rPr>
              <a:t>                                                                                                            </a:t>
            </a:r>
            <a:endParaRPr lang="zh-CN" sz="1400" b="1">
              <a:solidFill>
                <a:schemeClr val="lt1"/>
              </a:solidFill>
              <a:latin typeface="Times New Roman" panose="02020603050405020304"/>
            </a:endParaRPr>
          </a:p>
        </p:txBody>
      </p:sp>
      <p:sp>
        <p:nvSpPr>
          <p:cNvPr id="27" name="Text Placeholder 3"/>
          <p:cNvSpPr txBox="1"/>
          <p:nvPr/>
        </p:nvSpPr>
        <p:spPr>
          <a:xfrm>
            <a:off x="838154" y="1321007"/>
            <a:ext cx="10854239" cy="4619296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685800" lvl="1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lvl="2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lvl="3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lvl="4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lvl="5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lvl="6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lvl="7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lvl="8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endParaRPr lang="zh-CN" altLang="en-SG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 descr="徽标&#10;&#10;描述已自动生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7246" y="365126"/>
            <a:ext cx="668215" cy="66821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BD531F2-8605-C22F-4CC6-28626166E81C}"/>
              </a:ext>
            </a:extLst>
          </p:cNvPr>
          <p:cNvSpPr txBox="1">
            <a:spLocks/>
          </p:cNvSpPr>
          <p:nvPr/>
        </p:nvSpPr>
        <p:spPr>
          <a:xfrm>
            <a:off x="838200" y="1436743"/>
            <a:ext cx="9275956" cy="84446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003D7A"/>
                </a:solidFill>
                <a:latin typeface="Times New Roman" panose="02020603050405020304"/>
              </a:rPr>
              <a:t>配置环境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5573FC8-EC53-2944-B65F-B8F69F5CDEEA}"/>
              </a:ext>
            </a:extLst>
          </p:cNvPr>
          <p:cNvSpPr txBox="1">
            <a:spLocks/>
          </p:cNvSpPr>
          <p:nvPr/>
        </p:nvSpPr>
        <p:spPr>
          <a:xfrm>
            <a:off x="838200" y="2519422"/>
            <a:ext cx="9275956" cy="84446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003D7A"/>
                </a:solidFill>
                <a:latin typeface="Times New Roman" panose="02020603050405020304"/>
              </a:rPr>
              <a:t>选择模型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4758866-BC37-5705-AF8C-10D1F952B8AC}"/>
              </a:ext>
            </a:extLst>
          </p:cNvPr>
          <p:cNvSpPr txBox="1">
            <a:spLocks/>
          </p:cNvSpPr>
          <p:nvPr/>
        </p:nvSpPr>
        <p:spPr>
          <a:xfrm>
            <a:off x="884767" y="3626125"/>
            <a:ext cx="9275956" cy="84446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003D7A"/>
                </a:solidFill>
                <a:latin typeface="Times New Roman" panose="02020603050405020304"/>
              </a:rPr>
              <a:t>训练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E39B169-BF85-AE86-B3F0-31A4952E0345}"/>
              </a:ext>
            </a:extLst>
          </p:cNvPr>
          <p:cNvSpPr txBox="1">
            <a:spLocks/>
          </p:cNvSpPr>
          <p:nvPr/>
        </p:nvSpPr>
        <p:spPr>
          <a:xfrm>
            <a:off x="884767" y="4857624"/>
            <a:ext cx="9275956" cy="84446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003D7A"/>
                </a:solidFill>
                <a:latin typeface="Times New Roman" panose="02020603050405020304"/>
              </a:rPr>
              <a:t>推理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194" y="437516"/>
            <a:ext cx="9425962" cy="844460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rgbClr val="003D7A"/>
                </a:solidFill>
                <a:latin typeface="Times New Roman" panose="02020603050405020304"/>
              </a:rPr>
              <a:t>模型</a:t>
            </a:r>
            <a:r>
              <a:rPr lang="en-US" altLang="zh-CN" sz="2800" dirty="0">
                <a:solidFill>
                  <a:srgbClr val="003D7A"/>
                </a:solidFill>
                <a:latin typeface="Times New Roman" panose="02020603050405020304"/>
              </a:rPr>
              <a:t>-</a:t>
            </a:r>
            <a:r>
              <a:rPr lang="zh-CN" altLang="en-US" sz="2800" dirty="0">
                <a:solidFill>
                  <a:srgbClr val="003D7A"/>
                </a:solidFill>
                <a:latin typeface="Times New Roman" panose="02020603050405020304"/>
              </a:rPr>
              <a:t>语音识别</a:t>
            </a:r>
            <a:endParaRPr lang="zh-CN" altLang="en-US" sz="2800" b="1" dirty="0">
              <a:solidFill>
                <a:srgbClr val="003D7A"/>
              </a:solidFill>
              <a:latin typeface="Times New Roman" panose="020206030504050203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2192000" cy="20446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pic>
        <p:nvPicPr>
          <p:cNvPr id="11" name="图片 10" descr="徽标&#10;&#10;描述已自动生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7246" y="365126"/>
            <a:ext cx="668215" cy="66821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749299" y="1281976"/>
            <a:ext cx="1105415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 sz="2000" dirty="0" err="1"/>
              <a:t>Wenet</a:t>
            </a:r>
            <a:endParaRPr lang="en-US" altLang="zh-CN" sz="2000" dirty="0"/>
          </a:p>
          <a:p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 sz="2000" dirty="0" err="1"/>
              <a:t>FunASR</a:t>
            </a:r>
            <a:r>
              <a:rPr lang="zh-CN" altLang="en-US" sz="2000" dirty="0"/>
              <a:t>：中文识别任务  轻量部署  有大量预训练模型</a:t>
            </a:r>
            <a:endParaRPr lang="en-US" altLang="zh-CN" sz="2000" dirty="0"/>
          </a:p>
          <a:p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 sz="2000" dirty="0"/>
              <a:t>Whisper</a:t>
            </a:r>
            <a:r>
              <a:rPr lang="zh-CN" altLang="en-US" sz="2000" dirty="0"/>
              <a:t>（</a:t>
            </a:r>
            <a:r>
              <a:rPr lang="en-US" altLang="zh-CN" sz="2000" dirty="0"/>
              <a:t>tiny/base</a:t>
            </a:r>
            <a:r>
              <a:rPr lang="zh-CN" altLang="en-US" sz="2000" dirty="0"/>
              <a:t>）：对噪声、口音、环境鲁棒  能处理多语  适合做跨语言实验  </a:t>
            </a:r>
            <a:endParaRPr lang="en-US" altLang="zh-CN" sz="2000" dirty="0"/>
          </a:p>
          <a:p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 sz="2000" dirty="0"/>
              <a:t>Wav2Vec2-base</a:t>
            </a:r>
            <a:r>
              <a:rPr lang="zh-CN" altLang="en-US" sz="2000" dirty="0"/>
              <a:t>：对 </a:t>
            </a:r>
            <a:r>
              <a:rPr lang="en-US" altLang="zh-CN" sz="2000" dirty="0"/>
              <a:t>ASR </a:t>
            </a:r>
            <a:r>
              <a:rPr lang="zh-CN" altLang="en-US" sz="2000" dirty="0"/>
              <a:t>很强  用的数据多  模型成熟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5"/>
          <p:cNvSpPr/>
          <p:nvPr>
            <p:custDataLst>
              <p:tags r:id="rId1"/>
            </p:custDataLst>
          </p:nvPr>
        </p:nvSpPr>
        <p:spPr>
          <a:xfrm>
            <a:off x="0" y="6653538"/>
            <a:ext cx="12192000" cy="20446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txBody>
          <a:bodyPr anchor="ctr"/>
          <a:lstStyle/>
          <a:p>
            <a:r>
              <a:rPr lang="en-US" sz="1400" b="1">
                <a:solidFill>
                  <a:schemeClr val="lt1"/>
                </a:solidFill>
                <a:latin typeface="Times New Roman" panose="02020603050405020304"/>
                <a:sym typeface="+mn-ea"/>
              </a:rPr>
              <a:t>                                                                                                            </a:t>
            </a:r>
            <a:endParaRPr lang="zh-CN" sz="1400" b="1">
              <a:solidFill>
                <a:schemeClr val="lt1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957E3-8A48-E5AB-0433-57F9C97C2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1EDA0-2DAB-89C4-361A-339D46CA2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94" y="437516"/>
            <a:ext cx="9425962" cy="844460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rgbClr val="003D7A"/>
                </a:solidFill>
                <a:latin typeface="Times New Roman" panose="02020603050405020304"/>
              </a:rPr>
              <a:t>模型</a:t>
            </a:r>
            <a:r>
              <a:rPr lang="en-US" altLang="zh-CN" sz="2800" dirty="0">
                <a:solidFill>
                  <a:srgbClr val="003D7A"/>
                </a:solidFill>
                <a:latin typeface="Times New Roman" panose="02020603050405020304"/>
              </a:rPr>
              <a:t>-</a:t>
            </a:r>
            <a:r>
              <a:rPr lang="zh-CN" altLang="en-US" sz="2800" dirty="0">
                <a:solidFill>
                  <a:srgbClr val="003D7A"/>
                </a:solidFill>
                <a:latin typeface="Times New Roman" panose="02020603050405020304"/>
              </a:rPr>
              <a:t>情感识别</a:t>
            </a:r>
            <a:endParaRPr lang="zh-CN" altLang="en-US" sz="2800" b="1" dirty="0">
              <a:solidFill>
                <a:srgbClr val="003D7A"/>
              </a:solidFill>
              <a:latin typeface="Times New Roman" panose="020206030504050203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1C3893-6649-CDB7-EC57-B59802F95945}"/>
              </a:ext>
            </a:extLst>
          </p:cNvPr>
          <p:cNvSpPr/>
          <p:nvPr/>
        </p:nvSpPr>
        <p:spPr>
          <a:xfrm>
            <a:off x="0" y="1"/>
            <a:ext cx="12192000" cy="20446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pic>
        <p:nvPicPr>
          <p:cNvPr id="11" name="图片 10" descr="徽标&#10;&#10;描述已自动生成">
            <a:extLst>
              <a:ext uri="{FF2B5EF4-FFF2-40B4-BE49-F238E27FC236}">
                <a16:creationId xmlns:a16="http://schemas.microsoft.com/office/drawing/2014/main" id="{3E082315-2156-33A4-FD87-CDE16736E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7246" y="365126"/>
            <a:ext cx="668215" cy="66821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8EEE2543-6893-5908-D971-5DF6B906354F}"/>
              </a:ext>
            </a:extLst>
          </p:cNvPr>
          <p:cNvSpPr txBox="1"/>
          <p:nvPr/>
        </p:nvSpPr>
        <p:spPr>
          <a:xfrm>
            <a:off x="749299" y="1281976"/>
            <a:ext cx="1105415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 sz="2000" dirty="0" err="1"/>
              <a:t>HuBERT</a:t>
            </a:r>
            <a:r>
              <a:rPr lang="en-US" altLang="zh-CN" sz="2000" dirty="0"/>
              <a:t>-base</a:t>
            </a:r>
            <a:r>
              <a:rPr lang="zh-CN" altLang="en-US" sz="2000" dirty="0"/>
              <a:t>：对声音分类、情感识别、说话风格更优秀  较为稳定</a:t>
            </a:r>
            <a:endParaRPr lang="en-US" altLang="zh-CN" sz="2000" dirty="0"/>
          </a:p>
          <a:p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 sz="2000" dirty="0"/>
              <a:t>superb/wav2vec2-base-superb-er </a:t>
            </a:r>
            <a:r>
              <a:rPr lang="zh-CN" altLang="en-US" sz="2000" dirty="0"/>
              <a:t>：基于 </a:t>
            </a:r>
            <a:r>
              <a:rPr lang="en-US" altLang="zh-CN" sz="2000" dirty="0"/>
              <a:t>Wav2Vec2-base </a:t>
            </a:r>
            <a:r>
              <a:rPr lang="zh-CN" altLang="en-US" sz="2000" dirty="0"/>
              <a:t>微调</a:t>
            </a:r>
            <a:endParaRPr lang="en-US" altLang="zh-CN" sz="2000" dirty="0"/>
          </a:p>
          <a:p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 sz="2000" dirty="0"/>
              <a:t>E-CNN </a:t>
            </a:r>
            <a:r>
              <a:rPr lang="zh-CN" altLang="en-US" sz="2000" dirty="0"/>
              <a:t>：小型卷积网络  边缘部署</a:t>
            </a:r>
            <a:endParaRPr lang="en-US" altLang="zh-CN" sz="2000" dirty="0"/>
          </a:p>
          <a:p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4A6CEE91-AC9A-98A1-F01C-332B0029C66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6653538"/>
            <a:ext cx="12192000" cy="20446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txBody>
          <a:bodyPr anchor="ctr"/>
          <a:lstStyle/>
          <a:p>
            <a:r>
              <a:rPr lang="en-US" sz="1400" b="1">
                <a:solidFill>
                  <a:schemeClr val="lt1"/>
                </a:solidFill>
                <a:latin typeface="Times New Roman" panose="02020603050405020304"/>
                <a:sym typeface="+mn-ea"/>
              </a:rPr>
              <a:t>                                                                                                            </a:t>
            </a:r>
            <a:endParaRPr lang="zh-CN" sz="1400" b="1">
              <a:solidFill>
                <a:schemeClr val="lt1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360549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69B24-F482-7345-8FD9-D9B06C8E4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FDDC2-E08D-FA38-242B-079055520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94" y="437516"/>
            <a:ext cx="9425962" cy="844460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rgbClr val="003D7A"/>
                </a:solidFill>
                <a:latin typeface="Times New Roman" panose="02020603050405020304"/>
              </a:rPr>
              <a:t>模型</a:t>
            </a:r>
            <a:r>
              <a:rPr lang="en-US" altLang="zh-CN" sz="2800" dirty="0">
                <a:solidFill>
                  <a:srgbClr val="003D7A"/>
                </a:solidFill>
                <a:latin typeface="Times New Roman" panose="02020603050405020304"/>
              </a:rPr>
              <a:t>-</a:t>
            </a:r>
            <a:r>
              <a:rPr lang="zh-CN" altLang="en-US" sz="2800" dirty="0">
                <a:solidFill>
                  <a:srgbClr val="003D7A"/>
                </a:solidFill>
                <a:latin typeface="Times New Roman" panose="02020603050405020304"/>
              </a:rPr>
              <a:t>声纹识别</a:t>
            </a:r>
            <a:endParaRPr lang="zh-CN" altLang="en-US" sz="2800" b="1" dirty="0">
              <a:solidFill>
                <a:srgbClr val="003D7A"/>
              </a:solidFill>
              <a:latin typeface="Times New Roman" panose="020206030504050203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A3369A-408F-69B2-7AC4-18C107BFE6E5}"/>
              </a:ext>
            </a:extLst>
          </p:cNvPr>
          <p:cNvSpPr/>
          <p:nvPr/>
        </p:nvSpPr>
        <p:spPr>
          <a:xfrm>
            <a:off x="0" y="1"/>
            <a:ext cx="12192000" cy="20446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pic>
        <p:nvPicPr>
          <p:cNvPr id="11" name="图片 10" descr="徽标&#10;&#10;描述已自动生成">
            <a:extLst>
              <a:ext uri="{FF2B5EF4-FFF2-40B4-BE49-F238E27FC236}">
                <a16:creationId xmlns:a16="http://schemas.microsoft.com/office/drawing/2014/main" id="{04FA3767-60F8-2871-91C3-EABA9CCDE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7246" y="365126"/>
            <a:ext cx="668215" cy="66821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32BCE71-0AF5-3B1B-23DD-F7E21DFEF49C}"/>
              </a:ext>
            </a:extLst>
          </p:cNvPr>
          <p:cNvSpPr txBox="1"/>
          <p:nvPr/>
        </p:nvSpPr>
        <p:spPr>
          <a:xfrm>
            <a:off x="749299" y="1281976"/>
            <a:ext cx="1105415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 sz="2000" dirty="0"/>
              <a:t>ECAPA-TDNN</a:t>
            </a:r>
            <a:r>
              <a:rPr lang="zh-CN" altLang="en-US" sz="2000" dirty="0"/>
              <a:t>：推理速度快  精度高  </a:t>
            </a:r>
            <a:r>
              <a:rPr lang="en-US" altLang="zh-CN" sz="2000" dirty="0"/>
              <a:t>20~30M</a:t>
            </a:r>
          </a:p>
          <a:p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 sz="2000" dirty="0"/>
              <a:t>x-vector </a:t>
            </a:r>
            <a:r>
              <a:rPr lang="zh-CN" altLang="en-US" sz="2000" dirty="0"/>
              <a:t>：</a:t>
            </a:r>
            <a:r>
              <a:rPr lang="en-US" altLang="zh-CN" sz="2000" dirty="0"/>
              <a:t>7M–15M  </a:t>
            </a:r>
            <a:r>
              <a:rPr lang="zh-CN" altLang="en-US" sz="2000" dirty="0"/>
              <a:t>特征提取速度非常快</a:t>
            </a:r>
            <a:endParaRPr lang="en-US" altLang="zh-CN" sz="2000" dirty="0"/>
          </a:p>
          <a:p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 sz="2000" dirty="0" err="1"/>
              <a:t>Wespeaker</a:t>
            </a:r>
            <a:r>
              <a:rPr lang="en-US" altLang="zh-CN" sz="2000" dirty="0"/>
              <a:t> Mini</a:t>
            </a:r>
            <a:r>
              <a:rPr lang="zh-CN" altLang="en-US" sz="2000" dirty="0"/>
              <a:t>系列：边缘设备设计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034DD790-3451-1346-CDAE-A38806C9F36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6653538"/>
            <a:ext cx="12192000" cy="20446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txBody>
          <a:bodyPr anchor="ctr"/>
          <a:lstStyle/>
          <a:p>
            <a:r>
              <a:rPr lang="en-US" sz="1400" b="1">
                <a:solidFill>
                  <a:schemeClr val="lt1"/>
                </a:solidFill>
                <a:latin typeface="Times New Roman" panose="02020603050405020304"/>
                <a:sym typeface="+mn-ea"/>
              </a:rPr>
              <a:t>                                                                                                            </a:t>
            </a:r>
            <a:endParaRPr lang="zh-CN" sz="1400" b="1">
              <a:solidFill>
                <a:schemeClr val="lt1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686823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3D2F1-C974-5C3C-2540-D0328D2B4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CD4E0-BDEF-EDC7-1BC2-FDA22E3A6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94" y="437516"/>
            <a:ext cx="9425962" cy="844460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rgbClr val="003D7A"/>
                </a:solidFill>
                <a:latin typeface="Times New Roman" panose="02020603050405020304"/>
              </a:rPr>
              <a:t>模型</a:t>
            </a:r>
            <a:r>
              <a:rPr lang="en-US" altLang="zh-CN" sz="2800" dirty="0">
                <a:solidFill>
                  <a:srgbClr val="003D7A"/>
                </a:solidFill>
                <a:latin typeface="Times New Roman" panose="02020603050405020304"/>
              </a:rPr>
              <a:t>-</a:t>
            </a:r>
            <a:r>
              <a:rPr lang="zh-CN" altLang="en-US" sz="2800" dirty="0">
                <a:solidFill>
                  <a:srgbClr val="003D7A"/>
                </a:solidFill>
                <a:latin typeface="Times New Roman" panose="02020603050405020304"/>
              </a:rPr>
              <a:t>语音感知</a:t>
            </a:r>
            <a:endParaRPr lang="zh-CN" altLang="en-US" sz="2800" b="1" dirty="0">
              <a:solidFill>
                <a:srgbClr val="003D7A"/>
              </a:solidFill>
              <a:latin typeface="Times New Roman" panose="020206030504050203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E4BCAA-AFF7-5526-A261-E8AECDA00986}"/>
              </a:ext>
            </a:extLst>
          </p:cNvPr>
          <p:cNvSpPr/>
          <p:nvPr/>
        </p:nvSpPr>
        <p:spPr>
          <a:xfrm>
            <a:off x="0" y="1"/>
            <a:ext cx="12192000" cy="20446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pic>
        <p:nvPicPr>
          <p:cNvPr id="11" name="图片 10" descr="徽标&#10;&#10;描述已自动生成">
            <a:extLst>
              <a:ext uri="{FF2B5EF4-FFF2-40B4-BE49-F238E27FC236}">
                <a16:creationId xmlns:a16="http://schemas.microsoft.com/office/drawing/2014/main" id="{BF8B94B2-EFA8-7932-385C-665F311B1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7246" y="365126"/>
            <a:ext cx="668215" cy="66821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3060F1BE-54A5-B962-1BFC-44B73A8721B4}"/>
              </a:ext>
            </a:extLst>
          </p:cNvPr>
          <p:cNvSpPr txBox="1"/>
          <p:nvPr/>
        </p:nvSpPr>
        <p:spPr>
          <a:xfrm>
            <a:off x="749299" y="1281976"/>
            <a:ext cx="1105415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 sz="2000" dirty="0"/>
              <a:t>Audio Spectrogram Transformer (AST)</a:t>
            </a:r>
          </a:p>
          <a:p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 sz="2000" dirty="0"/>
              <a:t>PANNs</a:t>
            </a:r>
          </a:p>
          <a:p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 sz="2000" dirty="0"/>
              <a:t>CLAP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7CFBE524-E3B9-865B-243A-255E6D6212E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6653538"/>
            <a:ext cx="12192000" cy="20446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txBody>
          <a:bodyPr anchor="ctr"/>
          <a:lstStyle/>
          <a:p>
            <a:r>
              <a:rPr lang="en-US" sz="1400" b="1">
                <a:solidFill>
                  <a:schemeClr val="lt1"/>
                </a:solidFill>
                <a:latin typeface="Times New Roman" panose="02020603050405020304"/>
                <a:sym typeface="+mn-ea"/>
              </a:rPr>
              <a:t>                                                                                                            </a:t>
            </a:r>
            <a:endParaRPr lang="zh-CN" sz="1400" b="1">
              <a:solidFill>
                <a:schemeClr val="lt1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409246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9EA6F-257D-B477-1A5A-06E599A8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008F9-02F3-A0ED-51DD-6C726CC81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94" y="437516"/>
            <a:ext cx="9425962" cy="844460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rgbClr val="003D7A"/>
                </a:solidFill>
                <a:latin typeface="Times New Roman" panose="02020603050405020304"/>
              </a:rPr>
              <a:t>模型</a:t>
            </a:r>
            <a:r>
              <a:rPr lang="en-US" altLang="zh-CN" sz="2800" dirty="0">
                <a:solidFill>
                  <a:srgbClr val="003D7A"/>
                </a:solidFill>
                <a:latin typeface="Times New Roman" panose="02020603050405020304"/>
              </a:rPr>
              <a:t>-</a:t>
            </a:r>
            <a:r>
              <a:rPr lang="zh-CN" altLang="en-US" sz="2800" dirty="0">
                <a:solidFill>
                  <a:srgbClr val="003D7A"/>
                </a:solidFill>
                <a:latin typeface="Times New Roman" panose="02020603050405020304"/>
              </a:rPr>
              <a:t>自然语言处理</a:t>
            </a:r>
            <a:endParaRPr lang="zh-CN" altLang="en-US" sz="2800" b="1" dirty="0">
              <a:solidFill>
                <a:srgbClr val="003D7A"/>
              </a:solidFill>
              <a:latin typeface="Times New Roman" panose="020206030504050203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74D9E5-D853-C17B-A1C7-0C509C4AB8DF}"/>
              </a:ext>
            </a:extLst>
          </p:cNvPr>
          <p:cNvSpPr/>
          <p:nvPr/>
        </p:nvSpPr>
        <p:spPr>
          <a:xfrm>
            <a:off x="0" y="1"/>
            <a:ext cx="12192000" cy="20446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pic>
        <p:nvPicPr>
          <p:cNvPr id="11" name="图片 10" descr="徽标&#10;&#10;描述已自动生成">
            <a:extLst>
              <a:ext uri="{FF2B5EF4-FFF2-40B4-BE49-F238E27FC236}">
                <a16:creationId xmlns:a16="http://schemas.microsoft.com/office/drawing/2014/main" id="{8CF15F83-D8FC-9C4D-031F-CA45D285E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7246" y="365126"/>
            <a:ext cx="668215" cy="66821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E03BE010-FCB0-CCDB-B595-4CB73C9D9A80}"/>
              </a:ext>
            </a:extLst>
          </p:cNvPr>
          <p:cNvSpPr txBox="1"/>
          <p:nvPr/>
        </p:nvSpPr>
        <p:spPr>
          <a:xfrm>
            <a:off x="749299" y="1281976"/>
            <a:ext cx="11054155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 sz="2000" dirty="0"/>
              <a:t>DistilGPT2 </a:t>
            </a:r>
            <a:r>
              <a:rPr lang="zh-CN" altLang="en-US" sz="2000" dirty="0"/>
              <a:t>：</a:t>
            </a:r>
            <a:r>
              <a:rPr lang="en-US" altLang="zh-CN" sz="2000" dirty="0"/>
              <a:t>GPT-2 </a:t>
            </a:r>
            <a:r>
              <a:rPr lang="zh-CN" altLang="en-US" sz="2000" dirty="0"/>
              <a:t>的压缩蒸馏版  适合最简单的生成任务</a:t>
            </a:r>
            <a:endParaRPr lang="en-US" altLang="zh-CN" sz="2000" dirty="0"/>
          </a:p>
          <a:p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 sz="2000" dirty="0"/>
              <a:t>GPT2-Chinese </a:t>
            </a:r>
            <a:r>
              <a:rPr lang="zh-CN" altLang="en-US" sz="2000" dirty="0"/>
              <a:t>：中文 </a:t>
            </a:r>
            <a:r>
              <a:rPr lang="en-US" altLang="zh-CN" sz="2000" dirty="0"/>
              <a:t>GPT2 </a:t>
            </a:r>
            <a:r>
              <a:rPr lang="zh-CN" altLang="en-US" sz="2000" dirty="0"/>
              <a:t>训练的较小版本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 sz="2000" dirty="0" err="1"/>
              <a:t>TinyStories</a:t>
            </a:r>
            <a:r>
              <a:rPr lang="zh-CN" altLang="en-US" sz="2000" dirty="0"/>
              <a:t> ：层数少</a:t>
            </a:r>
            <a:endParaRPr lang="en-US" altLang="zh-CN" sz="2000" dirty="0"/>
          </a:p>
          <a:p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 sz="2000" dirty="0"/>
              <a:t>ALBERT-tiny/small</a:t>
            </a:r>
            <a:r>
              <a:rPr lang="zh-CN" altLang="en-US" sz="2000" dirty="0"/>
              <a:t> ：</a:t>
            </a:r>
            <a:r>
              <a:rPr lang="en-US" altLang="zh-CN" sz="2000" dirty="0"/>
              <a:t>&lt;10M  </a:t>
            </a:r>
            <a:r>
              <a:rPr lang="zh-CN" altLang="en-US" sz="2000" dirty="0"/>
              <a:t>中文表现好  </a:t>
            </a:r>
            <a:endParaRPr lang="en-US" altLang="zh-CN" sz="2000" dirty="0"/>
          </a:p>
          <a:p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 sz="2000" dirty="0"/>
              <a:t>Qwen</a:t>
            </a:r>
          </a:p>
          <a:p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 sz="2000" dirty="0" err="1"/>
              <a:t>Baichuan</a:t>
            </a:r>
            <a:r>
              <a:rPr lang="zh-CN" altLang="en-US" sz="2000" dirty="0"/>
              <a:t>：中文表现较强  逻辑性好</a:t>
            </a:r>
            <a:endParaRPr lang="en-US" altLang="zh-CN" sz="2000" dirty="0"/>
          </a:p>
          <a:p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 sz="2000" dirty="0" err="1"/>
              <a:t>LLaMA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1C4CDA31-E368-118F-25BA-CB5990A360D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6653538"/>
            <a:ext cx="12192000" cy="20446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txBody>
          <a:bodyPr anchor="ctr"/>
          <a:lstStyle/>
          <a:p>
            <a:r>
              <a:rPr lang="en-US" sz="1400" b="1">
                <a:solidFill>
                  <a:schemeClr val="lt1"/>
                </a:solidFill>
                <a:latin typeface="Times New Roman" panose="02020603050405020304"/>
                <a:sym typeface="+mn-ea"/>
              </a:rPr>
              <a:t>                                                                                                            </a:t>
            </a:r>
            <a:endParaRPr lang="zh-CN" sz="1400" b="1">
              <a:solidFill>
                <a:schemeClr val="lt1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999698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4568F-2068-4C20-B564-49CB9EB0E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18EB4-55FD-45DD-33D9-D6192CC3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94" y="437516"/>
            <a:ext cx="9425962" cy="844460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rgbClr val="003D7A"/>
                </a:solidFill>
                <a:latin typeface="Times New Roman" panose="02020603050405020304"/>
              </a:rPr>
              <a:t>模型</a:t>
            </a:r>
            <a:r>
              <a:rPr lang="en-US" altLang="zh-CN" sz="2800" dirty="0">
                <a:solidFill>
                  <a:srgbClr val="003D7A"/>
                </a:solidFill>
                <a:latin typeface="Times New Roman" panose="02020603050405020304"/>
              </a:rPr>
              <a:t>-</a:t>
            </a:r>
            <a:r>
              <a:rPr lang="zh-CN" altLang="en-US" sz="2800" dirty="0">
                <a:solidFill>
                  <a:srgbClr val="003D7A"/>
                </a:solidFill>
                <a:latin typeface="Times New Roman" panose="02020603050405020304"/>
              </a:rPr>
              <a:t>语音合成</a:t>
            </a:r>
            <a:endParaRPr lang="zh-CN" altLang="en-US" sz="2800" b="1" dirty="0">
              <a:solidFill>
                <a:srgbClr val="003D7A"/>
              </a:solidFill>
              <a:latin typeface="Times New Roman" panose="020206030504050203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4CBA82-51F6-BF46-ABA6-ECCB990625AD}"/>
              </a:ext>
            </a:extLst>
          </p:cNvPr>
          <p:cNvSpPr/>
          <p:nvPr/>
        </p:nvSpPr>
        <p:spPr>
          <a:xfrm>
            <a:off x="0" y="1"/>
            <a:ext cx="12192000" cy="20446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pic>
        <p:nvPicPr>
          <p:cNvPr id="11" name="图片 10" descr="徽标&#10;&#10;描述已自动生成">
            <a:extLst>
              <a:ext uri="{FF2B5EF4-FFF2-40B4-BE49-F238E27FC236}">
                <a16:creationId xmlns:a16="http://schemas.microsoft.com/office/drawing/2014/main" id="{377EA6ED-913C-91E4-EFC8-851CB064E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7246" y="365126"/>
            <a:ext cx="668215" cy="66821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0A617B1-2373-4809-AED2-5348E49A61CF}"/>
              </a:ext>
            </a:extLst>
          </p:cNvPr>
          <p:cNvSpPr txBox="1"/>
          <p:nvPr/>
        </p:nvSpPr>
        <p:spPr>
          <a:xfrm>
            <a:off x="749299" y="1281976"/>
            <a:ext cx="11054155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 sz="2000" dirty="0"/>
              <a:t>Tacotron2</a:t>
            </a:r>
            <a:r>
              <a:rPr lang="zh-CN" altLang="en-US" sz="2000" dirty="0"/>
              <a:t>（</a:t>
            </a:r>
            <a:r>
              <a:rPr lang="en-US" altLang="zh-CN" sz="2000" dirty="0"/>
              <a:t>T2</a:t>
            </a:r>
            <a:r>
              <a:rPr lang="zh-CN" altLang="en-US" sz="2000" dirty="0"/>
              <a:t>）：高校 </a:t>
            </a:r>
            <a:r>
              <a:rPr lang="en-US" altLang="zh-CN" sz="2000" dirty="0"/>
              <a:t>TTS </a:t>
            </a:r>
            <a:r>
              <a:rPr lang="zh-CN" altLang="en-US" sz="2000" dirty="0"/>
              <a:t>课程中使用率超高的入门模型</a:t>
            </a:r>
            <a:endParaRPr lang="en-US" altLang="zh-CN" sz="2000" dirty="0"/>
          </a:p>
          <a:p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 sz="2000" dirty="0"/>
              <a:t>FastSpeech2 </a:t>
            </a:r>
            <a:r>
              <a:rPr lang="zh-CN" altLang="en-US" sz="2000" dirty="0"/>
              <a:t>：</a:t>
            </a:r>
            <a:r>
              <a:rPr lang="en-US" altLang="zh-CN" sz="2000" dirty="0"/>
              <a:t>50–100MB  </a:t>
            </a:r>
            <a:r>
              <a:rPr lang="zh-CN" altLang="en-US" sz="2000" dirty="0"/>
              <a:t>多语种支持</a:t>
            </a:r>
            <a:endParaRPr lang="en-US" altLang="zh-CN" sz="2000" dirty="0"/>
          </a:p>
          <a:p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 sz="2000" dirty="0"/>
              <a:t>VITS/VITS2</a:t>
            </a:r>
          </a:p>
          <a:p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 sz="2000" dirty="0" err="1"/>
              <a:t>CosyVoice</a:t>
            </a:r>
            <a:r>
              <a:rPr lang="en-US" altLang="zh-CN" sz="2000" dirty="0"/>
              <a:t>-mini:</a:t>
            </a:r>
            <a:r>
              <a:rPr lang="zh-CN" altLang="en-US" sz="2000" dirty="0"/>
              <a:t>阿里百炼  小型端到端  中文表现极佳</a:t>
            </a:r>
            <a:endParaRPr lang="en-US" altLang="zh-CN" sz="2000" dirty="0"/>
          </a:p>
          <a:p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 sz="2000" dirty="0"/>
              <a:t>GPT-</a:t>
            </a:r>
            <a:r>
              <a:rPr lang="en-US" altLang="zh-CN" sz="2000" dirty="0" err="1"/>
              <a:t>SoVITS</a:t>
            </a:r>
            <a:endParaRPr lang="en-US" altLang="zh-CN" sz="2000" dirty="0"/>
          </a:p>
          <a:p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 sz="2000" dirty="0"/>
              <a:t>XTTS v2 / v3</a:t>
            </a:r>
          </a:p>
          <a:p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 sz="2000" dirty="0"/>
              <a:t>Bark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9A8AF945-2945-DA96-908B-56E9D4A5E00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6653538"/>
            <a:ext cx="12192000" cy="20446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txBody>
          <a:bodyPr anchor="ctr"/>
          <a:lstStyle/>
          <a:p>
            <a:r>
              <a:rPr lang="en-US" sz="1400" b="1">
                <a:solidFill>
                  <a:schemeClr val="lt1"/>
                </a:solidFill>
                <a:latin typeface="Times New Roman" panose="02020603050405020304"/>
                <a:sym typeface="+mn-ea"/>
              </a:rPr>
              <a:t>                                                                                                            </a:t>
            </a:r>
            <a:endParaRPr lang="zh-CN" sz="1400" b="1">
              <a:solidFill>
                <a:schemeClr val="lt1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4551141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11c9dcf-a6eb-43a5-8dbe-d65025b2000b"/>
  <p:tag name="COMMONDATA" val="eyJoZGlkIjoiYTY3NjRhYTExMGNhZjIxZDkxYTNmZGRhNTNjNmEzZj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301</Words>
  <Application>Microsoft Office PowerPoint</Application>
  <PresentationFormat>宽屏</PresentationFormat>
  <Paragraphs>67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微软雅黑</vt:lpstr>
      <vt:lpstr>Arial</vt:lpstr>
      <vt:lpstr>Calibri</vt:lpstr>
      <vt:lpstr>Times New Roman</vt:lpstr>
      <vt:lpstr>Wingdings</vt:lpstr>
      <vt:lpstr>WPS</vt:lpstr>
      <vt:lpstr>树莓派烧录</vt:lpstr>
      <vt:lpstr>模型-语音识别</vt:lpstr>
      <vt:lpstr>模型-情感识别</vt:lpstr>
      <vt:lpstr>模型-声纹识别</vt:lpstr>
      <vt:lpstr>模型-语音感知</vt:lpstr>
      <vt:lpstr>模型-自然语言处理</vt:lpstr>
      <vt:lpstr>模型-语音合成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msleizhu</dc:creator>
  <cp:lastModifiedBy>T167115</cp:lastModifiedBy>
  <cp:revision>181</cp:revision>
  <dcterms:created xsi:type="dcterms:W3CDTF">2019-06-19T02:08:00Z</dcterms:created>
  <dcterms:modified xsi:type="dcterms:W3CDTF">2025-12-02T11:10:50Z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6F7871D83C2C4FA2A7BFDBB553290FEF_12</vt:lpwstr>
  </property>
</Properties>
</file>