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9" r:id="rId3"/>
  </p:sldMasterIdLst>
  <p:notesMasterIdLst>
    <p:notesMasterId r:id="rId13"/>
  </p:notesMasterIdLst>
  <p:handoutMasterIdLst>
    <p:handoutMasterId r:id="rId14"/>
  </p:handoutMasterIdLst>
  <p:sldIdLst>
    <p:sldId id="1162" r:id="rId4"/>
    <p:sldId id="1335" r:id="rId5"/>
    <p:sldId id="1336" r:id="rId6"/>
    <p:sldId id="1337" r:id="rId7"/>
    <p:sldId id="1338" r:id="rId8"/>
    <p:sldId id="1339" r:id="rId9"/>
    <p:sldId id="1340" r:id="rId10"/>
    <p:sldId id="1341" r:id="rId11"/>
    <p:sldId id="485" r:id="rId12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F"/>
    <a:srgbClr val="65A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6" autoAdjust="0"/>
    <p:restoredTop sz="94842" autoAdjust="0"/>
  </p:normalViewPr>
  <p:slideViewPr>
    <p:cSldViewPr showGuides="1">
      <p:cViewPr varScale="1">
        <p:scale>
          <a:sx n="77" d="100"/>
          <a:sy n="77" d="100"/>
        </p:scale>
        <p:origin x="576" y="90"/>
      </p:cViewPr>
      <p:guideLst>
        <p:guide orient="horz" pos="212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2CEC2E6-D5D4-480F-95D5-0A10AEB3450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36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1028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136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36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507085A-8325-481A-8FBF-D879103161D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031"/>
          <p:cNvSpPr>
            <a:spLocks noChangeArrowheads="1"/>
          </p:cNvSpPr>
          <p:nvPr/>
        </p:nvSpPr>
        <p:spPr bwMode="auto">
          <a:xfrm>
            <a:off x="711200" y="228600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B0F0"/>
          </a:solidFill>
          <a:ln w="9525">
            <a:solidFill>
              <a:srgbClr val="00B0F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0600"/>
            <a:ext cx="91440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5563"/>
            <a:ext cx="24384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20" name="Rectangle 1028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ja-JP" altLang="en-US" noProof="1"/>
              <a:t>マスタ タイトルの書式設定</a:t>
            </a:r>
            <a:endParaRPr lang="ja-JP" altLang="en-US" noProof="1"/>
          </a:p>
        </p:txBody>
      </p:sp>
      <p:sp>
        <p:nvSpPr>
          <p:cNvPr id="111621" name="Rectangle 1029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ja-JP" altLang="en-US" noProof="1"/>
              <a:t>マスタ サブタイトルの書式設定</a:t>
            </a:r>
            <a:endParaRPr lang="ja-JP" altLang="en-US" noProof="1"/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5330EC-8E32-4E19-B678-6B3EB09167E1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0C0"/>
              </a:buClr>
              <a:defRPr/>
            </a:lvl1pPr>
            <a:lvl2pPr>
              <a:buClr>
                <a:srgbClr val="0070C0"/>
              </a:buClr>
              <a:defRPr/>
            </a:lvl2pPr>
            <a:lvl3pPr>
              <a:buClr>
                <a:srgbClr val="0070C0"/>
              </a:buClr>
              <a:defRPr/>
            </a:lvl3pPr>
            <a:lvl4pPr>
              <a:buClr>
                <a:srgbClr val="0070C0"/>
              </a:buClr>
              <a:defRPr/>
            </a:lvl4pPr>
            <a:lvl5pPr>
              <a:buClr>
                <a:srgbClr val="0070C0"/>
              </a:buClr>
              <a:defRPr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9F7FEE-8695-4D46-B314-E0660AEE8E01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2A33A-97EC-4DDF-8223-7E11A0ECAA42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2449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F6CF9-CC93-4D35-A0C8-296C1AED5E41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="b"/>
          <a:lstStyle>
            <a:lvl1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3800" b="1">
                <a:solidFill>
                  <a:schemeClr val="bg1"/>
                </a:solidFill>
                <a:latin typeface="Arial" panose="020B0704020202020204" pitchFamily="34" charset="0"/>
              </a:rPr>
              <a:t>单击此处编辑母版标题样式</a:t>
            </a:r>
            <a:endParaRPr lang="zh-CN" altLang="en-US" sz="3800" b="1">
              <a:solidFill>
                <a:schemeClr val="bg1"/>
              </a:solidFill>
              <a:latin typeface="Arial" panose="020B07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3CEF80-A148-40B1-A54B-4316044EB7EC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03F7F-2EDB-48E2-8D48-C777AF7EB857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19675"/>
            <a:ext cx="2362200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0FE379-CDF5-45BC-9F9A-F0381B740664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 sz="1200">
                <a:latin typeface="Tahoma" panose="020B08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defRPr sz="1200">
                <a:latin typeface="Tahoma" panose="020B08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917D31F-2B57-4980-ADE9-81B301642432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 sz="1200">
                <a:latin typeface="Tahoma" panose="020B08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defRPr sz="1200">
                <a:latin typeface="Tahoma" panose="020B08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710AF0C-AD3B-4D09-A8DC-C40FA3D0C140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 sz="1200">
                <a:latin typeface="Tahoma" panose="020B08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defRPr sz="1200">
                <a:latin typeface="Tahoma" panose="020B08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B403E-D384-452C-A0AC-8336828B98A1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031"/>
          <p:cNvSpPr>
            <a:spLocks noChangeArrowheads="1"/>
          </p:cNvSpPr>
          <p:nvPr/>
        </p:nvSpPr>
        <p:spPr bwMode="auto">
          <a:xfrm>
            <a:off x="711200" y="228600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B0F0"/>
          </a:solidFill>
          <a:ln w="9525">
            <a:solidFill>
              <a:srgbClr val="00B0F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Box 1034"/>
          <p:cNvSpPr txBox="1">
            <a:spLocks noChangeArrowheads="1"/>
          </p:cNvSpPr>
          <p:nvPr/>
        </p:nvSpPr>
        <p:spPr bwMode="auto">
          <a:xfrm>
            <a:off x="0" y="76200"/>
            <a:ext cx="9144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B0F0"/>
                </a:solidFill>
                <a:latin typeface="Arial" panose="020B0704020202020204" pitchFamily="34" charset="0"/>
              </a:rPr>
              <a:t>Data Mining</a:t>
            </a:r>
            <a:endParaRPr lang="en-US" altLang="zh-CN" sz="2000" dirty="0">
              <a:solidFill>
                <a:srgbClr val="00B0F0"/>
              </a:solidFill>
              <a:latin typeface="Arial" panose="020B0704020202020204" pitchFamily="34" charset="0"/>
            </a:endParaRPr>
          </a:p>
        </p:txBody>
      </p:sp>
      <p:sp>
        <p:nvSpPr>
          <p:cNvPr id="6" name="Line 1035"/>
          <p:cNvSpPr>
            <a:spLocks noChangeShapeType="1"/>
          </p:cNvSpPr>
          <p:nvPr userDrawn="1"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57150" cmpd="thinThick">
            <a:solidFill>
              <a:srgbClr val="00B0F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0600"/>
            <a:ext cx="91440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20" name="Rectangle 1028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ja-JP" altLang="en-US" noProof="1"/>
              <a:t>マスタ タイトルの書式設定</a:t>
            </a:r>
            <a:endParaRPr lang="ja-JP" altLang="en-US" noProof="1"/>
          </a:p>
        </p:txBody>
      </p:sp>
      <p:sp>
        <p:nvSpPr>
          <p:cNvPr id="111621" name="Rectangle 1029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ja-JP" altLang="en-US" noProof="1"/>
              <a:t>マスタ サブタイトルの書式設定</a:t>
            </a:r>
            <a:endParaRPr lang="ja-JP" altLang="en-US" noProof="1"/>
          </a:p>
        </p:txBody>
      </p:sp>
      <p:sp>
        <p:nvSpPr>
          <p:cNvPr id="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628138-751F-4321-86A1-F4372B711702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0C0"/>
              </a:buClr>
              <a:defRPr/>
            </a:lvl1pPr>
            <a:lvl2pPr>
              <a:buClr>
                <a:srgbClr val="0070C0"/>
              </a:buClr>
              <a:defRPr/>
            </a:lvl2pPr>
            <a:lvl3pPr>
              <a:buClr>
                <a:srgbClr val="0070C0"/>
              </a:buClr>
              <a:defRPr/>
            </a:lvl3pPr>
            <a:lvl4pPr>
              <a:buClr>
                <a:srgbClr val="0070C0"/>
              </a:buClr>
              <a:defRPr/>
            </a:lvl4pPr>
            <a:lvl5pPr>
              <a:buClr>
                <a:srgbClr val="0070C0"/>
              </a:buClr>
              <a:defRPr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19AC4-4F27-4DDE-AD24-27E856212BAD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05EE1-EF29-4B31-A9F2-EDE3260F7BD6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2449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695BE-D866-4E33-BD87-B1CEEBCD871D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="b"/>
          <a:lstStyle>
            <a:lvl1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indent="17653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indent="1765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3800" b="1">
                <a:solidFill>
                  <a:schemeClr val="bg1"/>
                </a:solidFill>
                <a:latin typeface="Arial" panose="020B0704020202020204" pitchFamily="34" charset="0"/>
              </a:rPr>
              <a:t>单击此处编辑母版标题样式</a:t>
            </a:r>
            <a:endParaRPr lang="zh-CN" altLang="en-US" sz="3800" b="1">
              <a:solidFill>
                <a:schemeClr val="bg1"/>
              </a:solidFill>
              <a:latin typeface="Arial" panose="020B07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CF5C40-DB48-4B34-8983-481AE05C6BEE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  <a:solidFill>
            <a:srgbClr val="00B0F0"/>
          </a:solidFill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AA50D-ABEB-41AC-B095-82A5E2A354EF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059A6-84EC-444E-BBBD-6467CC7E607E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 sz="1200">
                <a:latin typeface="Tahoma" panose="020B08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defRPr sz="1200">
                <a:latin typeface="Tahoma" panose="020B08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B03EFD-3EE3-4ED8-8A37-4915DA922904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 sz="1200">
                <a:latin typeface="Tahoma" panose="020B08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defRPr sz="1200">
                <a:latin typeface="Tahoma" panose="020B08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A47B57-F15E-415D-9FCE-6EF86BBF0132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  <p:transition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 sz="1200">
                <a:latin typeface="Tahoma" panose="020B08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defRPr sz="1200">
                <a:latin typeface="Tahoma" panose="020B08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fld id="{037C078B-2FAF-4E00-8548-BF788272D5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ja-JP" altLang="en-US"/>
              <a:t>マスタ タイトルの書式設定</a:t>
            </a:r>
            <a:endParaRPr lang="ja-JP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250825" y="908050"/>
            <a:ext cx="864235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/>
              <a:t>マスタ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r>
              <a:rPr lang="ja-JP" altLang="zh-CN"/>
              <a:t>：</a:t>
            </a:r>
            <a:endParaRPr lang="ja-JP" altLang="en-US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mtClean="0">
                <a:solidFill>
                  <a:srgbClr val="A5002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ABBF45C-F97B-4A36-9AA1-82926B3F0877}" type="slidenum">
              <a:rPr lang="ja-JP" altLang="en-US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random/>
  </p:transition>
  <p:hf hdr="0" ftr="0" dt="0"/>
  <p:txStyles>
    <p:titleStyle>
      <a:lvl1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+mj-lt"/>
          <a:ea typeface="+mj-ea"/>
          <a:cs typeface="+mj-cs"/>
        </a:defRPr>
      </a:lvl1pPr>
      <a:lvl2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2pPr>
      <a:lvl3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3pPr>
      <a:lvl4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4pPr>
      <a:lvl5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5pPr>
      <a:lvl6pPr marL="4572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6pPr>
      <a:lvl7pPr marL="9144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7pPr>
      <a:lvl8pPr marL="13716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8pPr>
      <a:lvl9pPr marL="18288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4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folHlink"/>
          </a:solidFill>
          <a:latin typeface="+mn-lt"/>
          <a:ea typeface="+mn-ea"/>
        </a:defRPr>
      </a:lvl2pPr>
      <a:lvl3pPr marL="1304925" indent="-39560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rgbClr val="009900"/>
          </a:solidFill>
          <a:latin typeface="+mn-lt"/>
          <a:ea typeface="+mn-ea"/>
        </a:defRPr>
      </a:lvl3pPr>
      <a:lvl4pPr marL="1694180" indent="-387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rgbClr val="0099CC"/>
          </a:solidFill>
          <a:latin typeface="+mn-lt"/>
          <a:ea typeface="+mn-ea"/>
        </a:defRPr>
      </a:lvl4pPr>
      <a:lvl5pPr marL="2094230" indent="-398780" algn="l" rtl="0" eaLnBrk="0" fontAlgn="base" hangingPunct="0">
        <a:lnSpc>
          <a:spcPct val="12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ja-JP" altLang="en-US"/>
              <a:t>マスタ タイトルの書式設定</a:t>
            </a:r>
            <a:endParaRPr lang="ja-JP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250825" y="908050"/>
            <a:ext cx="864235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/>
              <a:t>マスタ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r>
              <a:rPr lang="ja-JP" altLang="zh-CN"/>
              <a:t>：</a:t>
            </a:r>
            <a:endParaRPr lang="ja-JP" altLang="en-US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77000"/>
            <a:ext cx="19812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mtClean="0">
                <a:solidFill>
                  <a:srgbClr val="A5002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477C74AC-E86E-4DA9-851D-2101D34B5C5D}" type="slidenum">
              <a:rPr lang="ja-JP" altLang="en-US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ransition>
    <p:random/>
  </p:transition>
  <p:hf hdr="0" ftr="0" dt="0"/>
  <p:txStyles>
    <p:titleStyle>
      <a:lvl1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+mj-lt"/>
          <a:ea typeface="+mj-ea"/>
          <a:cs typeface="+mj-cs"/>
        </a:defRPr>
      </a:lvl1pPr>
      <a:lvl2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2pPr>
      <a:lvl3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3pPr>
      <a:lvl4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4pPr>
      <a:lvl5pPr indent="176530"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5pPr>
      <a:lvl6pPr marL="4572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6pPr>
      <a:lvl7pPr marL="9144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7pPr>
      <a:lvl8pPr marL="13716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8pPr>
      <a:lvl9pPr marL="1828800" indent="176530" algn="l" rtl="0" fontAlgn="base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panose="020B0704020202020204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4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folHlink"/>
          </a:solidFill>
          <a:latin typeface="+mn-lt"/>
          <a:ea typeface="+mn-ea"/>
        </a:defRPr>
      </a:lvl2pPr>
      <a:lvl3pPr marL="1304925" indent="-39560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rgbClr val="009900"/>
          </a:solidFill>
          <a:latin typeface="+mn-lt"/>
          <a:ea typeface="+mn-ea"/>
        </a:defRPr>
      </a:lvl3pPr>
      <a:lvl4pPr marL="1694180" indent="-387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rgbClr val="0099CC"/>
          </a:solidFill>
          <a:latin typeface="+mn-lt"/>
          <a:ea typeface="+mn-ea"/>
        </a:defRPr>
      </a:lvl4pPr>
      <a:lvl5pPr marL="2094230" indent="-398780" algn="l" rtl="0" eaLnBrk="0" fontAlgn="base" hangingPunct="0">
        <a:lnSpc>
          <a:spcPct val="12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rgbClr val="99CC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81100"/>
            <a:ext cx="7772400" cy="952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</a:extLst>
        </p:spPr>
        <p:txBody>
          <a:bodyPr/>
          <a:lstStyle/>
          <a:p>
            <a:pPr algn="ctr" eaLnBrk="1" hangingPunct="1"/>
            <a:r>
              <a:rPr lang="zh-CN" altLang="en-US" sz="46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机器学习</a:t>
            </a:r>
            <a:endParaRPr lang="zh-CN" altLang="en-US" sz="46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667000"/>
            <a:ext cx="8382000" cy="2743200"/>
          </a:xfrm>
        </p:spPr>
        <p:txBody>
          <a:bodyPr/>
          <a:lstStyle/>
          <a:p>
            <a:pPr eaLnBrk="1" hangingPunct="1"/>
            <a:r>
              <a:rPr lang="zh-CN" altLang="en-US" sz="3400">
                <a:latin typeface="黑体" panose="02010609060101010101" pitchFamily="49" charset="-122"/>
                <a:ea typeface="黑体" panose="02010609060101010101" pitchFamily="49" charset="-122"/>
              </a:rPr>
              <a:t>王煜</a:t>
            </a:r>
            <a:endParaRPr lang="en-US" altLang="zh-CN" sz="3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智能与计算学部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华文琥珀" panose="02010800040101010101" pitchFamily="2" charset="-122"/>
              </a:rPr>
              <a:t>  wang.yu@tju.edu.cn</a:t>
            </a:r>
            <a:endParaRPr lang="en-US" altLang="zh-CN" sz="1800" b="1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数据集介绍</a:t>
            </a:r>
            <a:endParaRPr lang="zh-CN" altLang="en-US"/>
          </a:p>
        </p:txBody>
      </p:sp>
      <p:sp>
        <p:nvSpPr>
          <p:cNvPr id="16387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fld id="{6301DF6E-511B-4D7D-AAB9-6189ED066FDE}" type="slidenum">
              <a:rPr lang="ja-JP" altLang="en-US">
                <a:solidFill>
                  <a:srgbClr val="A50021"/>
                </a:solidFill>
                <a:latin typeface="Arial" panose="020B0704020202020204" pitchFamily="34" charset="0"/>
                <a:ea typeface="MS PGothic" panose="020B0600070205080204" pitchFamily="34" charset="-128"/>
              </a:rPr>
            </a:fld>
            <a:endParaRPr lang="en-US" altLang="ja-JP">
              <a:solidFill>
                <a:srgbClr val="A50021"/>
              </a:solidFill>
              <a:latin typeface="Arial" panose="020B07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120015" y="998855"/>
            <a:ext cx="8871585" cy="6311265"/>
          </a:xfrm>
        </p:spPr>
        <p:txBody>
          <a:bodyPr/>
          <a:lstStyle/>
          <a:p>
            <a:pPr marL="471170" lvl="1" indent="0" eaLnBrk="1" hangingPunct="1">
              <a:lnSpc>
                <a:spcPct val="100000"/>
              </a:lnSpc>
              <a:buNone/>
            </a:pP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学生表现因素（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Student Performance Factors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）：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包含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6607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条数据；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该数据集全面概述了影响学生考试成绩的各种因素。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下载链接：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https://www.kaggle.com/datasets/lainguyn123/student-performance-factors/data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6389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2"/>
          <a:stretch>
            <a:fillRect/>
          </a:stretch>
        </p:blipFill>
        <p:spPr bwMode="auto">
          <a:xfrm>
            <a:off x="7353300" y="57150"/>
            <a:ext cx="17621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学生表现因素数据集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843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fld id="{4E8564A5-1074-4DB7-AD4D-B9263F1EDCE1}" type="slidenum">
              <a:rPr lang="en-US" altLang="zh-CN">
                <a:solidFill>
                  <a:srgbClr val="A50021"/>
                </a:solidFill>
                <a:latin typeface="Arial" panose="020B0704020202020204" pitchFamily="34" charset="0"/>
              </a:rPr>
            </a:fld>
            <a:endParaRPr lang="en-US" altLang="zh-CN">
              <a:solidFill>
                <a:srgbClr val="A50021"/>
              </a:solidFill>
              <a:latin typeface="Arial" panose="020B07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304800" y="1219200"/>
            <a:ext cx="8458200" cy="5312223"/>
          </a:xfrm>
          <a:prstGeom prst="rect">
            <a:avLst/>
          </a:prstGeom>
        </p:spPr>
        <p:txBody>
          <a:bodyPr>
            <a:spAutoFit/>
          </a:bodyPr>
          <a:lstStyle/>
          <a:p>
            <a:pPr lvl="2" eaLnBrk="1" hangingPunct="1"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文件形式：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2" indent="-7429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包含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6607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条数据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2" indent="-742950" eaLnBrk="1" hangingPunct="1">
              <a:lnSpc>
                <a:spcPct val="120000"/>
              </a:lnSpc>
              <a:buClr>
                <a:srgbClr val="0070C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csv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格式，包含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列：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学习时间（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Hours_Studied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）：每周学习的小时数。出勤（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Attendance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）：课程出勤率。</a:t>
            </a: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家长参与（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Parental_Involvement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）：父母参与学生教育的程度（低、中、高）。</a:t>
            </a:r>
            <a:endParaRPr lang="en-US" altLang="zh-CN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资源访问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Access_to_Resources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：教育资源的可用性（低、中、高）。</a:t>
            </a:r>
            <a:endParaRPr lang="en-US" altLang="zh-CN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课外活动（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Extracurricular_Activities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）：参加课外活动（是、否）。</a:t>
            </a: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1843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2"/>
          <a:stretch>
            <a:fillRect/>
          </a:stretch>
        </p:blipFill>
        <p:spPr bwMode="auto">
          <a:xfrm>
            <a:off x="7353300" y="57150"/>
            <a:ext cx="17621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学生表现因素数据集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843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fld id="{4E8564A5-1074-4DB7-AD4D-B9263F1EDCE1}" type="slidenum">
              <a:rPr lang="en-US" altLang="zh-CN">
                <a:solidFill>
                  <a:srgbClr val="A50021"/>
                </a:solidFill>
                <a:latin typeface="Arial" panose="020B0704020202020204" pitchFamily="34" charset="0"/>
              </a:rPr>
            </a:fld>
            <a:endParaRPr lang="en-US" altLang="zh-CN">
              <a:solidFill>
                <a:srgbClr val="A50021"/>
              </a:solidFill>
              <a:latin typeface="Arial" panose="020B07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304800" y="1219200"/>
            <a:ext cx="8458200" cy="4265783"/>
          </a:xfrm>
          <a:prstGeom prst="rect">
            <a:avLst/>
          </a:prstGeom>
        </p:spPr>
        <p:txBody>
          <a:bodyPr>
            <a:spAutoFit/>
          </a:bodyPr>
          <a:lstStyle/>
          <a:p>
            <a:pPr lvl="2" eaLnBrk="1" hangingPunct="1"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文件形式：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defRPr/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22450" lvl="3" indent="-436880" eaLnBrk="1" hangingPunct="1">
              <a:spcBef>
                <a:spcPct val="20000"/>
              </a:spcBef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睡眠时间（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Sleep_Hours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）：每晚平均睡眠小时数。上次成绩（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Previous_Scores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）：上次考试的成绩。</a:t>
            </a: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动机水平（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Motivation_Level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）：学生的积极性水平（低、中、高）。</a:t>
            </a:r>
            <a:endParaRPr lang="en-US" altLang="zh-CN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互联网接入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(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Internet_Access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):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是否可以访问互联网（是、否）。</a:t>
            </a:r>
            <a:endParaRPr lang="en-US" altLang="zh-CN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辅导课程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(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Tutoring_Sessions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):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每月参加辅导课程的次数。</a:t>
            </a: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1843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2"/>
          <a:stretch>
            <a:fillRect/>
          </a:stretch>
        </p:blipFill>
        <p:spPr bwMode="auto">
          <a:xfrm>
            <a:off x="7353300" y="57150"/>
            <a:ext cx="17621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学生表现因素数据集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843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fld id="{4E8564A5-1074-4DB7-AD4D-B9263F1EDCE1}" type="slidenum">
              <a:rPr lang="en-US" altLang="zh-CN">
                <a:solidFill>
                  <a:srgbClr val="A50021"/>
                </a:solidFill>
                <a:latin typeface="Arial" panose="020B0704020202020204" pitchFamily="34" charset="0"/>
              </a:rPr>
            </a:fld>
            <a:endParaRPr lang="en-US" altLang="zh-CN">
              <a:solidFill>
                <a:srgbClr val="A50021"/>
              </a:solidFill>
              <a:latin typeface="Arial" panose="020B07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304800" y="1219200"/>
            <a:ext cx="8458200" cy="3884140"/>
          </a:xfrm>
          <a:prstGeom prst="rect">
            <a:avLst/>
          </a:prstGeom>
        </p:spPr>
        <p:txBody>
          <a:bodyPr>
            <a:spAutoFit/>
          </a:bodyPr>
          <a:lstStyle/>
          <a:p>
            <a:pPr lvl="2" eaLnBrk="1" hangingPunct="1"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文件形式：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defRPr/>
            </a:pP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家庭收入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(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Family_Income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):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家庭收入水平（低、中、高）。</a:t>
            </a:r>
            <a:endParaRPr lang="zh-CN" altLang="en-US" sz="24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eaLnBrk="1" hangingPunct="1">
              <a:spcBef>
                <a:spcPct val="20000"/>
              </a:spcBef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教师素质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(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Teacher_Quality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):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教师素质（低、中、高）。学校类型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(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School_Type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):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就读学校类型（公立、私立）。</a:t>
            </a: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eaLnBrk="1" hangingPunct="1">
              <a:spcBef>
                <a:spcPct val="20000"/>
              </a:spcBef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同龄人影响（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Peer_Influence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）：同龄人对学业成绩的影响（积极、中性、消极）。</a:t>
            </a: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1843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2"/>
          <a:stretch>
            <a:fillRect/>
          </a:stretch>
        </p:blipFill>
        <p:spPr bwMode="auto">
          <a:xfrm>
            <a:off x="7353300" y="57150"/>
            <a:ext cx="17621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学生表现因素数据集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843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fld id="{4E8564A5-1074-4DB7-AD4D-B9263F1EDCE1}" type="slidenum">
              <a:rPr lang="en-US" altLang="zh-CN">
                <a:solidFill>
                  <a:srgbClr val="A50021"/>
                </a:solidFill>
                <a:latin typeface="Arial" panose="020B0704020202020204" pitchFamily="34" charset="0"/>
              </a:rPr>
            </a:fld>
            <a:endParaRPr lang="en-US" altLang="zh-CN">
              <a:solidFill>
                <a:srgbClr val="A50021"/>
              </a:solidFill>
              <a:latin typeface="Arial" panose="020B07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304800" y="1219200"/>
            <a:ext cx="8458200" cy="5164491"/>
          </a:xfrm>
          <a:prstGeom prst="rect">
            <a:avLst/>
          </a:prstGeom>
        </p:spPr>
        <p:txBody>
          <a:bodyPr>
            <a:spAutoFit/>
          </a:bodyPr>
          <a:lstStyle/>
          <a:p>
            <a:pPr lvl="2" eaLnBrk="1" hangingPunct="1"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文件形式：</a:t>
            </a:r>
            <a:endParaRPr lang="en-US" altLang="zh-CN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体育活动（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Physical_Activity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）：每周平均体力活动小时数。</a:t>
            </a:r>
            <a:endParaRPr lang="zh-CN" altLang="en-US" sz="24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eaLnBrk="1" hangingPunct="1">
              <a:spcBef>
                <a:spcPct val="20000"/>
              </a:spcBef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学习障碍（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Learning_Disabilities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）：存在学习障碍（是、否）。</a:t>
            </a:r>
            <a:endParaRPr lang="zh-CN" altLang="en-US" sz="24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eaLnBrk="1" hangingPunct="1">
              <a:spcBef>
                <a:spcPct val="20000"/>
              </a:spcBef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父母教育程度	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Parental_Education_Level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）：父母的最高教育程度（高中、大学、研究生）。</a:t>
            </a:r>
            <a:endParaRPr lang="zh-CN" altLang="en-US" sz="24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eaLnBrk="1" hangingPunct="1">
              <a:spcBef>
                <a:spcPct val="20000"/>
              </a:spcBef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离家距离（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Distance_from_Home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）：从家到学校的距离（近、中等、远）。</a:t>
            </a:r>
            <a:endParaRPr lang="zh-CN" altLang="en-US" sz="24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eaLnBrk="1" hangingPunct="1">
              <a:spcBef>
                <a:spcPct val="20000"/>
              </a:spcBef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性别（</a:t>
            </a:r>
            <a:r>
              <a:rPr lang="en-US" altLang="zh-CN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Gender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）：学生的性别（男、女）。</a:t>
            </a:r>
            <a:endParaRPr lang="zh-CN" altLang="en-US" sz="24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考试成绩（</a:t>
            </a:r>
            <a:r>
              <a:rPr lang="en-US" altLang="zh-CN" sz="2400" kern="0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Exam_Score</a:t>
            </a:r>
            <a:r>
              <a:rPr lang="zh-CN" altLang="en-US" sz="2400" kern="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）：期末考试成绩。</a:t>
            </a:r>
            <a:endParaRPr lang="zh-CN" altLang="en-US" sz="24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822450" lvl="3" indent="-43688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Char char="n"/>
            </a:pP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1843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2"/>
          <a:stretch>
            <a:fillRect/>
          </a:stretch>
        </p:blipFill>
        <p:spPr bwMode="auto">
          <a:xfrm>
            <a:off x="7353300" y="57150"/>
            <a:ext cx="17621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学生表现因素数据集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843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fld id="{4E8564A5-1074-4DB7-AD4D-B9263F1EDCE1}" type="slidenum">
              <a:rPr lang="en-US" altLang="zh-CN">
                <a:solidFill>
                  <a:srgbClr val="A50021"/>
                </a:solidFill>
                <a:latin typeface="Arial" panose="020B0704020202020204" pitchFamily="34" charset="0"/>
              </a:rPr>
            </a:fld>
            <a:endParaRPr lang="en-US" altLang="zh-CN">
              <a:solidFill>
                <a:srgbClr val="A50021"/>
              </a:solidFill>
              <a:latin typeface="Arial" panose="020B07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304800" y="1040765"/>
            <a:ext cx="8458200" cy="23368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57350" lvl="2" indent="-742950" algn="l" eaLnBrk="1" hangingPunct="1">
              <a:lnSpc>
                <a:spcPct val="12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数据例子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2" indent="-742950" algn="l" eaLnBrk="1" hangingPunct="1">
              <a:lnSpc>
                <a:spcPct val="12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p"/>
              <a:defRPr/>
            </a:pP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385570" lvl="3" indent="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None/>
            </a:pP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385570" lvl="3" indent="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None/>
            </a:pPr>
            <a:endParaRPr lang="zh-CN" altLang="en-US" sz="2400" kern="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1843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2"/>
          <a:stretch>
            <a:fillRect/>
          </a:stretch>
        </p:blipFill>
        <p:spPr bwMode="auto">
          <a:xfrm>
            <a:off x="7353300" y="57150"/>
            <a:ext cx="17621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4" y="2209832"/>
            <a:ext cx="8400641" cy="3444429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任务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843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itchFamily="2" charset="-122"/>
              </a:defRPr>
            </a:lvl9pPr>
          </a:lstStyle>
          <a:p>
            <a:fld id="{4E8564A5-1074-4DB7-AD4D-B9263F1EDCE1}" type="slidenum">
              <a:rPr lang="en-US" altLang="zh-CN">
                <a:solidFill>
                  <a:srgbClr val="A50021"/>
                </a:solidFill>
                <a:latin typeface="Arial" panose="020B0704020202020204" pitchFamily="34" charset="0"/>
              </a:rPr>
            </a:fld>
            <a:endParaRPr lang="en-US" altLang="zh-CN">
              <a:solidFill>
                <a:srgbClr val="A50021"/>
              </a:solidFill>
              <a:latin typeface="Arial" panose="020B07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521970" y="814070"/>
            <a:ext cx="9182735" cy="5633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57350" lvl="2" indent="-742950" algn="l" eaLnBrk="1" hangingPunct="1">
              <a:lnSpc>
                <a:spcPct val="12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聚类任务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:(1)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种以上的聚类算法，得出聚类结果，并通过可视化方式分析实验结果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;(2)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对所使用的聚类算法的参数进行调整，分析不同参数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组合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对结果的影响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;(3)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给出最优算法方案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57350" lvl="2" indent="-742950" algn="l" eaLnBrk="1" hangingPunct="1">
              <a:lnSpc>
                <a:spcPct val="120000"/>
              </a:lnSpc>
              <a:buClr>
                <a:srgbClr val="0070C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回归任务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:(1)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种以上的回归算法，预测其最终的考试成绩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;(2)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分析考试成绩外其它维度作为回归任务预测目标的可行性，并给出可视化分析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;(3)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种以上的评价指标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选做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以成绩为目标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对比分析分类与回归算法的可行性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  <a:p>
            <a:pPr marL="1385570" lvl="3" indent="0" algn="l" eaLnBrk="1" hangingPunct="1">
              <a:lnSpc>
                <a:spcPct val="100000"/>
              </a:lnSpc>
              <a:spcBef>
                <a:spcPct val="20000"/>
              </a:spcBef>
              <a:buClr>
                <a:srgbClr val="0070C0"/>
              </a:buClr>
              <a:buSzTx/>
              <a:buFont typeface="Wingdings" panose="05000000000000000000" pitchFamily="2" charset="2"/>
              <a:buNone/>
            </a:pPr>
            <a:endParaRPr lang="zh-CN" altLang="en-US" sz="2000" kern="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1843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2"/>
          <a:stretch>
            <a:fillRect/>
          </a:stretch>
        </p:blipFill>
        <p:spPr bwMode="auto">
          <a:xfrm>
            <a:off x="7353300" y="57150"/>
            <a:ext cx="17621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57200" y="2895600"/>
            <a:ext cx="8382000" cy="2743200"/>
          </a:xfrm>
        </p:spPr>
        <p:txBody>
          <a:bodyPr/>
          <a:lstStyle/>
          <a:p>
            <a:pPr eaLnBrk="1" hangingPunct="1"/>
            <a:r>
              <a:rPr lang="en-US" altLang="zh-CN" sz="3400">
                <a:latin typeface="黑体" panose="02010609060101010101" pitchFamily="49" charset="-122"/>
                <a:ea typeface="黑体" panose="02010609060101010101" pitchFamily="49" charset="-122"/>
              </a:rPr>
              <a:t>THE END</a:t>
            </a:r>
            <a:endParaRPr lang="en-US" altLang="zh-CN" sz="1800" b="1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DOC_GUID" val="{4c61eee7-e1ee-439e-b45a-bc45b898f70a}"/>
  <p:tag name="KSO_WPP_MARK_KEY" val="b35b9c18-146d-4aeb-b9e2-552ff56c73cd"/>
  <p:tag name="COMMONDATA" val="eyJoZGlkIjoiY2YwNWRhNTE0OTUwYjRiOTM0OWI1OTAwODQ5MjUyYmUifQ=="/>
</p:tagLst>
</file>

<file path=ppt/theme/theme1.xml><?xml version="1.0" encoding="utf-8"?>
<a:theme xmlns:a="http://schemas.openxmlformats.org/drawingml/2006/main" name="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wasedaSample5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wasedaSample5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WPS 文字</Application>
  <PresentationFormat>全屏显示(4:3)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Verdana</vt:lpstr>
      <vt:lpstr>汉仪书宋二KW</vt:lpstr>
      <vt:lpstr>MS PGothic</vt:lpstr>
      <vt:lpstr>Hiragino Sans</vt:lpstr>
      <vt:lpstr>Tahoma</vt:lpstr>
      <vt:lpstr>Times New Roman</vt:lpstr>
      <vt:lpstr>黑体</vt:lpstr>
      <vt:lpstr>汉仪中黑KW</vt:lpstr>
      <vt:lpstr>华文琥珀</vt:lpstr>
      <vt:lpstr>楷体_GB2312</vt:lpstr>
      <vt:lpstr>微软雅黑</vt:lpstr>
      <vt:lpstr>汉仪旗黑</vt:lpstr>
      <vt:lpstr>宋体</vt:lpstr>
      <vt:lpstr>Arial Unicode MS</vt:lpstr>
      <vt:lpstr>宋体-简</vt:lpstr>
      <vt:lpstr>汉仪楷体简</vt:lpstr>
      <vt:lpstr>wasedaSample5</vt:lpstr>
      <vt:lpstr>1_wasedaSample5</vt:lpstr>
      <vt:lpstr>机器学习</vt:lpstr>
      <vt:lpstr>数据集介绍</vt:lpstr>
      <vt:lpstr>学生表现因素数据集</vt:lpstr>
      <vt:lpstr>学生表现因素数据集</vt:lpstr>
      <vt:lpstr>学生表现因素数据集</vt:lpstr>
      <vt:lpstr>学生表现因素数据集</vt:lpstr>
      <vt:lpstr>学生表现因素数据集</vt:lpstr>
      <vt:lpstr>任务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yangliu</dc:creator>
  <cp:lastModifiedBy>清风</cp:lastModifiedBy>
  <cp:revision>1460</cp:revision>
  <dcterms:created xsi:type="dcterms:W3CDTF">2025-03-26T10:57:25Z</dcterms:created>
  <dcterms:modified xsi:type="dcterms:W3CDTF">2025-03-26T10:57:25Z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2052-6.2.0.8299</vt:lpwstr>
  </property>
  <property fmtid="{D5CDD505-2E9C-101B-9397-08002B2CF9AE}" pid="4" name="ICV">
    <vt:lpwstr>638844006BA2C39D41DCE367DD80FDBD_43</vt:lpwstr>
  </property>
</Properties>
</file>